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app0.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82" r:id="rId7"/>
    <p:sldId id="261" r:id="rId8"/>
    <p:sldId id="262" r:id="rId9"/>
    <p:sldId id="263" r:id="rId10"/>
    <p:sldId id="264" r:id="rId11"/>
    <p:sldId id="265" r:id="rId12"/>
    <p:sldId id="266" r:id="rId13"/>
    <p:sldId id="267" r:id="rId14"/>
    <p:sldId id="268" r:id="rId15"/>
    <p:sldId id="269" r:id="rId16"/>
    <p:sldId id="279" r:id="rId17"/>
    <p:sldId id="280" r:id="rId18"/>
    <p:sldId id="270" r:id="rId19"/>
    <p:sldId id="271" r:id="rId20"/>
    <p:sldId id="272" r:id="rId21"/>
    <p:sldId id="273" r:id="rId22"/>
    <p:sldId id="274" r:id="rId23"/>
    <p:sldId id="275" r:id="rId24"/>
    <p:sldId id="276" r:id="rId25"/>
    <p:sldId id="277"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73" autoAdjust="0"/>
    <p:restoredTop sz="85816" autoAdjust="0"/>
  </p:normalViewPr>
  <p:slideViewPr>
    <p:cSldViewPr snapToGrid="0" snapToObjects="1">
      <p:cViewPr>
        <p:scale>
          <a:sx n="160" d="100"/>
          <a:sy n="160" d="100"/>
        </p:scale>
        <p:origin x="-88" y="-98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0BE8EE-C920-4B92-9E59-949E554D998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E4FDF0E-2FAB-48CD-9408-A7260A3F3CEB}">
      <dgm:prSet/>
      <dgm:spPr/>
      <dgm:t>
        <a:bodyPr/>
        <a:lstStyle/>
        <a:p>
          <a:r>
            <a:rPr lang="en-US"/>
            <a:t>In drug development, a Go/No-Go decision often depends on the chance that a </a:t>
          </a:r>
          <a:r>
            <a:rPr lang="en-US" i="1"/>
            <a:t>future</a:t>
          </a:r>
          <a:r>
            <a:rPr lang="en-US"/>
            <a:t> confirmatory analysis will meet a pre-specified success criterion.</a:t>
          </a:r>
        </a:p>
      </dgm:t>
    </dgm:pt>
    <dgm:pt modelId="{4AD4375A-C487-4474-9BEF-4F6099F2C71D}" type="parTrans" cxnId="{EC960D22-56CA-44D9-AE71-80C051FC93BA}">
      <dgm:prSet/>
      <dgm:spPr/>
      <dgm:t>
        <a:bodyPr/>
        <a:lstStyle/>
        <a:p>
          <a:endParaRPr lang="en-US"/>
        </a:p>
      </dgm:t>
    </dgm:pt>
    <dgm:pt modelId="{3EC7A1E1-3139-4535-AD7A-E1BF220C70C4}" type="sibTrans" cxnId="{EC960D22-56CA-44D9-AE71-80C051FC93BA}">
      <dgm:prSet/>
      <dgm:spPr/>
      <dgm:t>
        <a:bodyPr/>
        <a:lstStyle/>
        <a:p>
          <a:endParaRPr lang="en-US"/>
        </a:p>
      </dgm:t>
    </dgm:pt>
    <dgm:pt modelId="{6D0A998C-29C1-4744-96E5-1B3833804C52}">
      <dgm:prSet/>
      <dgm:spPr/>
      <dgm:t>
        <a:bodyPr/>
        <a:lstStyle/>
        <a:p>
          <a:r>
            <a:rPr lang="en-US"/>
            <a:t>Classical power assumes the true treatment effect is fixed and known (or set to a design alternative). In practice, the true effect is uncertain and should be updated by accumulating evidence (historical trials, interim data, surrogate endpoints, etc.).</a:t>
          </a:r>
        </a:p>
      </dgm:t>
    </dgm:pt>
    <dgm:pt modelId="{14BFA183-F263-4552-87BD-2A571EAAF6E4}" type="parTrans" cxnId="{1583AFBF-E2B5-4025-BBFA-89527D2808B8}">
      <dgm:prSet/>
      <dgm:spPr/>
      <dgm:t>
        <a:bodyPr/>
        <a:lstStyle/>
        <a:p>
          <a:endParaRPr lang="en-US"/>
        </a:p>
      </dgm:t>
    </dgm:pt>
    <dgm:pt modelId="{A7E66342-2E14-48CE-831F-6983A9D18DC5}" type="sibTrans" cxnId="{1583AFBF-E2B5-4025-BBFA-89527D2808B8}">
      <dgm:prSet/>
      <dgm:spPr/>
      <dgm:t>
        <a:bodyPr/>
        <a:lstStyle/>
        <a:p>
          <a:endParaRPr lang="en-US"/>
        </a:p>
      </dgm:t>
    </dgm:pt>
    <dgm:pt modelId="{26F18F23-ED91-4029-A195-2FE12387267B}">
      <dgm:prSet/>
      <dgm:spPr/>
      <dgm:t>
        <a:bodyPr/>
        <a:lstStyle/>
        <a:p>
          <a:r>
            <a:rPr lang="en-US" b="1"/>
            <a:t>Predictive Probability of Success (PoS)</a:t>
          </a:r>
          <a:r>
            <a:rPr lang="en-US"/>
            <a:t> answers:</a:t>
          </a:r>
        </a:p>
      </dgm:t>
    </dgm:pt>
    <dgm:pt modelId="{C12C14AB-CA91-42F3-AFB0-CE51F0C9B2CF}" type="parTrans" cxnId="{14BE04FD-890E-40EC-8821-A29813FF3D2A}">
      <dgm:prSet/>
      <dgm:spPr/>
      <dgm:t>
        <a:bodyPr/>
        <a:lstStyle/>
        <a:p>
          <a:endParaRPr lang="en-US"/>
        </a:p>
      </dgm:t>
    </dgm:pt>
    <dgm:pt modelId="{869A179F-9716-4DA7-8E54-4AF7AA7CF2A2}" type="sibTrans" cxnId="{14BE04FD-890E-40EC-8821-A29813FF3D2A}">
      <dgm:prSet/>
      <dgm:spPr/>
      <dgm:t>
        <a:bodyPr/>
        <a:lstStyle/>
        <a:p>
          <a:endParaRPr lang="en-US"/>
        </a:p>
      </dgm:t>
    </dgm:pt>
    <dgm:pt modelId="{97499B26-4A77-4863-97D5-53AE00D5D099}">
      <dgm:prSet/>
      <dgm:spPr/>
      <dgm:t>
        <a:bodyPr/>
        <a:lstStyle/>
        <a:p>
          <a:r>
            <a:rPr lang="en-US" dirty="0"/>
            <a:t>“Given what we know </a:t>
          </a:r>
          <a:r>
            <a:rPr lang="en-US" i="1" dirty="0"/>
            <a:t>today</a:t>
          </a:r>
          <a:r>
            <a:rPr lang="en-US" dirty="0"/>
            <a:t>, what is the probability the current (future) study will be declared successful?”</a:t>
          </a:r>
        </a:p>
      </dgm:t>
    </dgm:pt>
    <dgm:pt modelId="{9448DAAE-6164-4F12-827D-F8EA3F3479F1}" type="parTrans" cxnId="{F03DBA96-3E04-4652-99CD-1C593AFA9E73}">
      <dgm:prSet/>
      <dgm:spPr/>
      <dgm:t>
        <a:bodyPr/>
        <a:lstStyle/>
        <a:p>
          <a:endParaRPr lang="en-US"/>
        </a:p>
      </dgm:t>
    </dgm:pt>
    <dgm:pt modelId="{469D5E1A-7C9C-4D93-BFA9-12D83DADE5B3}" type="sibTrans" cxnId="{F03DBA96-3E04-4652-99CD-1C593AFA9E73}">
      <dgm:prSet/>
      <dgm:spPr/>
      <dgm:t>
        <a:bodyPr/>
        <a:lstStyle/>
        <a:p>
          <a:endParaRPr lang="en-US"/>
        </a:p>
      </dgm:t>
    </dgm:pt>
    <dgm:pt modelId="{7DC38392-75BA-4482-B3E5-6A02B5EF84E5}" type="pres">
      <dgm:prSet presAssocID="{300BE8EE-C920-4B92-9E59-949E554D9982}" presName="root" presStyleCnt="0">
        <dgm:presLayoutVars>
          <dgm:dir/>
          <dgm:resizeHandles val="exact"/>
        </dgm:presLayoutVars>
      </dgm:prSet>
      <dgm:spPr/>
    </dgm:pt>
    <dgm:pt modelId="{4A07CCD1-7025-4EA6-A1E3-B4FB5D7F3ACC}" type="pres">
      <dgm:prSet presAssocID="{5E4FDF0E-2FAB-48CD-9408-A7260A3F3CEB}" presName="compNode" presStyleCnt="0"/>
      <dgm:spPr/>
    </dgm:pt>
    <dgm:pt modelId="{EC93F42A-37BC-4A46-A02A-6E909B1002A4}" type="pres">
      <dgm:prSet presAssocID="{5E4FDF0E-2FAB-48CD-9408-A7260A3F3CEB}" presName="bgRect" presStyleLbl="bgShp" presStyleIdx="0" presStyleCnt="4"/>
      <dgm:spPr/>
    </dgm:pt>
    <dgm:pt modelId="{030053D3-20A1-4150-B437-42D0298F75CC}" type="pres">
      <dgm:prSet presAssocID="{5E4FDF0E-2FAB-48CD-9408-A7260A3F3CE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ine"/>
        </a:ext>
      </dgm:extLst>
    </dgm:pt>
    <dgm:pt modelId="{732258D1-BB22-434C-A200-32995E5B358E}" type="pres">
      <dgm:prSet presAssocID="{5E4FDF0E-2FAB-48CD-9408-A7260A3F3CEB}" presName="spaceRect" presStyleCnt="0"/>
      <dgm:spPr/>
    </dgm:pt>
    <dgm:pt modelId="{4AFBF306-388F-4D09-BEE4-6CD7A59C28A9}" type="pres">
      <dgm:prSet presAssocID="{5E4FDF0E-2FAB-48CD-9408-A7260A3F3CEB}" presName="parTx" presStyleLbl="revTx" presStyleIdx="0" presStyleCnt="4">
        <dgm:presLayoutVars>
          <dgm:chMax val="0"/>
          <dgm:chPref val="0"/>
        </dgm:presLayoutVars>
      </dgm:prSet>
      <dgm:spPr/>
    </dgm:pt>
    <dgm:pt modelId="{DD2D2457-D8ED-46DC-984A-6122BB687A76}" type="pres">
      <dgm:prSet presAssocID="{3EC7A1E1-3139-4535-AD7A-E1BF220C70C4}" presName="sibTrans" presStyleCnt="0"/>
      <dgm:spPr/>
    </dgm:pt>
    <dgm:pt modelId="{66EFF57E-1BCA-4B86-9489-2D73E31645E9}" type="pres">
      <dgm:prSet presAssocID="{6D0A998C-29C1-4744-96E5-1B3833804C52}" presName="compNode" presStyleCnt="0"/>
      <dgm:spPr/>
    </dgm:pt>
    <dgm:pt modelId="{CBAA6D6C-5526-459D-8890-9A2851AF0287}" type="pres">
      <dgm:prSet presAssocID="{6D0A998C-29C1-4744-96E5-1B3833804C52}" presName="bgRect" presStyleLbl="bgShp" presStyleIdx="1" presStyleCnt="4"/>
      <dgm:spPr/>
    </dgm:pt>
    <dgm:pt modelId="{E8661F8D-A736-422C-8DD9-35B37A6B134F}" type="pres">
      <dgm:prSet presAssocID="{6D0A998C-29C1-4744-96E5-1B3833804C5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3D7F289F-C7ED-4F5C-BF8F-FCA6A5615CE9}" type="pres">
      <dgm:prSet presAssocID="{6D0A998C-29C1-4744-96E5-1B3833804C52}" presName="spaceRect" presStyleCnt="0"/>
      <dgm:spPr/>
    </dgm:pt>
    <dgm:pt modelId="{45274431-33F0-4B67-BEC5-D8730935D6A8}" type="pres">
      <dgm:prSet presAssocID="{6D0A998C-29C1-4744-96E5-1B3833804C52}" presName="parTx" presStyleLbl="revTx" presStyleIdx="1" presStyleCnt="4">
        <dgm:presLayoutVars>
          <dgm:chMax val="0"/>
          <dgm:chPref val="0"/>
        </dgm:presLayoutVars>
      </dgm:prSet>
      <dgm:spPr/>
    </dgm:pt>
    <dgm:pt modelId="{34CA2022-0577-4B97-AB6F-0FC173F30CE1}" type="pres">
      <dgm:prSet presAssocID="{A7E66342-2E14-48CE-831F-6983A9D18DC5}" presName="sibTrans" presStyleCnt="0"/>
      <dgm:spPr/>
    </dgm:pt>
    <dgm:pt modelId="{1DBD4A32-B91B-4F5F-95BD-ED8879F46C59}" type="pres">
      <dgm:prSet presAssocID="{26F18F23-ED91-4029-A195-2FE12387267B}" presName="compNode" presStyleCnt="0"/>
      <dgm:spPr/>
    </dgm:pt>
    <dgm:pt modelId="{0FBB8B87-522C-4BE7-A3D7-394814797D3E}" type="pres">
      <dgm:prSet presAssocID="{26F18F23-ED91-4029-A195-2FE12387267B}" presName="bgRect" presStyleLbl="bgShp" presStyleIdx="2" presStyleCnt="4"/>
      <dgm:spPr/>
    </dgm:pt>
    <dgm:pt modelId="{7B9F1197-B367-43AF-B61B-8AAF58D006D8}" type="pres">
      <dgm:prSet presAssocID="{26F18F23-ED91-4029-A195-2FE1238726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ing Cards"/>
        </a:ext>
      </dgm:extLst>
    </dgm:pt>
    <dgm:pt modelId="{B985702D-BA41-48CC-933C-B7B4403440EA}" type="pres">
      <dgm:prSet presAssocID="{26F18F23-ED91-4029-A195-2FE12387267B}" presName="spaceRect" presStyleCnt="0"/>
      <dgm:spPr/>
    </dgm:pt>
    <dgm:pt modelId="{F26F0117-5494-4A2C-81B2-AB730D06DE56}" type="pres">
      <dgm:prSet presAssocID="{26F18F23-ED91-4029-A195-2FE12387267B}" presName="parTx" presStyleLbl="revTx" presStyleIdx="2" presStyleCnt="4">
        <dgm:presLayoutVars>
          <dgm:chMax val="0"/>
          <dgm:chPref val="0"/>
        </dgm:presLayoutVars>
      </dgm:prSet>
      <dgm:spPr/>
    </dgm:pt>
    <dgm:pt modelId="{7A09F80F-EF0C-4AB9-8E7D-007B371A8867}" type="pres">
      <dgm:prSet presAssocID="{869A179F-9716-4DA7-8E54-4AF7AA7CF2A2}" presName="sibTrans" presStyleCnt="0"/>
      <dgm:spPr/>
    </dgm:pt>
    <dgm:pt modelId="{D90899F9-59C2-497B-AB13-80DBFEC22BA0}" type="pres">
      <dgm:prSet presAssocID="{97499B26-4A77-4863-97D5-53AE00D5D099}" presName="compNode" presStyleCnt="0"/>
      <dgm:spPr/>
    </dgm:pt>
    <dgm:pt modelId="{EE4848A1-7718-43BB-9E8F-FEA7ACE08CA6}" type="pres">
      <dgm:prSet presAssocID="{97499B26-4A77-4863-97D5-53AE00D5D099}" presName="bgRect" presStyleLbl="bgShp" presStyleIdx="3" presStyleCnt="4"/>
      <dgm:spPr/>
    </dgm:pt>
    <dgm:pt modelId="{A80350B1-9585-474E-B02F-988DCE962D3F}" type="pres">
      <dgm:prSet presAssocID="{97499B26-4A77-4863-97D5-53AE00D5D09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ning"/>
        </a:ext>
      </dgm:extLst>
    </dgm:pt>
    <dgm:pt modelId="{D50082F8-38E4-4999-9525-BA751FC7BF98}" type="pres">
      <dgm:prSet presAssocID="{97499B26-4A77-4863-97D5-53AE00D5D099}" presName="spaceRect" presStyleCnt="0"/>
      <dgm:spPr/>
    </dgm:pt>
    <dgm:pt modelId="{90716BC4-3562-4DA5-A436-D5F0ED9C1ECC}" type="pres">
      <dgm:prSet presAssocID="{97499B26-4A77-4863-97D5-53AE00D5D099}" presName="parTx" presStyleLbl="revTx" presStyleIdx="3" presStyleCnt="4">
        <dgm:presLayoutVars>
          <dgm:chMax val="0"/>
          <dgm:chPref val="0"/>
        </dgm:presLayoutVars>
      </dgm:prSet>
      <dgm:spPr/>
    </dgm:pt>
  </dgm:ptLst>
  <dgm:cxnLst>
    <dgm:cxn modelId="{EC960D22-56CA-44D9-AE71-80C051FC93BA}" srcId="{300BE8EE-C920-4B92-9E59-949E554D9982}" destId="{5E4FDF0E-2FAB-48CD-9408-A7260A3F3CEB}" srcOrd="0" destOrd="0" parTransId="{4AD4375A-C487-4474-9BEF-4F6099F2C71D}" sibTransId="{3EC7A1E1-3139-4535-AD7A-E1BF220C70C4}"/>
    <dgm:cxn modelId="{90635E38-250E-468B-8375-EC96B3964CA2}" type="presOf" srcId="{97499B26-4A77-4863-97D5-53AE00D5D099}" destId="{90716BC4-3562-4DA5-A436-D5F0ED9C1ECC}" srcOrd="0" destOrd="0" presId="urn:microsoft.com/office/officeart/2018/2/layout/IconVerticalSolidList"/>
    <dgm:cxn modelId="{F03DBA96-3E04-4652-99CD-1C593AFA9E73}" srcId="{300BE8EE-C920-4B92-9E59-949E554D9982}" destId="{97499B26-4A77-4863-97D5-53AE00D5D099}" srcOrd="3" destOrd="0" parTransId="{9448DAAE-6164-4F12-827D-F8EA3F3479F1}" sibTransId="{469D5E1A-7C9C-4D93-BFA9-12D83DADE5B3}"/>
    <dgm:cxn modelId="{1B68BCB0-C6EF-40EF-A8A9-B5CC53063FB6}" type="presOf" srcId="{300BE8EE-C920-4B92-9E59-949E554D9982}" destId="{7DC38392-75BA-4482-B3E5-6A02B5EF84E5}" srcOrd="0" destOrd="0" presId="urn:microsoft.com/office/officeart/2018/2/layout/IconVerticalSolidList"/>
    <dgm:cxn modelId="{70608AB8-B4E1-4181-9E5D-4A88912A6FF0}" type="presOf" srcId="{6D0A998C-29C1-4744-96E5-1B3833804C52}" destId="{45274431-33F0-4B67-BEC5-D8730935D6A8}" srcOrd="0" destOrd="0" presId="urn:microsoft.com/office/officeart/2018/2/layout/IconVerticalSolidList"/>
    <dgm:cxn modelId="{1583AFBF-E2B5-4025-BBFA-89527D2808B8}" srcId="{300BE8EE-C920-4B92-9E59-949E554D9982}" destId="{6D0A998C-29C1-4744-96E5-1B3833804C52}" srcOrd="1" destOrd="0" parTransId="{14BFA183-F263-4552-87BD-2A571EAAF6E4}" sibTransId="{A7E66342-2E14-48CE-831F-6983A9D18DC5}"/>
    <dgm:cxn modelId="{8470F1BF-2AC1-4E95-A4A8-0764A5C41BA6}" type="presOf" srcId="{26F18F23-ED91-4029-A195-2FE12387267B}" destId="{F26F0117-5494-4A2C-81B2-AB730D06DE56}" srcOrd="0" destOrd="0" presId="urn:microsoft.com/office/officeart/2018/2/layout/IconVerticalSolidList"/>
    <dgm:cxn modelId="{DAC204F6-0EE3-4F50-B8FD-3180308A1C5F}" type="presOf" srcId="{5E4FDF0E-2FAB-48CD-9408-A7260A3F3CEB}" destId="{4AFBF306-388F-4D09-BEE4-6CD7A59C28A9}" srcOrd="0" destOrd="0" presId="urn:microsoft.com/office/officeart/2018/2/layout/IconVerticalSolidList"/>
    <dgm:cxn modelId="{14BE04FD-890E-40EC-8821-A29813FF3D2A}" srcId="{300BE8EE-C920-4B92-9E59-949E554D9982}" destId="{26F18F23-ED91-4029-A195-2FE12387267B}" srcOrd="2" destOrd="0" parTransId="{C12C14AB-CA91-42F3-AFB0-CE51F0C9B2CF}" sibTransId="{869A179F-9716-4DA7-8E54-4AF7AA7CF2A2}"/>
    <dgm:cxn modelId="{6CE795F6-C0D1-4392-8C47-52CEDEBE6200}" type="presParOf" srcId="{7DC38392-75BA-4482-B3E5-6A02B5EF84E5}" destId="{4A07CCD1-7025-4EA6-A1E3-B4FB5D7F3ACC}" srcOrd="0" destOrd="0" presId="urn:microsoft.com/office/officeart/2018/2/layout/IconVerticalSolidList"/>
    <dgm:cxn modelId="{5F1171E3-BD18-4027-802B-E4B05179E50A}" type="presParOf" srcId="{4A07CCD1-7025-4EA6-A1E3-B4FB5D7F3ACC}" destId="{EC93F42A-37BC-4A46-A02A-6E909B1002A4}" srcOrd="0" destOrd="0" presId="urn:microsoft.com/office/officeart/2018/2/layout/IconVerticalSolidList"/>
    <dgm:cxn modelId="{E3A594BE-9BDA-4F94-BC9A-AA576F04F487}" type="presParOf" srcId="{4A07CCD1-7025-4EA6-A1E3-B4FB5D7F3ACC}" destId="{030053D3-20A1-4150-B437-42D0298F75CC}" srcOrd="1" destOrd="0" presId="urn:microsoft.com/office/officeart/2018/2/layout/IconVerticalSolidList"/>
    <dgm:cxn modelId="{3FCD6C15-69C3-46F9-A05F-05631269BF47}" type="presParOf" srcId="{4A07CCD1-7025-4EA6-A1E3-B4FB5D7F3ACC}" destId="{732258D1-BB22-434C-A200-32995E5B358E}" srcOrd="2" destOrd="0" presId="urn:microsoft.com/office/officeart/2018/2/layout/IconVerticalSolidList"/>
    <dgm:cxn modelId="{8D7744DE-7B9E-44B2-8AF7-36BB6E1410EA}" type="presParOf" srcId="{4A07CCD1-7025-4EA6-A1E3-B4FB5D7F3ACC}" destId="{4AFBF306-388F-4D09-BEE4-6CD7A59C28A9}" srcOrd="3" destOrd="0" presId="urn:microsoft.com/office/officeart/2018/2/layout/IconVerticalSolidList"/>
    <dgm:cxn modelId="{AC3C6727-83C3-494E-B1F4-FB50EC74723B}" type="presParOf" srcId="{7DC38392-75BA-4482-B3E5-6A02B5EF84E5}" destId="{DD2D2457-D8ED-46DC-984A-6122BB687A76}" srcOrd="1" destOrd="0" presId="urn:microsoft.com/office/officeart/2018/2/layout/IconVerticalSolidList"/>
    <dgm:cxn modelId="{66D8045E-E4C3-45E3-9246-440ADDCA991B}" type="presParOf" srcId="{7DC38392-75BA-4482-B3E5-6A02B5EF84E5}" destId="{66EFF57E-1BCA-4B86-9489-2D73E31645E9}" srcOrd="2" destOrd="0" presId="urn:microsoft.com/office/officeart/2018/2/layout/IconVerticalSolidList"/>
    <dgm:cxn modelId="{A69E618D-D47E-4B98-AC4B-D211D0CB837F}" type="presParOf" srcId="{66EFF57E-1BCA-4B86-9489-2D73E31645E9}" destId="{CBAA6D6C-5526-459D-8890-9A2851AF0287}" srcOrd="0" destOrd="0" presId="urn:microsoft.com/office/officeart/2018/2/layout/IconVerticalSolidList"/>
    <dgm:cxn modelId="{078760EF-B5AB-4F13-91C1-65D79A075449}" type="presParOf" srcId="{66EFF57E-1BCA-4B86-9489-2D73E31645E9}" destId="{E8661F8D-A736-422C-8DD9-35B37A6B134F}" srcOrd="1" destOrd="0" presId="urn:microsoft.com/office/officeart/2018/2/layout/IconVerticalSolidList"/>
    <dgm:cxn modelId="{B885A6EA-2F35-40AD-B884-757FFAE17574}" type="presParOf" srcId="{66EFF57E-1BCA-4B86-9489-2D73E31645E9}" destId="{3D7F289F-C7ED-4F5C-BF8F-FCA6A5615CE9}" srcOrd="2" destOrd="0" presId="urn:microsoft.com/office/officeart/2018/2/layout/IconVerticalSolidList"/>
    <dgm:cxn modelId="{7A943F66-E392-4EAF-B305-BF92489C2D9B}" type="presParOf" srcId="{66EFF57E-1BCA-4B86-9489-2D73E31645E9}" destId="{45274431-33F0-4B67-BEC5-D8730935D6A8}" srcOrd="3" destOrd="0" presId="urn:microsoft.com/office/officeart/2018/2/layout/IconVerticalSolidList"/>
    <dgm:cxn modelId="{C6A8EA9C-B125-41A8-B8C6-75BD611A5D4F}" type="presParOf" srcId="{7DC38392-75BA-4482-B3E5-6A02B5EF84E5}" destId="{34CA2022-0577-4B97-AB6F-0FC173F30CE1}" srcOrd="3" destOrd="0" presId="urn:microsoft.com/office/officeart/2018/2/layout/IconVerticalSolidList"/>
    <dgm:cxn modelId="{C0C51825-CBA0-4E38-A9FA-0A7A8D94422F}" type="presParOf" srcId="{7DC38392-75BA-4482-B3E5-6A02B5EF84E5}" destId="{1DBD4A32-B91B-4F5F-95BD-ED8879F46C59}" srcOrd="4" destOrd="0" presId="urn:microsoft.com/office/officeart/2018/2/layout/IconVerticalSolidList"/>
    <dgm:cxn modelId="{0A35FEB4-82C7-49D7-89C8-B64712820C4F}" type="presParOf" srcId="{1DBD4A32-B91B-4F5F-95BD-ED8879F46C59}" destId="{0FBB8B87-522C-4BE7-A3D7-394814797D3E}" srcOrd="0" destOrd="0" presId="urn:microsoft.com/office/officeart/2018/2/layout/IconVerticalSolidList"/>
    <dgm:cxn modelId="{08C167EA-62A5-4720-B0E6-D28A5FBA93CB}" type="presParOf" srcId="{1DBD4A32-B91B-4F5F-95BD-ED8879F46C59}" destId="{7B9F1197-B367-43AF-B61B-8AAF58D006D8}" srcOrd="1" destOrd="0" presId="urn:microsoft.com/office/officeart/2018/2/layout/IconVerticalSolidList"/>
    <dgm:cxn modelId="{52E4A91C-1593-4F89-BF50-D0C349E4F55A}" type="presParOf" srcId="{1DBD4A32-B91B-4F5F-95BD-ED8879F46C59}" destId="{B985702D-BA41-48CC-933C-B7B4403440EA}" srcOrd="2" destOrd="0" presId="urn:microsoft.com/office/officeart/2018/2/layout/IconVerticalSolidList"/>
    <dgm:cxn modelId="{9D8CCF38-2CD3-4C83-A920-8F0731DF3908}" type="presParOf" srcId="{1DBD4A32-B91B-4F5F-95BD-ED8879F46C59}" destId="{F26F0117-5494-4A2C-81B2-AB730D06DE56}" srcOrd="3" destOrd="0" presId="urn:microsoft.com/office/officeart/2018/2/layout/IconVerticalSolidList"/>
    <dgm:cxn modelId="{9AC4C076-C826-40D8-8D31-EB665D9DC6D0}" type="presParOf" srcId="{7DC38392-75BA-4482-B3E5-6A02B5EF84E5}" destId="{7A09F80F-EF0C-4AB9-8E7D-007B371A8867}" srcOrd="5" destOrd="0" presId="urn:microsoft.com/office/officeart/2018/2/layout/IconVerticalSolidList"/>
    <dgm:cxn modelId="{D9175A49-2686-4407-9798-00987E24D657}" type="presParOf" srcId="{7DC38392-75BA-4482-B3E5-6A02B5EF84E5}" destId="{D90899F9-59C2-497B-AB13-80DBFEC22BA0}" srcOrd="6" destOrd="0" presId="urn:microsoft.com/office/officeart/2018/2/layout/IconVerticalSolidList"/>
    <dgm:cxn modelId="{2387194E-E635-4A48-8735-92A130FBFCC4}" type="presParOf" srcId="{D90899F9-59C2-497B-AB13-80DBFEC22BA0}" destId="{EE4848A1-7718-43BB-9E8F-FEA7ACE08CA6}" srcOrd="0" destOrd="0" presId="urn:microsoft.com/office/officeart/2018/2/layout/IconVerticalSolidList"/>
    <dgm:cxn modelId="{92FE7C2F-D053-4793-99E2-D3BF7FAA5E0C}" type="presParOf" srcId="{D90899F9-59C2-497B-AB13-80DBFEC22BA0}" destId="{A80350B1-9585-474E-B02F-988DCE962D3F}" srcOrd="1" destOrd="0" presId="urn:microsoft.com/office/officeart/2018/2/layout/IconVerticalSolidList"/>
    <dgm:cxn modelId="{C0065AD5-5540-4645-ABA9-E8D1590A5167}" type="presParOf" srcId="{D90899F9-59C2-497B-AB13-80DBFEC22BA0}" destId="{D50082F8-38E4-4999-9525-BA751FC7BF98}" srcOrd="2" destOrd="0" presId="urn:microsoft.com/office/officeart/2018/2/layout/IconVerticalSolidList"/>
    <dgm:cxn modelId="{07FB2B31-755A-41B6-8F78-42DC225C6136}" type="presParOf" srcId="{D90899F9-59C2-497B-AB13-80DBFEC22BA0}" destId="{90716BC4-3562-4DA5-A436-D5F0ED9C1EC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2F91E7-5D22-4EA7-9FCC-811839BD0AB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F9AC1A1-9E02-4A1D-9AE1-0B08B12E04E3}">
      <dgm:prSet/>
      <dgm:spPr/>
      <dgm:t>
        <a:bodyPr/>
        <a:lstStyle/>
        <a:p>
          <a:r>
            <a:rPr lang="en-US" b="1"/>
            <a:t>Scenario (ICB trial):</a:t>
          </a:r>
          <a:endParaRPr lang="en-US"/>
        </a:p>
      </dgm:t>
    </dgm:pt>
    <dgm:pt modelId="{6373EABD-FD4D-4231-A93B-C3F690FC32E9}" type="parTrans" cxnId="{46B6A2BE-44DA-41BA-A056-CA89491F05BE}">
      <dgm:prSet/>
      <dgm:spPr/>
      <dgm:t>
        <a:bodyPr/>
        <a:lstStyle/>
        <a:p>
          <a:endParaRPr lang="en-US"/>
        </a:p>
      </dgm:t>
    </dgm:pt>
    <dgm:pt modelId="{8A900DC0-6803-4D7D-A4A8-AFBC293F8236}" type="sibTrans" cxnId="{46B6A2BE-44DA-41BA-A056-CA89491F05BE}">
      <dgm:prSet/>
      <dgm:spPr/>
      <dgm:t>
        <a:bodyPr/>
        <a:lstStyle/>
        <a:p>
          <a:endParaRPr lang="en-US"/>
        </a:p>
      </dgm:t>
    </dgm:pt>
    <dgm:pt modelId="{7CDFC6B6-8EAD-44BC-9EEB-A7532D3D8641}">
      <dgm:prSet/>
      <dgm:spPr/>
      <dgm:t>
        <a:bodyPr/>
        <a:lstStyle/>
        <a:p>
          <a:r>
            <a:rPr lang="en-US"/>
            <a:t>Primary endpoint: </a:t>
          </a:r>
          <a:r>
            <a:rPr lang="en-US" b="1"/>
            <a:t>PFS</a:t>
          </a:r>
          <a:r>
            <a:rPr lang="en-US"/>
            <a:t> (read out earlier)</a:t>
          </a:r>
        </a:p>
      </dgm:t>
    </dgm:pt>
    <dgm:pt modelId="{AF695D1B-CCC0-4DA0-9390-4A9397473698}" type="parTrans" cxnId="{BCC80090-4317-4886-A231-3AE7ECD94016}">
      <dgm:prSet/>
      <dgm:spPr/>
      <dgm:t>
        <a:bodyPr/>
        <a:lstStyle/>
        <a:p>
          <a:endParaRPr lang="en-US"/>
        </a:p>
      </dgm:t>
    </dgm:pt>
    <dgm:pt modelId="{56022E09-CAA5-418A-A07F-BF8B6C92B564}" type="sibTrans" cxnId="{BCC80090-4317-4886-A231-3AE7ECD94016}">
      <dgm:prSet/>
      <dgm:spPr/>
      <dgm:t>
        <a:bodyPr/>
        <a:lstStyle/>
        <a:p>
          <a:endParaRPr lang="en-US"/>
        </a:p>
      </dgm:t>
    </dgm:pt>
    <dgm:pt modelId="{4168F09B-4EE6-49DC-80D6-DADFD966A763}">
      <dgm:prSet/>
      <dgm:spPr/>
      <dgm:t>
        <a:bodyPr/>
        <a:lstStyle/>
        <a:p>
          <a:r>
            <a:rPr lang="en-US"/>
            <a:t>Key secondary endpoint: </a:t>
          </a:r>
          <a:r>
            <a:rPr lang="en-US" b="1"/>
            <a:t>OS</a:t>
          </a:r>
          <a:r>
            <a:rPr lang="en-US"/>
            <a:t> (matures later)</a:t>
          </a:r>
        </a:p>
      </dgm:t>
    </dgm:pt>
    <dgm:pt modelId="{069FFD03-E324-4A2E-BFF6-FB5DA5D6032D}" type="parTrans" cxnId="{6A41138E-1B65-4A19-910D-842BB957AB8C}">
      <dgm:prSet/>
      <dgm:spPr/>
      <dgm:t>
        <a:bodyPr/>
        <a:lstStyle/>
        <a:p>
          <a:endParaRPr lang="en-US"/>
        </a:p>
      </dgm:t>
    </dgm:pt>
    <dgm:pt modelId="{284034BF-567A-41F1-B246-D9F454C937EF}" type="sibTrans" cxnId="{6A41138E-1B65-4A19-910D-842BB957AB8C}">
      <dgm:prSet/>
      <dgm:spPr/>
      <dgm:t>
        <a:bodyPr/>
        <a:lstStyle/>
        <a:p>
          <a:endParaRPr lang="en-US"/>
        </a:p>
      </dgm:t>
    </dgm:pt>
    <dgm:pt modelId="{2F6A94E3-68E6-4270-A12A-CEB61DF36ADB}">
      <dgm:prSet/>
      <dgm:spPr/>
      <dgm:t>
        <a:bodyPr/>
        <a:lstStyle/>
        <a:p>
          <a:r>
            <a:rPr lang="en-US"/>
            <a:t>Effect measure: </a:t>
          </a:r>
          <a:r>
            <a:rPr lang="en-US" b="1"/>
            <a:t>log(HR)</a:t>
          </a:r>
          <a:r>
            <a:rPr lang="en-US"/>
            <a:t> for both endpoints</a:t>
          </a:r>
        </a:p>
      </dgm:t>
    </dgm:pt>
    <dgm:pt modelId="{DC4498FA-D84B-496E-A8F4-6C23936861AF}" type="parTrans" cxnId="{D7B46980-72BA-4FA1-AA13-3ED14D75ADDF}">
      <dgm:prSet/>
      <dgm:spPr/>
      <dgm:t>
        <a:bodyPr/>
        <a:lstStyle/>
        <a:p>
          <a:endParaRPr lang="en-US"/>
        </a:p>
      </dgm:t>
    </dgm:pt>
    <dgm:pt modelId="{720AC133-8FE9-492B-91A8-48F34497917B}" type="sibTrans" cxnId="{D7B46980-72BA-4FA1-AA13-3ED14D75ADDF}">
      <dgm:prSet/>
      <dgm:spPr/>
      <dgm:t>
        <a:bodyPr/>
        <a:lstStyle/>
        <a:p>
          <a:endParaRPr lang="en-US"/>
        </a:p>
      </dgm:t>
    </dgm:pt>
    <dgm:pt modelId="{EF8D8BE9-C264-4823-8B27-A511C6DA3795}">
      <dgm:prSet/>
      <dgm:spPr/>
      <dgm:t>
        <a:bodyPr/>
        <a:lstStyle/>
        <a:p>
          <a:r>
            <a:rPr lang="en-US" b="1"/>
            <a:t>Decision question:</a:t>
          </a:r>
          <a:endParaRPr lang="en-US"/>
        </a:p>
      </dgm:t>
    </dgm:pt>
    <dgm:pt modelId="{BFB94967-80C1-4184-8517-52E0AD5899DD}" type="parTrans" cxnId="{6D5FC86B-62FB-4654-BA4A-A34411F5FBC2}">
      <dgm:prSet/>
      <dgm:spPr/>
      <dgm:t>
        <a:bodyPr/>
        <a:lstStyle/>
        <a:p>
          <a:endParaRPr lang="en-US"/>
        </a:p>
      </dgm:t>
    </dgm:pt>
    <dgm:pt modelId="{59EFE946-F892-4053-AE44-532AB682C514}" type="sibTrans" cxnId="{6D5FC86B-62FB-4654-BA4A-A34411F5FBC2}">
      <dgm:prSet/>
      <dgm:spPr/>
      <dgm:t>
        <a:bodyPr/>
        <a:lstStyle/>
        <a:p>
          <a:endParaRPr lang="en-US"/>
        </a:p>
      </dgm:t>
    </dgm:pt>
    <dgm:pt modelId="{B852F8B0-48A1-474F-A6AD-A1F839885D87}">
      <dgm:prSet/>
      <dgm:spPr/>
      <dgm:t>
        <a:bodyPr/>
        <a:lstStyle/>
        <a:p>
          <a:r>
            <a:rPr lang="en-US"/>
            <a:t>Given the current trial’s observed PFS result, what is the probability that the final OS analysis will be statistically significant (two-sided p &lt; 0.05) in the beneficial direction?</a:t>
          </a:r>
        </a:p>
      </dgm:t>
    </dgm:pt>
    <dgm:pt modelId="{024932F5-7DF8-4006-8DF0-B2055915D765}" type="parTrans" cxnId="{34C24948-DB36-4EBC-ADB4-6D195C5F5CD0}">
      <dgm:prSet/>
      <dgm:spPr/>
      <dgm:t>
        <a:bodyPr/>
        <a:lstStyle/>
        <a:p>
          <a:endParaRPr lang="en-US"/>
        </a:p>
      </dgm:t>
    </dgm:pt>
    <dgm:pt modelId="{D9105213-CCAA-4C18-A00A-7030012D8D95}" type="sibTrans" cxnId="{34C24948-DB36-4EBC-ADB4-6D195C5F5CD0}">
      <dgm:prSet/>
      <dgm:spPr/>
      <dgm:t>
        <a:bodyPr/>
        <a:lstStyle/>
        <a:p>
          <a:endParaRPr lang="en-US"/>
        </a:p>
      </dgm:t>
    </dgm:pt>
    <dgm:pt modelId="{BC262289-1575-4144-B40D-938DE73212A5}" type="pres">
      <dgm:prSet presAssocID="{6E2F91E7-5D22-4EA7-9FCC-811839BD0AB8}" presName="linear" presStyleCnt="0">
        <dgm:presLayoutVars>
          <dgm:animLvl val="lvl"/>
          <dgm:resizeHandles val="exact"/>
        </dgm:presLayoutVars>
      </dgm:prSet>
      <dgm:spPr/>
    </dgm:pt>
    <dgm:pt modelId="{55A2EDA6-2B37-294F-BBA9-2021943B37F8}" type="pres">
      <dgm:prSet presAssocID="{CF9AC1A1-9E02-4A1D-9AE1-0B08B12E04E3}" presName="parentText" presStyleLbl="node1" presStyleIdx="0" presStyleCnt="2">
        <dgm:presLayoutVars>
          <dgm:chMax val="0"/>
          <dgm:bulletEnabled val="1"/>
        </dgm:presLayoutVars>
      </dgm:prSet>
      <dgm:spPr/>
    </dgm:pt>
    <dgm:pt modelId="{BBAF535B-2DD8-D248-9047-60189720D2B2}" type="pres">
      <dgm:prSet presAssocID="{CF9AC1A1-9E02-4A1D-9AE1-0B08B12E04E3}" presName="childText" presStyleLbl="revTx" presStyleIdx="0" presStyleCnt="2">
        <dgm:presLayoutVars>
          <dgm:bulletEnabled val="1"/>
        </dgm:presLayoutVars>
      </dgm:prSet>
      <dgm:spPr/>
    </dgm:pt>
    <dgm:pt modelId="{4135AA81-AB4F-BE4D-9AF2-B3917A713AAB}" type="pres">
      <dgm:prSet presAssocID="{EF8D8BE9-C264-4823-8B27-A511C6DA3795}" presName="parentText" presStyleLbl="node1" presStyleIdx="1" presStyleCnt="2">
        <dgm:presLayoutVars>
          <dgm:chMax val="0"/>
          <dgm:bulletEnabled val="1"/>
        </dgm:presLayoutVars>
      </dgm:prSet>
      <dgm:spPr/>
    </dgm:pt>
    <dgm:pt modelId="{F0AA9C27-73F9-A745-9D99-767E17F55547}" type="pres">
      <dgm:prSet presAssocID="{EF8D8BE9-C264-4823-8B27-A511C6DA3795}" presName="childText" presStyleLbl="revTx" presStyleIdx="1" presStyleCnt="2">
        <dgm:presLayoutVars>
          <dgm:bulletEnabled val="1"/>
        </dgm:presLayoutVars>
      </dgm:prSet>
      <dgm:spPr/>
    </dgm:pt>
  </dgm:ptLst>
  <dgm:cxnLst>
    <dgm:cxn modelId="{C6DE3424-7C03-F64D-A738-F90A2DC09DEC}" type="presOf" srcId="{7CDFC6B6-8EAD-44BC-9EEB-A7532D3D8641}" destId="{BBAF535B-2DD8-D248-9047-60189720D2B2}" srcOrd="0" destOrd="0" presId="urn:microsoft.com/office/officeart/2005/8/layout/vList2"/>
    <dgm:cxn modelId="{F59D6627-A6F9-2448-A228-9F69417D4E7E}" type="presOf" srcId="{CF9AC1A1-9E02-4A1D-9AE1-0B08B12E04E3}" destId="{55A2EDA6-2B37-294F-BBA9-2021943B37F8}" srcOrd="0" destOrd="0" presId="urn:microsoft.com/office/officeart/2005/8/layout/vList2"/>
    <dgm:cxn modelId="{7EADB03D-A9E2-F34D-BA15-F6516EF03821}" type="presOf" srcId="{B852F8B0-48A1-474F-A6AD-A1F839885D87}" destId="{F0AA9C27-73F9-A745-9D99-767E17F55547}" srcOrd="0" destOrd="0" presId="urn:microsoft.com/office/officeart/2005/8/layout/vList2"/>
    <dgm:cxn modelId="{34C24948-DB36-4EBC-ADB4-6D195C5F5CD0}" srcId="{EF8D8BE9-C264-4823-8B27-A511C6DA3795}" destId="{B852F8B0-48A1-474F-A6AD-A1F839885D87}" srcOrd="0" destOrd="0" parTransId="{024932F5-7DF8-4006-8DF0-B2055915D765}" sibTransId="{D9105213-CCAA-4C18-A00A-7030012D8D95}"/>
    <dgm:cxn modelId="{6D5FC86B-62FB-4654-BA4A-A34411F5FBC2}" srcId="{6E2F91E7-5D22-4EA7-9FCC-811839BD0AB8}" destId="{EF8D8BE9-C264-4823-8B27-A511C6DA3795}" srcOrd="1" destOrd="0" parTransId="{BFB94967-80C1-4184-8517-52E0AD5899DD}" sibTransId="{59EFE946-F892-4053-AE44-532AB682C514}"/>
    <dgm:cxn modelId="{D7B46980-72BA-4FA1-AA13-3ED14D75ADDF}" srcId="{CF9AC1A1-9E02-4A1D-9AE1-0B08B12E04E3}" destId="{2F6A94E3-68E6-4270-A12A-CEB61DF36ADB}" srcOrd="2" destOrd="0" parTransId="{DC4498FA-D84B-496E-A8F4-6C23936861AF}" sibTransId="{720AC133-8FE9-492B-91A8-48F34497917B}"/>
    <dgm:cxn modelId="{65179989-7A1C-4F47-AAEA-B9A28BDBE9CA}" type="presOf" srcId="{2F6A94E3-68E6-4270-A12A-CEB61DF36ADB}" destId="{BBAF535B-2DD8-D248-9047-60189720D2B2}" srcOrd="0" destOrd="2" presId="urn:microsoft.com/office/officeart/2005/8/layout/vList2"/>
    <dgm:cxn modelId="{6A41138E-1B65-4A19-910D-842BB957AB8C}" srcId="{CF9AC1A1-9E02-4A1D-9AE1-0B08B12E04E3}" destId="{4168F09B-4EE6-49DC-80D6-DADFD966A763}" srcOrd="1" destOrd="0" parTransId="{069FFD03-E324-4A2E-BFF6-FB5DA5D6032D}" sibTransId="{284034BF-567A-41F1-B246-D9F454C937EF}"/>
    <dgm:cxn modelId="{BCC80090-4317-4886-A231-3AE7ECD94016}" srcId="{CF9AC1A1-9E02-4A1D-9AE1-0B08B12E04E3}" destId="{7CDFC6B6-8EAD-44BC-9EEB-A7532D3D8641}" srcOrd="0" destOrd="0" parTransId="{AF695D1B-CCC0-4DA0-9390-4A9397473698}" sibTransId="{56022E09-CAA5-418A-A07F-BF8B6C92B564}"/>
    <dgm:cxn modelId="{46B6A2BE-44DA-41BA-A056-CA89491F05BE}" srcId="{6E2F91E7-5D22-4EA7-9FCC-811839BD0AB8}" destId="{CF9AC1A1-9E02-4A1D-9AE1-0B08B12E04E3}" srcOrd="0" destOrd="0" parTransId="{6373EABD-FD4D-4231-A93B-C3F690FC32E9}" sibTransId="{8A900DC0-6803-4D7D-A4A8-AFBC293F8236}"/>
    <dgm:cxn modelId="{8054C6CC-152E-DB4F-AA95-E36B0AD8859F}" type="presOf" srcId="{EF8D8BE9-C264-4823-8B27-A511C6DA3795}" destId="{4135AA81-AB4F-BE4D-9AF2-B3917A713AAB}" srcOrd="0" destOrd="0" presId="urn:microsoft.com/office/officeart/2005/8/layout/vList2"/>
    <dgm:cxn modelId="{36E33AD6-3BE3-7445-8847-598A80BB9E3A}" type="presOf" srcId="{6E2F91E7-5D22-4EA7-9FCC-811839BD0AB8}" destId="{BC262289-1575-4144-B40D-938DE73212A5}" srcOrd="0" destOrd="0" presId="urn:microsoft.com/office/officeart/2005/8/layout/vList2"/>
    <dgm:cxn modelId="{E2D64FD7-A387-3342-A412-1A0A5410ADA6}" type="presOf" srcId="{4168F09B-4EE6-49DC-80D6-DADFD966A763}" destId="{BBAF535B-2DD8-D248-9047-60189720D2B2}" srcOrd="0" destOrd="1" presId="urn:microsoft.com/office/officeart/2005/8/layout/vList2"/>
    <dgm:cxn modelId="{189E8B0D-F70C-4B40-87C7-75872E01EE17}" type="presParOf" srcId="{BC262289-1575-4144-B40D-938DE73212A5}" destId="{55A2EDA6-2B37-294F-BBA9-2021943B37F8}" srcOrd="0" destOrd="0" presId="urn:microsoft.com/office/officeart/2005/8/layout/vList2"/>
    <dgm:cxn modelId="{944BA643-FD54-954E-9792-9C9D073E633B}" type="presParOf" srcId="{BC262289-1575-4144-B40D-938DE73212A5}" destId="{BBAF535B-2DD8-D248-9047-60189720D2B2}" srcOrd="1" destOrd="0" presId="urn:microsoft.com/office/officeart/2005/8/layout/vList2"/>
    <dgm:cxn modelId="{69A5F8C2-7FF0-C04C-967E-9093FFA259DD}" type="presParOf" srcId="{BC262289-1575-4144-B40D-938DE73212A5}" destId="{4135AA81-AB4F-BE4D-9AF2-B3917A713AAB}" srcOrd="2" destOrd="0" presId="urn:microsoft.com/office/officeart/2005/8/layout/vList2"/>
    <dgm:cxn modelId="{88A88C07-5C30-9946-A85E-0B743E14C57F}" type="presParOf" srcId="{BC262289-1575-4144-B40D-938DE73212A5}" destId="{F0AA9C27-73F9-A745-9D99-767E17F5554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3F42A-37BC-4A46-A02A-6E909B1002A4}">
      <dsp:nvSpPr>
        <dsp:cNvPr id="0" name=""/>
        <dsp:cNvSpPr/>
      </dsp:nvSpPr>
      <dsp:spPr>
        <a:xfrm>
          <a:off x="0" y="2950"/>
          <a:ext cx="7886700" cy="62792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0053D3-20A1-4150-B437-42D0298F75CC}">
      <dsp:nvSpPr>
        <dsp:cNvPr id="0" name=""/>
        <dsp:cNvSpPr/>
      </dsp:nvSpPr>
      <dsp:spPr>
        <a:xfrm>
          <a:off x="189945" y="144232"/>
          <a:ext cx="345693" cy="3453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FBF306-388F-4D09-BEE4-6CD7A59C28A9}">
      <dsp:nvSpPr>
        <dsp:cNvPr id="0" name=""/>
        <dsp:cNvSpPr/>
      </dsp:nvSpPr>
      <dsp:spPr>
        <a:xfrm>
          <a:off x="725585" y="2950"/>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kern="1200"/>
            <a:t>In drug development, a Go/No-Go decision often depends on the chance that a </a:t>
          </a:r>
          <a:r>
            <a:rPr lang="en-US" sz="1400" i="1" kern="1200"/>
            <a:t>future</a:t>
          </a:r>
          <a:r>
            <a:rPr lang="en-US" sz="1400" kern="1200"/>
            <a:t> confirmatory analysis will meet a pre-specified success criterion.</a:t>
          </a:r>
        </a:p>
      </dsp:txBody>
      <dsp:txXfrm>
        <a:off x="725585" y="2950"/>
        <a:ext cx="7128334" cy="686787"/>
      </dsp:txXfrm>
    </dsp:sp>
    <dsp:sp modelId="{CBAA6D6C-5526-459D-8890-9A2851AF0287}">
      <dsp:nvSpPr>
        <dsp:cNvPr id="0" name=""/>
        <dsp:cNvSpPr/>
      </dsp:nvSpPr>
      <dsp:spPr>
        <a:xfrm>
          <a:off x="0" y="861435"/>
          <a:ext cx="7886700" cy="62792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661F8D-A736-422C-8DD9-35B37A6B134F}">
      <dsp:nvSpPr>
        <dsp:cNvPr id="0" name=""/>
        <dsp:cNvSpPr/>
      </dsp:nvSpPr>
      <dsp:spPr>
        <a:xfrm>
          <a:off x="189945" y="1002717"/>
          <a:ext cx="345693" cy="3453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274431-33F0-4B67-BEC5-D8730935D6A8}">
      <dsp:nvSpPr>
        <dsp:cNvPr id="0" name=""/>
        <dsp:cNvSpPr/>
      </dsp:nvSpPr>
      <dsp:spPr>
        <a:xfrm>
          <a:off x="725585" y="861435"/>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kern="1200"/>
            <a:t>Classical power assumes the true treatment effect is fixed and known (or set to a design alternative). In practice, the true effect is uncertain and should be updated by accumulating evidence (historical trials, interim data, surrogate endpoints, etc.).</a:t>
          </a:r>
        </a:p>
      </dsp:txBody>
      <dsp:txXfrm>
        <a:off x="725585" y="861435"/>
        <a:ext cx="7128334" cy="686787"/>
      </dsp:txXfrm>
    </dsp:sp>
    <dsp:sp modelId="{0FBB8B87-522C-4BE7-A3D7-394814797D3E}">
      <dsp:nvSpPr>
        <dsp:cNvPr id="0" name=""/>
        <dsp:cNvSpPr/>
      </dsp:nvSpPr>
      <dsp:spPr>
        <a:xfrm>
          <a:off x="0" y="1719919"/>
          <a:ext cx="7886700" cy="62792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9F1197-B367-43AF-B61B-8AAF58D006D8}">
      <dsp:nvSpPr>
        <dsp:cNvPr id="0" name=""/>
        <dsp:cNvSpPr/>
      </dsp:nvSpPr>
      <dsp:spPr>
        <a:xfrm>
          <a:off x="189945" y="1861201"/>
          <a:ext cx="345693" cy="3453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6F0117-5494-4A2C-81B2-AB730D06DE56}">
      <dsp:nvSpPr>
        <dsp:cNvPr id="0" name=""/>
        <dsp:cNvSpPr/>
      </dsp:nvSpPr>
      <dsp:spPr>
        <a:xfrm>
          <a:off x="725585" y="1719919"/>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b="1" kern="1200"/>
            <a:t>Predictive Probability of Success (PoS)</a:t>
          </a:r>
          <a:r>
            <a:rPr lang="en-US" sz="1400" kern="1200"/>
            <a:t> answers:</a:t>
          </a:r>
        </a:p>
      </dsp:txBody>
      <dsp:txXfrm>
        <a:off x="725585" y="1719919"/>
        <a:ext cx="7128334" cy="686787"/>
      </dsp:txXfrm>
    </dsp:sp>
    <dsp:sp modelId="{EE4848A1-7718-43BB-9E8F-FEA7ACE08CA6}">
      <dsp:nvSpPr>
        <dsp:cNvPr id="0" name=""/>
        <dsp:cNvSpPr/>
      </dsp:nvSpPr>
      <dsp:spPr>
        <a:xfrm>
          <a:off x="0" y="2578404"/>
          <a:ext cx="7886700" cy="62792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0350B1-9585-474E-B02F-988DCE962D3F}">
      <dsp:nvSpPr>
        <dsp:cNvPr id="0" name=""/>
        <dsp:cNvSpPr/>
      </dsp:nvSpPr>
      <dsp:spPr>
        <a:xfrm>
          <a:off x="189945" y="2719686"/>
          <a:ext cx="345693" cy="3453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716BC4-3562-4DA5-A436-D5F0ED9C1ECC}">
      <dsp:nvSpPr>
        <dsp:cNvPr id="0" name=""/>
        <dsp:cNvSpPr/>
      </dsp:nvSpPr>
      <dsp:spPr>
        <a:xfrm>
          <a:off x="725585" y="2578404"/>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kern="1200" dirty="0"/>
            <a:t>“Given what we know </a:t>
          </a:r>
          <a:r>
            <a:rPr lang="en-US" sz="1400" i="1" kern="1200" dirty="0"/>
            <a:t>today</a:t>
          </a:r>
          <a:r>
            <a:rPr lang="en-US" sz="1400" kern="1200" dirty="0"/>
            <a:t>, what is the probability the current (future) study will be declared successful?”</a:t>
          </a:r>
        </a:p>
      </dsp:txBody>
      <dsp:txXfrm>
        <a:off x="725585" y="2578404"/>
        <a:ext cx="7128334" cy="686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2EDA6-2B37-294F-BBA9-2021943B37F8}">
      <dsp:nvSpPr>
        <dsp:cNvPr id="0" name=""/>
        <dsp:cNvSpPr/>
      </dsp:nvSpPr>
      <dsp:spPr>
        <a:xfrm>
          <a:off x="0" y="29648"/>
          <a:ext cx="8229600" cy="6475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Scenario (ICB trial):</a:t>
          </a:r>
          <a:endParaRPr lang="en-US" sz="2700" kern="1200"/>
        </a:p>
      </dsp:txBody>
      <dsp:txXfrm>
        <a:off x="31613" y="61261"/>
        <a:ext cx="8166374" cy="584369"/>
      </dsp:txXfrm>
    </dsp:sp>
    <dsp:sp modelId="{BBAF535B-2DD8-D248-9047-60189720D2B2}">
      <dsp:nvSpPr>
        <dsp:cNvPr id="0" name=""/>
        <dsp:cNvSpPr/>
      </dsp:nvSpPr>
      <dsp:spPr>
        <a:xfrm>
          <a:off x="0" y="677243"/>
          <a:ext cx="8229600"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Primary endpoint: </a:t>
          </a:r>
          <a:r>
            <a:rPr lang="en-US" sz="2100" b="1" kern="1200"/>
            <a:t>PFS</a:t>
          </a:r>
          <a:r>
            <a:rPr lang="en-US" sz="2100" kern="1200"/>
            <a:t> (read out earlier)</a:t>
          </a:r>
        </a:p>
        <a:p>
          <a:pPr marL="228600" lvl="1" indent="-228600" algn="l" defTabSz="933450">
            <a:lnSpc>
              <a:spcPct val="90000"/>
            </a:lnSpc>
            <a:spcBef>
              <a:spcPct val="0"/>
            </a:spcBef>
            <a:spcAft>
              <a:spcPct val="20000"/>
            </a:spcAft>
            <a:buChar char="•"/>
          </a:pPr>
          <a:r>
            <a:rPr lang="en-US" sz="2100" kern="1200"/>
            <a:t>Key secondary endpoint: </a:t>
          </a:r>
          <a:r>
            <a:rPr lang="en-US" sz="2100" b="1" kern="1200"/>
            <a:t>OS</a:t>
          </a:r>
          <a:r>
            <a:rPr lang="en-US" sz="2100" kern="1200"/>
            <a:t> (matures later)</a:t>
          </a:r>
        </a:p>
        <a:p>
          <a:pPr marL="228600" lvl="1" indent="-228600" algn="l" defTabSz="933450">
            <a:lnSpc>
              <a:spcPct val="90000"/>
            </a:lnSpc>
            <a:spcBef>
              <a:spcPct val="0"/>
            </a:spcBef>
            <a:spcAft>
              <a:spcPct val="20000"/>
            </a:spcAft>
            <a:buChar char="•"/>
          </a:pPr>
          <a:r>
            <a:rPr lang="en-US" sz="2100" kern="1200"/>
            <a:t>Effect measure: </a:t>
          </a:r>
          <a:r>
            <a:rPr lang="en-US" sz="2100" b="1" kern="1200"/>
            <a:t>log(HR)</a:t>
          </a:r>
          <a:r>
            <a:rPr lang="en-US" sz="2100" kern="1200"/>
            <a:t> for both endpoints</a:t>
          </a:r>
        </a:p>
      </dsp:txBody>
      <dsp:txXfrm>
        <a:off x="0" y="677243"/>
        <a:ext cx="8229600" cy="1089854"/>
      </dsp:txXfrm>
    </dsp:sp>
    <dsp:sp modelId="{4135AA81-AB4F-BE4D-9AF2-B3917A713AAB}">
      <dsp:nvSpPr>
        <dsp:cNvPr id="0" name=""/>
        <dsp:cNvSpPr/>
      </dsp:nvSpPr>
      <dsp:spPr>
        <a:xfrm>
          <a:off x="0" y="1767098"/>
          <a:ext cx="8229600" cy="6475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Decision question:</a:t>
          </a:r>
          <a:endParaRPr lang="en-US" sz="2700" kern="1200"/>
        </a:p>
      </dsp:txBody>
      <dsp:txXfrm>
        <a:off x="31613" y="1798711"/>
        <a:ext cx="8166374" cy="584369"/>
      </dsp:txXfrm>
    </dsp:sp>
    <dsp:sp modelId="{F0AA9C27-73F9-A745-9D99-767E17F55547}">
      <dsp:nvSpPr>
        <dsp:cNvPr id="0" name=""/>
        <dsp:cNvSpPr/>
      </dsp:nvSpPr>
      <dsp:spPr>
        <a:xfrm>
          <a:off x="0" y="2414693"/>
          <a:ext cx="8229600" cy="95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Given the current trial’s observed PFS result, what is the probability that the final OS analysis will be statistically significant (two-sided p &lt; 0.05) in the beneficial direction?</a:t>
          </a:r>
        </a:p>
      </dsp:txBody>
      <dsp:txXfrm>
        <a:off x="0" y="2414693"/>
        <a:ext cx="8229600" cy="95013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PoS: it answers a decision question—given today’s data, how likely are we to meet the final OS success criterion?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
        <p:nvSpPr>
          <p:cNvPr id="5" name="Notes Placeholder 4"/>
          <p:cNvSpPr>
            <a:spLocks noGrp="1"/>
          </p:cNvSpPr>
          <p:nvPr>
            <p:ph type="body" idx="3" sz="quarter"/>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core “PoS” story: translate earlier evidence (PFS) into an actionable probability about OS success, while carrying uncertainty.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
        <p:nvSpPr>
          <p:cNvPr id="5" name="Notes Placeholder 4"/>
          <p:cNvSpPr>
            <a:spLocks noGrp="1"/>
          </p:cNvSpPr>
          <p:nvPr>
            <p:ph type="body" idx="3" sz="quarter"/>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whole approach rests on “exchangeability”: the historical trials and the current trial are assumed to come from the same super-population (up to heterogeneity).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
        <p:nvSpPr>
          <p:cNvPr id="5" name="Notes Placeholder 4"/>
          <p:cNvSpPr>
            <a:spLocks noGrp="1"/>
          </p:cNvSpPr>
          <p:nvPr>
            <p:ph type="body" idx="3" sz="quarter"/>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engine is a Bayesian update under a bivariate normal model linking PFS and OS. The first quantity, 𝑚_"post" , is our posterior mean for the final OS effect on the log(HR) scale. We start from the historical OS baseline, then shift that prediction based on how the current PFS signal deviates from its historical expectation, scaled by the estimated between-study relationship. Practically, when PFS comes in stronger than expected, it nudges our OS forecast in the favorable direction; when PFS is weaker, the OS forecast is pulled back toward the baseline. The second quantity, 𝑣_"post" , is our remaining uncertainty after incorporating PFS. Bringing PFS into the model produces a variance reduction—more precise PFS evidence clears more of the fog around the OS forecast, while noisier PFS reduces uncertainty less. Overall, these two pieces ensure our </a:t>
            </a:r>
            <a:r>
              <a:rPr lang="en-US" dirty="0" err="1"/>
              <a:t>PoS</a:t>
            </a:r>
            <a:r>
              <a:rPr lang="en-US" dirty="0"/>
              <a:t> is not a reaction to a single interim signal, but a coherent, mathematically grounded forecast that combines current evidence with historically learned OS–PFS patterns and their uncertainty.</a:t>
            </a:r>
          </a:p>
        </p:txBody>
      </p:sp>
      <p:sp>
        <p:nvSpPr>
          <p:cNvPr id="4" name="Slide Number Placeholder 3"/>
          <p:cNvSpPr>
            <a:spLocks noGrp="1"/>
          </p:cNvSpPr>
          <p:nvPr>
            <p:ph type="sldNum" sz="quarter" idx="5"/>
          </p:nvPr>
        </p:nvSpPr>
        <p:spPr/>
        <p:txBody>
          <a:bodyPr/>
          <a:lstStyle/>
          <a:p>
            <a:fld id="{18BDFEC3-8487-43E8-A154-7C12CBC1FFF2}" type="slidenum">
              <a:rPr lang="en-US" smtClean="0"/>
              <a:t>13</a:t>
            </a:fld>
            <a:endParaRPr lang="en-US"/>
          </a:p>
        </p:txBody>
      </p:sp>
      <p:sp>
        <p:nvSpPr>
          <p:cNvPr id="5" name="Notes Placeholder 4"/>
          <p:cNvSpPr>
            <a:spLocks noGrp="1"/>
          </p:cNvSpPr>
          <p:nvPr>
            <p:ph type="body" idx="3" sz="quarter"/>
          </p:nvPr>
        </p:nvSpPr>
        <p:spPr/>
        <p:txBody>
          <a:bodyPr/>
          <a:lstStyle/>
          <a:p/>
        </p:txBody>
      </p:sp>
    </p:spTree>
    <p:extLst>
      <p:ext uri="{BB962C8B-B14F-4D97-AF65-F5344CB8AC3E}">
        <p14:creationId xmlns:p14="http://schemas.microsoft.com/office/powerpoint/2010/main" val="1338768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This slide shows how we translate the current PFS signal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𝑦</m:t>
                        </m:r>
                      </m:e>
                      <m:sub>
                        <m:r>
                          <a:rPr lang="ar-AE" sz="1200" i="1" kern="1200">
                            <a:solidFill>
                              <a:schemeClr val="tx1"/>
                            </a:solidFill>
                            <a:latin typeface="+mn-lt"/>
                            <a:ea typeface="+mn-ea"/>
                            <a:cs typeface="+mn-cs"/>
                          </a:rPr>
                          <m:t>𝑐</m:t>
                        </m:r>
                      </m:sub>
                    </m:sSub>
                  </m:oMath>
                </a14:m>
                <a:r>
                  <a:rPr lang="en-US" dirty="0"/>
                  <a:t>into a forecast for the final OS estimate. Under the bivariate normal update, the final OS estimator follows </a:t>
                </a:r>
                <a14:m>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𝑌</m:t>
                        </m:r>
                      </m:e>
                      <m:sub>
                        <m:r>
                          <a:rPr lang="ar-AE" sz="1200" i="1" kern="1200">
                            <a:solidFill>
                              <a:schemeClr val="tx1"/>
                            </a:solidFill>
                            <a:latin typeface="+mn-lt"/>
                            <a:ea typeface="+mn-ea"/>
                            <a:cs typeface="+mn-cs"/>
                          </a:rPr>
                          <m:t>𝑂𝑆</m:t>
                        </m:r>
                      </m:sub>
                      <m:sup>
                        <m:r>
                          <a:rPr lang="ar-AE" sz="1200" i="0" kern="1200">
                            <a:solidFill>
                              <a:schemeClr val="tx1"/>
                            </a:solidFill>
                            <a:latin typeface="+mn-lt"/>
                            <a:ea typeface="+mn-ea"/>
                            <a:cs typeface="+mn-cs"/>
                          </a:rPr>
                          <m:t>∗</m:t>
                        </m:r>
                      </m:sup>
                    </m:sSubSup>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𝑦</m:t>
                        </m:r>
                      </m:e>
                      <m:sub>
                        <m:r>
                          <a:rPr lang="ar-AE" sz="1200" i="1" kern="1200">
                            <a:solidFill>
                              <a:schemeClr val="tx1"/>
                            </a:solidFill>
                            <a:latin typeface="+mn-lt"/>
                            <a:ea typeface="+mn-ea"/>
                            <a:cs typeface="+mn-cs"/>
                          </a:rPr>
                          <m:t>𝑐</m:t>
                        </m:r>
                      </m:sub>
                    </m:sSub>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𝒩</m:t>
                    </m:r>
                    <m:d>
                      <m:dPr>
                        <m:sepChr m:val=","/>
                        <m:ctrlPr>
                          <a:rPr lang="ar-AE" sz="1200" i="1" kern="1200">
                            <a:solidFill>
                              <a:schemeClr val="tx1"/>
                            </a:solidFill>
                            <a:latin typeface="+mn-lt"/>
                            <a:ea typeface="+mn-ea"/>
                            <a:cs typeface="+mn-cs"/>
                          </a:rPr>
                        </m:ctrlPr>
                      </m:dPr>
                      <m:e>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𝑚</m:t>
                            </m:r>
                          </m:e>
                          <m:sub>
                            <m:r>
                              <m:rPr>
                                <m:nor/>
                              </m:rPr>
                              <a:rPr lang="en-US" sz="1200" b="0" i="1" kern="1200">
                                <a:solidFill>
                                  <a:schemeClr val="tx1"/>
                                </a:solidFill>
                                <a:latin typeface="+mn-lt"/>
                                <a:ea typeface="+mn-ea"/>
                                <a:cs typeface="+mn-cs"/>
                              </a:rPr>
                              <m:t>post</m:t>
                            </m:r>
                          </m:sub>
                        </m:sSub>
                      </m:e>
                      <m:e>
                        <m:r>
                          <m:rPr>
                            <m:nor/>
                          </m:rPr>
                          <a:rPr lang="ar-AE" sz="1200" b="0" i="1" kern="1200">
                            <a:solidFill>
                              <a:schemeClr val="tx1"/>
                            </a:solidFill>
                            <a:latin typeface="+mn-lt"/>
                            <a:ea typeface="+mn-ea"/>
                            <a:cs typeface="+mn-cs"/>
                          </a:rPr>
                          <m:t> </m:t>
                        </m:r>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𝑣</m:t>
                            </m:r>
                          </m:e>
                          <m:sub>
                            <m:r>
                              <m:rPr>
                                <m:nor/>
                              </m:rPr>
                              <a:rPr lang="en-US" sz="1200" b="0" i="1" kern="1200">
                                <a:solidFill>
                                  <a:schemeClr val="tx1"/>
                                </a:solidFill>
                                <a:latin typeface="+mn-lt"/>
                                <a:ea typeface="+mn-ea"/>
                                <a:cs typeface="+mn-cs"/>
                              </a:rPr>
                              <m:t>post</m:t>
                            </m:r>
                          </m:sub>
                        </m:sSub>
                        <m:r>
                          <a:rPr lang="ar-AE" sz="1200" b="0" i="0" kern="1200">
                            <a:solidFill>
                              <a:schemeClr val="tx1"/>
                            </a:solidFill>
                            <a:latin typeface="+mn-lt"/>
                            <a:ea typeface="+mn-ea"/>
                            <a:cs typeface="+mn-cs"/>
                          </a:rPr>
                          <m:t>+</m:t>
                        </m:r>
                        <m:r>
                          <a:rPr lang="ar-AE" sz="1200" b="0" i="1" kern="1200">
                            <a:solidFill>
                              <a:schemeClr val="tx1"/>
                            </a:solidFill>
                            <a:latin typeface="+mn-lt"/>
                            <a:ea typeface="+mn-ea"/>
                            <a:cs typeface="+mn-cs"/>
                          </a:rPr>
                          <m:t>𝑠</m:t>
                        </m:r>
                        <m:sSubSup>
                          <m:sSubSupPr>
                            <m:ctrlPr>
                              <a:rPr lang="ar-AE" sz="1200" b="0" i="1" kern="1200">
                                <a:solidFill>
                                  <a:schemeClr val="tx1"/>
                                </a:solidFill>
                                <a:latin typeface="+mn-lt"/>
                                <a:ea typeface="+mn-ea"/>
                                <a:cs typeface="+mn-cs"/>
                              </a:rPr>
                            </m:ctrlPr>
                          </m:sSubSupPr>
                          <m:e>
                            <m:r>
                              <a:rPr lang="ar-AE" sz="1200" b="0" i="1" kern="1200">
                                <a:solidFill>
                                  <a:schemeClr val="tx1"/>
                                </a:solidFill>
                                <a:latin typeface="+mn-lt"/>
                                <a:ea typeface="+mn-ea"/>
                                <a:cs typeface="+mn-cs"/>
                              </a:rPr>
                              <m:t>𝑒</m:t>
                            </m:r>
                          </m:e>
                          <m:sub>
                            <m:r>
                              <a:rPr lang="ar-AE" sz="1200" b="0" i="0" kern="1200">
                                <a:solidFill>
                                  <a:schemeClr val="tx1"/>
                                </a:solidFill>
                                <a:latin typeface="+mn-lt"/>
                                <a:ea typeface="+mn-ea"/>
                                <a:cs typeface="+mn-cs"/>
                              </a:rPr>
                              <m:t>∗</m:t>
                            </m:r>
                          </m:sub>
                          <m:sup>
                            <m:r>
                              <a:rPr lang="ar-AE" sz="1200" b="0" i="0" kern="1200">
                                <a:solidFill>
                                  <a:schemeClr val="tx1"/>
                                </a:solidFill>
                                <a:latin typeface="+mn-lt"/>
                                <a:ea typeface="+mn-ea"/>
                                <a:cs typeface="+mn-cs"/>
                              </a:rPr>
                              <m:t>2</m:t>
                            </m:r>
                          </m:sup>
                        </m:sSubSup>
                      </m:e>
                    </m:d>
                  </m:oMath>
                </a14:m>
                <a:r>
                  <a:rPr lang="ar-AE" dirty="0"/>
                  <a:t>, </a:t>
                </a:r>
                <a:r>
                  <a:rPr lang="en-US" dirty="0"/>
                  <a:t>where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𝑚</m:t>
                        </m:r>
                      </m:e>
                      <m:sub>
                        <m:r>
                          <m:rPr>
                            <m:nor/>
                          </m:rPr>
                          <a:rPr lang="en-US" sz="1200" b="0" i="1" kern="1200">
                            <a:solidFill>
                              <a:schemeClr val="tx1"/>
                            </a:solidFill>
                            <a:latin typeface="+mn-lt"/>
                            <a:ea typeface="+mn-ea"/>
                            <a:cs typeface="+mn-cs"/>
                          </a:rPr>
                          <m:t>post</m:t>
                        </m:r>
                      </m:sub>
                    </m:sSub>
                  </m:oMath>
                </a14:m>
                <a:r>
                  <a:rPr lang="en-US" dirty="0"/>
                  <a:t>is the updated mean OS effect and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𝑣</m:t>
                        </m:r>
                      </m:e>
                      <m:sub>
                        <m:r>
                          <m:rPr>
                            <m:nor/>
                          </m:rPr>
                          <a:rPr lang="en-US" sz="1200" b="0" i="1" kern="1200">
                            <a:solidFill>
                              <a:schemeClr val="tx1"/>
                            </a:solidFill>
                            <a:latin typeface="+mn-lt"/>
                            <a:ea typeface="+mn-ea"/>
                            <a:cs typeface="+mn-cs"/>
                          </a:rPr>
                          <m:t>post</m:t>
                        </m:r>
                      </m:sub>
                    </m:sSub>
                    <m:r>
                      <a:rPr lang="ar-AE" sz="1200" b="0" i="0" kern="1200">
                        <a:solidFill>
                          <a:schemeClr val="tx1"/>
                        </a:solidFill>
                        <a:latin typeface="+mn-lt"/>
                        <a:ea typeface="+mn-ea"/>
                        <a:cs typeface="+mn-cs"/>
                      </a:rPr>
                      <m:t>+</m:t>
                    </m:r>
                    <m:r>
                      <a:rPr lang="ar-AE" sz="1200" b="0" i="1" kern="1200">
                        <a:solidFill>
                          <a:schemeClr val="tx1"/>
                        </a:solidFill>
                        <a:latin typeface="+mn-lt"/>
                        <a:ea typeface="+mn-ea"/>
                        <a:cs typeface="+mn-cs"/>
                      </a:rPr>
                      <m:t>𝑠</m:t>
                    </m:r>
                    <m:sSubSup>
                      <m:sSubSupPr>
                        <m:ctrlPr>
                          <a:rPr lang="ar-AE" sz="1200" b="0" i="1" kern="1200">
                            <a:solidFill>
                              <a:schemeClr val="tx1"/>
                            </a:solidFill>
                            <a:latin typeface="+mn-lt"/>
                            <a:ea typeface="+mn-ea"/>
                            <a:cs typeface="+mn-cs"/>
                          </a:rPr>
                        </m:ctrlPr>
                      </m:sSubSupPr>
                      <m:e>
                        <m:r>
                          <a:rPr lang="ar-AE" sz="1200" b="0" i="1" kern="1200">
                            <a:solidFill>
                              <a:schemeClr val="tx1"/>
                            </a:solidFill>
                            <a:latin typeface="+mn-lt"/>
                            <a:ea typeface="+mn-ea"/>
                            <a:cs typeface="+mn-cs"/>
                          </a:rPr>
                          <m:t>𝑒</m:t>
                        </m:r>
                      </m:e>
                      <m:sub>
                        <m:r>
                          <a:rPr lang="ar-AE" sz="1200" b="0" i="0" kern="1200">
                            <a:solidFill>
                              <a:schemeClr val="tx1"/>
                            </a:solidFill>
                            <a:latin typeface="+mn-lt"/>
                            <a:ea typeface="+mn-ea"/>
                            <a:cs typeface="+mn-cs"/>
                          </a:rPr>
                          <m:t>∗</m:t>
                        </m:r>
                      </m:sub>
                      <m:sup>
                        <m:r>
                          <a:rPr lang="ar-AE" sz="1200" b="0" i="0" kern="1200">
                            <a:solidFill>
                              <a:schemeClr val="tx1"/>
                            </a:solidFill>
                            <a:latin typeface="+mn-lt"/>
                            <a:ea typeface="+mn-ea"/>
                            <a:cs typeface="+mn-cs"/>
                          </a:rPr>
                          <m:t>2</m:t>
                        </m:r>
                      </m:sup>
                    </m:sSubSup>
                  </m:oMath>
                </a14:m>
                <a:r>
                  <a:rPr lang="en-US" dirty="0"/>
                  <a:t>is the total predictive uncertainty. </a:t>
                </a:r>
                <a:r>
                  <a:rPr lang="en-US" dirty="0" err="1"/>
                  <a:t>PoS</a:t>
                </a:r>
                <a:r>
                  <a:rPr lang="en-US" dirty="0"/>
                  <a:t> is then the probability of crossing the success threshold </a:t>
                </a:r>
                <a14:m>
                  <m:oMath xmlns:m="http://schemas.openxmlformats.org/officeDocument/2006/math">
                    <m:r>
                      <a:rPr lang="en-US" sz="1200" i="1" kern="1200">
                        <a:solidFill>
                          <a:schemeClr val="tx1"/>
                        </a:solidFill>
                        <a:latin typeface="+mn-lt"/>
                        <a:ea typeface="+mn-ea"/>
                        <a:cs typeface="+mn-cs"/>
                      </a:rPr>
                      <m:t>𝑐</m:t>
                    </m:r>
                  </m:oMath>
                </a14:m>
                <a:r>
                  <a:rPr lang="en-US" dirty="0"/>
                  <a:t>: . Three knobs drive </a:t>
                </a:r>
                <a:r>
                  <a:rPr lang="en-US" dirty="0" err="1"/>
                  <a:t>PoS</a:t>
                </a:r>
                <a:r>
                  <a:rPr lang="en-US" dirty="0"/>
                  <a:t>: higher </a:t>
                </a:r>
                <a14:m>
                  <m:oMath xmlns:m="http://schemas.openxmlformats.org/officeDocument/2006/math">
                    <m:r>
                      <a:rPr lang="en-US" sz="1200" i="1" kern="1200">
                        <a:solidFill>
                          <a:schemeClr val="tx1"/>
                        </a:solidFill>
                        <a:latin typeface="+mn-lt"/>
                        <a:ea typeface="+mn-ea"/>
                        <a:cs typeface="+mn-cs"/>
                      </a:rPr>
                      <m:t>𝜌</m:t>
                    </m:r>
                  </m:oMath>
                </a14:m>
                <a:r>
                  <a:rPr lang="en-US" dirty="0"/>
                  <a:t>makes PFS update OS more, larger </a:t>
                </a:r>
                <a14:m>
                  <m:oMath xmlns:m="http://schemas.openxmlformats.org/officeDocument/2006/math">
                    <m:r>
                      <a:rPr lang="en-US" sz="1200" i="1" kern="1200">
                        <a:solidFill>
                          <a:schemeClr val="tx1"/>
                        </a:solidFill>
                        <a:latin typeface="+mn-lt"/>
                        <a:ea typeface="+mn-ea"/>
                        <a:cs typeface="+mn-cs"/>
                      </a:rPr>
                      <m:t>𝜏</m:t>
                    </m:r>
                  </m:oMath>
                </a14:m>
                <a:r>
                  <a:rPr lang="en-US" dirty="0"/>
                  <a:t>increases uncertainty and often lowers </a:t>
                </a:r>
                <a:r>
                  <a:rPr lang="en-US" dirty="0" err="1"/>
                  <a:t>PoS</a:t>
                </a:r>
                <a:r>
                  <a:rPr lang="en-US" dirty="0"/>
                  <a:t>, and more OS events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𝑑</m:t>
                        </m:r>
                      </m:e>
                      <m:sub>
                        <m:r>
                          <m:rPr>
                            <m:nor/>
                          </m:rPr>
                          <a:rPr lang="en-US" sz="1200" b="0" i="1" kern="1200">
                            <a:solidFill>
                              <a:schemeClr val="tx1"/>
                            </a:solidFill>
                            <a:latin typeface="+mn-lt"/>
                            <a:ea typeface="+mn-ea"/>
                            <a:cs typeface="+mn-cs"/>
                          </a:rPr>
                          <m:t>events</m:t>
                        </m:r>
                      </m:sub>
                    </m:sSub>
                  </m:oMath>
                </a14:m>
                <a:r>
                  <a:rPr lang="en-US" dirty="0"/>
                  <a:t>reduces </a:t>
                </a:r>
                <a14:m>
                  <m:oMath xmlns:m="http://schemas.openxmlformats.org/officeDocument/2006/math">
                    <m:r>
                      <a:rPr lang="en-US" sz="1200" i="1" kern="1200">
                        <a:solidFill>
                          <a:schemeClr val="tx1"/>
                        </a:solidFill>
                        <a:latin typeface="+mn-lt"/>
                        <a:ea typeface="+mn-ea"/>
                        <a:cs typeface="+mn-cs"/>
                      </a:rPr>
                      <m:t>𝑠</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𝑒</m:t>
                        </m:r>
                      </m:e>
                      <m:sub>
                        <m:r>
                          <a:rPr lang="ar-AE" sz="1200" i="0" kern="1200">
                            <a:solidFill>
                              <a:schemeClr val="tx1"/>
                            </a:solidFill>
                            <a:latin typeface="+mn-lt"/>
                            <a:ea typeface="+mn-ea"/>
                            <a:cs typeface="+mn-cs"/>
                          </a:rPr>
                          <m:t>∗</m:t>
                        </m:r>
                      </m:sub>
                    </m:sSub>
                  </m:oMath>
                </a14:m>
                <a:r>
                  <a:rPr lang="en-US" dirty="0"/>
                  <a:t>and typically raises </a:t>
                </a:r>
                <a:r>
                  <a:rPr lang="en-US" dirty="0" err="1"/>
                  <a:t>PoS</a:t>
                </a:r>
                <a:endParaRPr lang="en-US" dirty="0"/>
              </a:p>
            </p:txBody>
          </p:sp>
        </mc:Choice>
        <mc:Fallback>
          <p:sp>
            <p:nvSpPr>
              <p:cNvPr id="3" name="Notes Placeholder 2"/>
              <p:cNvSpPr>
                <a:spLocks noGrp="1"/>
              </p:cNvSpPr>
              <p:nvPr>
                <p:ph type="body" idx="1"/>
              </p:nvPr>
            </p:nvSpPr>
            <p:spPr/>
            <p:txBody>
              <a:bodyPr/>
              <a:lstStyle/>
              <a:p>
                <a:r>
                  <a:rPr lang="en-US" dirty="0"/>
                  <a:t>This slide shows how we translate the current PFS signal </a:t>
                </a:r>
                <a:r>
                  <a:rPr lang="ar-AE" sz="1200" i="0" kern="1200">
                    <a:solidFill>
                      <a:schemeClr val="tx1"/>
                    </a:solidFill>
                    <a:latin typeface="+mn-lt"/>
                    <a:ea typeface="+mn-ea"/>
                    <a:cs typeface="+mn-cs"/>
                  </a:rPr>
                  <a:t>𝑦_𝑐</a:t>
                </a:r>
                <a:r>
                  <a:rPr lang="en-US" dirty="0"/>
                  <a:t>into a forecast for the final OS estimate. Under the bivariate normal update, the final OS estimator follows </a:t>
                </a:r>
                <a:r>
                  <a:rPr lang="ar-AE" sz="1200" i="0" kern="1200">
                    <a:solidFill>
                      <a:schemeClr val="tx1"/>
                    </a:solidFill>
                    <a:latin typeface="+mn-lt"/>
                    <a:ea typeface="+mn-ea"/>
                    <a:cs typeface="+mn-cs"/>
                  </a:rPr>
                  <a:t>𝑌_𝑂𝑆^∗∣𝑦_𝑐∼𝒩(𝑚_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 " 𝑣_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+𝑠𝑒_∗^2 )</a:t>
                </a:r>
                <a:r>
                  <a:rPr lang="ar-AE" dirty="0"/>
                  <a:t>, </a:t>
                </a:r>
                <a:r>
                  <a:rPr lang="en-US" dirty="0"/>
                  <a:t>where </a:t>
                </a:r>
                <a:r>
                  <a:rPr lang="ar-AE" sz="1200" i="0" kern="1200">
                    <a:solidFill>
                      <a:schemeClr val="tx1"/>
                    </a:solidFill>
                    <a:latin typeface="+mn-lt"/>
                    <a:ea typeface="+mn-ea"/>
                    <a:cs typeface="+mn-cs"/>
                  </a:rPr>
                  <a:t>𝑚_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a:t>
                </a:r>
                <a:r>
                  <a:rPr lang="en-US" dirty="0"/>
                  <a:t>is the updated mean OS effect and </a:t>
                </a:r>
                <a:r>
                  <a:rPr lang="ar-AE" sz="1200" i="0" kern="1200">
                    <a:solidFill>
                      <a:schemeClr val="tx1"/>
                    </a:solidFill>
                    <a:latin typeface="+mn-lt"/>
                    <a:ea typeface="+mn-ea"/>
                    <a:cs typeface="+mn-cs"/>
                  </a:rPr>
                  <a:t>𝑣_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+𝑠𝑒_∗^2</a:t>
                </a:r>
                <a:r>
                  <a:rPr lang="en-US" dirty="0"/>
                  <a:t>is the total predictive uncertainty. </a:t>
                </a:r>
                <a:r>
                  <a:rPr lang="en-US" dirty="0" err="1"/>
                  <a:t>PoS</a:t>
                </a:r>
                <a:r>
                  <a:rPr lang="en-US" dirty="0"/>
                  <a:t> is then the probability of crossing the success threshold </a:t>
                </a:r>
                <a:r>
                  <a:rPr lang="en-US" sz="1200" i="0" kern="1200">
                    <a:solidFill>
                      <a:schemeClr val="tx1"/>
                    </a:solidFill>
                    <a:latin typeface="+mn-lt"/>
                    <a:ea typeface="+mn-ea"/>
                    <a:cs typeface="+mn-cs"/>
                  </a:rPr>
                  <a:t>𝑐</a:t>
                </a:r>
                <a:r>
                  <a:rPr lang="en-US" dirty="0"/>
                  <a:t>: . Three knobs drive </a:t>
                </a:r>
                <a:r>
                  <a:rPr lang="en-US" dirty="0" err="1"/>
                  <a:t>PoS</a:t>
                </a:r>
                <a:r>
                  <a:rPr lang="en-US" dirty="0"/>
                  <a:t>: higher </a:t>
                </a:r>
                <a:r>
                  <a:rPr lang="en-US" sz="1200" i="0" kern="1200">
                    <a:solidFill>
                      <a:schemeClr val="tx1"/>
                    </a:solidFill>
                    <a:latin typeface="+mn-lt"/>
                    <a:ea typeface="+mn-ea"/>
                    <a:cs typeface="+mn-cs"/>
                  </a:rPr>
                  <a:t>𝜌</a:t>
                </a:r>
                <a:r>
                  <a:rPr lang="en-US" dirty="0"/>
                  <a:t>makes PFS update OS more, larger </a:t>
                </a:r>
                <a:r>
                  <a:rPr lang="en-US" sz="1200" i="0" kern="1200">
                    <a:solidFill>
                      <a:schemeClr val="tx1"/>
                    </a:solidFill>
                    <a:latin typeface="+mn-lt"/>
                    <a:ea typeface="+mn-ea"/>
                    <a:cs typeface="+mn-cs"/>
                  </a:rPr>
                  <a:t>𝜏</a:t>
                </a:r>
                <a:r>
                  <a:rPr lang="en-US" dirty="0"/>
                  <a:t>increases uncertainty and often lowers </a:t>
                </a:r>
                <a:r>
                  <a:rPr lang="en-US" dirty="0" err="1"/>
                  <a:t>PoS</a:t>
                </a:r>
                <a:r>
                  <a:rPr lang="en-US" dirty="0"/>
                  <a:t>, and more OS events </a:t>
                </a:r>
                <a:r>
                  <a:rPr lang="ar-AE" sz="1200" i="0" kern="1200">
                    <a:solidFill>
                      <a:schemeClr val="tx1"/>
                    </a:solidFill>
                    <a:latin typeface="+mn-lt"/>
                    <a:ea typeface="+mn-ea"/>
                    <a:cs typeface="+mn-cs"/>
                  </a:rPr>
                  <a:t>𝑑_</a:t>
                </a:r>
                <a:r>
                  <a:rPr lang="en-US" sz="1200" b="0" i="0" kern="1200">
                    <a:solidFill>
                      <a:schemeClr val="tx1"/>
                    </a:solidFill>
                    <a:latin typeface="+mn-lt"/>
                    <a:ea typeface="+mn-ea"/>
                    <a:cs typeface="+mn-cs"/>
                  </a:rPr>
                  <a:t>"events</a:t>
                </a:r>
                <a:r>
                  <a:rPr lang="ar-AE" sz="1200" b="0" i="0" kern="1200">
                    <a:solidFill>
                      <a:schemeClr val="tx1"/>
                    </a:solidFill>
                    <a:latin typeface="+mn-lt"/>
                    <a:ea typeface="+mn-ea"/>
                    <a:cs typeface="+mn-cs"/>
                  </a:rPr>
                  <a:t>" </a:t>
                </a:r>
                <a:r>
                  <a:rPr lang="en-US" dirty="0"/>
                  <a:t>reduces </a:t>
                </a:r>
                <a:r>
                  <a:rPr lang="en-US" sz="1200" i="0" kern="1200">
                    <a:solidFill>
                      <a:schemeClr val="tx1"/>
                    </a:solidFill>
                    <a:latin typeface="+mn-lt"/>
                    <a:ea typeface="+mn-ea"/>
                    <a:cs typeface="+mn-cs"/>
                  </a:rPr>
                  <a:t>𝑠</a:t>
                </a:r>
                <a:r>
                  <a:rPr lang="ar-AE" sz="1200" i="0" kern="1200">
                    <a:solidFill>
                      <a:schemeClr val="tx1"/>
                    </a:solidFill>
                    <a:latin typeface="+mn-lt"/>
                    <a:ea typeface="+mn-ea"/>
                    <a:cs typeface="+mn-cs"/>
                  </a:rPr>
                  <a:t>𝑒_∗</a:t>
                </a:r>
                <a:r>
                  <a:rPr lang="en-US" dirty="0"/>
                  <a:t>and typically raises </a:t>
                </a:r>
                <a:r>
                  <a:rPr lang="en-US" dirty="0" err="1"/>
                  <a:t>PoS</a:t>
                </a:r>
                <a:endParaRPr lang="en-US" dirty="0"/>
              </a:p>
            </p:txBody>
          </p:sp>
        </mc:Fallback>
      </mc:AlternateContent>
      <p:sp>
        <p:nvSpPr>
          <p:cNvPr id="4" name="Slide Number Placeholder 3"/>
          <p:cNvSpPr>
            <a:spLocks noGrp="1"/>
          </p:cNvSpPr>
          <p:nvPr>
            <p:ph type="sldNum" sz="quarter" idx="5"/>
          </p:nvPr>
        </p:nvSpPr>
        <p:spPr/>
        <p:txBody>
          <a:bodyPr/>
          <a:lstStyle/>
          <a:p>
            <a:fld id="{18BDFEC3-8487-43E8-A154-7C12CBC1FFF2}" type="slidenum">
              <a:rPr lang="en-US" smtClean="0"/>
              <a:t>14</a:t>
            </a:fld>
            <a:endParaRPr lang="en-US"/>
          </a:p>
        </p:txBody>
      </p:sp>
      <p:sp>
        <p:nvSpPr>
          <p:cNvPr id="5" name="Notes Placeholder 4"/>
          <p:cNvSpPr>
            <a:spLocks noGrp="1"/>
          </p:cNvSpPr>
          <p:nvPr>
            <p:ph type="body" idx="3" sz="quarter"/>
          </p:nvPr>
        </p:nvSpPr>
        <p:spPr/>
        <p:txBody>
          <a:bodyPr/>
          <a:lstStyle/>
          <a:p>
            <a:r>
              <a:t>Closed form: PoS depends on the distance to threshold (c−m_post) and total uncertainty √(v_post+se_*²).</a:t>
            </a:r>
          </a:p>
        </p:txBody>
      </p:sp>
    </p:spTree>
    <p:extLst>
      <p:ext uri="{BB962C8B-B14F-4D97-AF65-F5344CB8AC3E}">
        <p14:creationId xmlns:p14="http://schemas.microsoft.com/office/powerpoint/2010/main" val="73868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setup: simulate a small set of historical ICB trials to illustrate the method end-to-end.</a:t>
            </a:r>
          </a:p>
        </p:txBody>
      </p:sp>
      <p:sp>
        <p:nvSpPr>
          <p:cNvPr id="4" name="Slide Number Placeholder 3"/>
          <p:cNvSpPr>
            <a:spLocks noGrp="1"/>
          </p:cNvSpPr>
          <p:nvPr>
            <p:ph type="sldNum" sz="quarter" idx="5"/>
          </p:nvPr>
        </p:nvSpPr>
        <p:spPr/>
        <p:txBody>
          <a:bodyPr/>
          <a:lstStyle/>
          <a:p>
            <a:fld id="{18BDFEC3-8487-43E8-A154-7C12CBC1FFF2}" type="slidenum">
              <a:rPr lang="en-US" smtClean="0"/>
              <a:t>15</a:t>
            </a:fld>
            <a:endParaRPr lang="en-US"/>
          </a:p>
        </p:txBody>
      </p:sp>
      <p:sp>
        <p:nvSpPr>
          <p:cNvPr id="5" name="Notes Placeholder 4"/>
          <p:cNvSpPr>
            <a:spLocks noGrp="1"/>
          </p:cNvSpPr>
          <p:nvPr>
            <p:ph type="body" idx="3" sz="quarter"/>
          </p:nvPr>
        </p:nvSpPr>
        <p:spPr/>
        <p:txBody>
          <a:bodyPr/>
          <a:lstStyle/>
          <a:p/>
        </p:txBody>
      </p:sp>
    </p:spTree>
    <p:extLst>
      <p:ext uri="{BB962C8B-B14F-4D97-AF65-F5344CB8AC3E}">
        <p14:creationId xmlns:p14="http://schemas.microsoft.com/office/powerpoint/2010/main" val="1570257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For production work you’d typically fit a full bivariate random-effects model (REML or Bayesian). This moment approach is intentionally simple for a clean demo.</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
        <p:nvSpPr>
          <p:cNvPr id="5" name="Notes Placeholder 4"/>
          <p:cNvSpPr>
            <a:spLocks noGrp="1"/>
          </p:cNvSpPr>
          <p:nvPr>
            <p:ph type="body" idx="3" sz="quarter"/>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plot is what decision-makers usually want: a quantitative map from current PFS readout to probability of final OS success.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
        <p:nvSpPr>
          <p:cNvPr id="5" name="Notes Placeholder 4"/>
          <p:cNvSpPr>
            <a:spLocks noGrp="1"/>
          </p:cNvSpPr>
          <p:nvPr>
            <p:ph type="body" idx="3" sz="quarter"/>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For an internal share, you can end with a clear checklist: what you need to collect from historical trials and what assumptions drive sensitivity.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
        <p:nvSpPr>
          <p:cNvPr id="5" name="Notes Placeholder 4"/>
          <p:cNvSpPr>
            <a:spLocks noGrp="1"/>
          </p:cNvSpPr>
          <p:nvPr>
            <p:ph type="body" idx="3" sz="quarter"/>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context: forecast final OS success using early PFS evidence plus historical ICB patterns.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key quantities (OS/PFS effects on log(HR), μ, Σ) learned from historical trials.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inputs vs outputs: condition on current PFS and its SE, and predict the final OS estimate and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 integrates over uncertainty in the true OS effect—so it’s a probability about the future, not just power.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Mechanics: PoS is driven by (i) how far the mean is from the threshold and (ii) how much uncertainty remains.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Equivalent view: PoS is the posterior predictive probability that the final OS estimate crosses the success threshold.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 the surrogate setting: use the learned OS–PFS relationship to translate current PFS into an OS forecast.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line: once we have m_post and total variance, PoS is a single normal-CDF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evidence comes from the interim PFS estimate y_c and its SE; final precision comes from planned OS events (se_*).</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data-generating ‘true’ hyperparameters: baseline means, between-study SDs, and OS–PFS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Observation model: observed trial effects = true effects + within-study noise determined by SEs (and covariance if assumed).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Plug in the current trial’s PFS, compute m_post and v_post, then PoS at the planned final OS precision.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check: the historical scatter shows the cross-endpoint trend that determines how PFS updates the OS forecast.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Sensitivity to ρ: stronger PFS–OS association makes the PoS curve respond more sharply to the same PFS signal.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Event-count sensitivity: more OS events reduce se_*, tighten the forecast, and typically increase PoS.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Takeaways: PoS increases with stronger PFS and more OS information, and decreases with higher heterogeneity.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2/1/26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0.png"/><Relationship Id="rId3"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0.png"/><Relationship Id="rId3"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image" Target="../media/image19.png"/><Relationship Id="rId4"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7019"/>
            <a:ext cx="9143998" cy="3280596"/>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31539" y="-2948881"/>
            <a:ext cx="3280918"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2522" y="-2777901"/>
            <a:ext cx="3280596"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17017"/>
            <a:ext cx="6406863" cy="3280594"/>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774039"/>
            <a:ext cx="3742610" cy="3329347"/>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551329"/>
            <a:ext cx="7540322" cy="2196353"/>
          </a:xfrm>
        </p:spPr>
        <p:txBody>
          <a:bodyPr anchor="b">
            <a:normAutofit/>
          </a:bodyPr>
          <a:lstStyle/>
          <a:p>
            <a:pPr marL="0" lvl="0" indent="0" algn="l">
              <a:buNone/>
            </a:pPr>
            <a:r>
              <a:rPr lang="en-US" sz="3600">
                <a:solidFill>
                  <a:srgbClr val="FFFFFF"/>
                </a:solidFill>
              </a:rPr>
              <a:t>Predictive Probability of Success (PoS)</a:t>
            </a:r>
          </a:p>
        </p:txBody>
      </p:sp>
      <p:sp>
        <p:nvSpPr>
          <p:cNvPr id="3" name="Subtitle 2"/>
          <p:cNvSpPr>
            <a:spLocks noGrp="1"/>
          </p:cNvSpPr>
          <p:nvPr>
            <p:ph type="subTitle" idx="1"/>
          </p:nvPr>
        </p:nvSpPr>
        <p:spPr>
          <a:xfrm>
            <a:off x="1013011" y="3653118"/>
            <a:ext cx="7504463" cy="1093693"/>
          </a:xfrm>
        </p:spPr>
        <p:txBody>
          <a:bodyPr anchor="ctr">
            <a:normAutofit/>
          </a:bodyPr>
          <a:lstStyle/>
          <a:p>
            <a:pPr marL="0" lvl="0" indent="0" algn="l">
              <a:lnSpc>
                <a:spcPct val="90000"/>
              </a:lnSpc>
              <a:buNone/>
            </a:pPr>
            <a:r>
              <a:rPr lang="en-US" sz="2200"/>
              <a:t>Virtual ICB case study: Using PFS to predict OS (log(HR), p&lt;0.05)</a:t>
            </a:r>
            <a:br>
              <a:rPr lang="en-US" sz="2200"/>
            </a:br>
            <a:br>
              <a:rPr lang="en-US" sz="2200"/>
            </a:br>
            <a:r>
              <a:rPr lang="en-US" sz="2200"/>
              <a:t>Jinjie Chen</a:t>
            </a:r>
          </a:p>
        </p:txBody>
      </p:sp>
      <p:sp>
        <p:nvSpPr>
          <p:cNvPr id="4" name="Date Placeholder 3"/>
          <p:cNvSpPr>
            <a:spLocks noGrp="1"/>
          </p:cNvSpPr>
          <p:nvPr>
            <p:ph type="dt" sz="half" idx="10"/>
          </p:nvPr>
        </p:nvSpPr>
        <p:spPr>
          <a:xfrm>
            <a:off x="6727698" y="4835127"/>
            <a:ext cx="2057400" cy="273844"/>
          </a:xfrm>
        </p:spPr>
        <p:txBody>
          <a:bodyPr>
            <a:normAutofit/>
          </a:bodyPr>
          <a:lstStyle/>
          <a:p>
            <a:pPr marL="0" lvl="0" indent="0" algn="r">
              <a:spcAft>
                <a:spcPts val="600"/>
              </a:spcAft>
              <a:buNone/>
            </a:pPr>
            <a:r>
              <a:rPr lang="en-US" sz="800">
                <a:solidFill>
                  <a:schemeClr val="tx1">
                    <a:lumMod val="50000"/>
                    <a:lumOff val="50000"/>
                  </a:schemeClr>
                </a:solidFill>
              </a:rPr>
              <a:t>2026-01-07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192024"/>
            <a:ext cx="7879842" cy="761238"/>
          </a:xfrm>
        </p:spPr>
        <p:txBody>
          <a:bodyPr anchor="b">
            <a:normAutofit/>
          </a:bodyPr>
          <a:lstStyle/>
          <a:p>
            <a:pPr marL="0" lvl="0" indent="0">
              <a:lnSpc>
                <a:spcPct val="90000"/>
              </a:lnSpc>
              <a:buNone/>
            </a:pPr>
            <a:r>
              <a:rPr lang="en-US" sz="2800" dirty="0"/>
              <a:t>Background: why </a:t>
            </a:r>
            <a:r>
              <a:rPr lang="en-US" sz="2800" dirty="0" err="1"/>
              <a:t>PoS</a:t>
            </a:r>
            <a:r>
              <a:rPr lang="en-US" sz="2800" dirty="0"/>
              <a:t> (not only power)</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225876"/>
            <a:ext cx="7838694"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153632"/>
            <a:ext cx="1405092" cy="82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13E9F33-DB03-1108-4920-EA77822289DB}"/>
              </a:ext>
            </a:extLst>
          </p:cNvPr>
          <p:cNvGraphicFramePr>
            <a:graphicFrameLocks noGrp="1"/>
          </p:cNvGraphicFramePr>
          <p:nvPr>
            <p:ph idx="1"/>
            <p:extLst>
              <p:ext uri="{D42A27DB-BD31-4B8C-83A1-F6EECF244321}">
                <p14:modId xmlns:p14="http://schemas.microsoft.com/office/powerpoint/2010/main" val="2393921795"/>
              </p:ext>
            </p:extLst>
          </p:nvPr>
        </p:nvGraphicFramePr>
        <p:xfrm>
          <a:off x="628650" y="1444699"/>
          <a:ext cx="7886700" cy="3268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a:solidFill>
                  <a:srgbClr val="FFFFFF"/>
                </a:solidFill>
              </a:rPr>
              <a:t>Core objects and notation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28699" y="1738647"/>
                <a:ext cx="7293023" cy="2762519"/>
              </a:xfrm>
            </p:spPr>
            <p:txBody>
              <a:bodyPr anchor="ctr">
                <a:normAutofit lnSpcReduction="10000"/>
              </a:bodyPr>
              <a:lstStyle/>
              <a:p>
                <a:pPr marL="0" lvl="0" indent="0">
                  <a:buNone/>
                </a:pPr>
                <a:r>
                  <a:rPr lang="en-US" sz="1500" dirty="0"/>
                  <a:t>Let </a:t>
                </a:r>
                <a14:m>
                  <m:oMath xmlns:m="http://schemas.openxmlformats.org/officeDocument/2006/math">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oMath>
                </a14:m>
                <a:r>
                  <a:rPr lang="ar-AE" sz="1500" dirty="0"/>
                  <a:t> </a:t>
                </a:r>
                <a:r>
                  <a:rPr lang="en-US" sz="1500" dirty="0"/>
                  <a:t>denote the test statistic or effect estimate from the </a:t>
                </a:r>
                <a:r>
                  <a:rPr lang="en-US" sz="1500" i="1" dirty="0"/>
                  <a:t>future</a:t>
                </a:r>
                <a:r>
                  <a:rPr lang="en-US" sz="1500" dirty="0"/>
                  <a:t> (or not-yet-mature) analysis; let </a:t>
                </a:r>
                <a14:m>
                  <m:oMath xmlns:m="http://schemas.openxmlformats.org/officeDocument/2006/math">
                    <m:r>
                      <a:rPr lang="en-US" sz="1500">
                        <a:latin typeface="Cambria Math" panose="02040503050406030204" pitchFamily="18" charset="0"/>
                      </a:rPr>
                      <m:t>𝑅</m:t>
                    </m:r>
                  </m:oMath>
                </a14:m>
                <a:r>
                  <a:rPr lang="en-US" sz="1500" dirty="0"/>
                  <a:t> be the </a:t>
                </a:r>
                <a:r>
                  <a:rPr lang="en-US" sz="1500" b="1" dirty="0"/>
                  <a:t>success region</a:t>
                </a:r>
                <a:r>
                  <a:rPr lang="en-US" sz="1500" dirty="0"/>
                  <a:t> defined by the protocol.</a:t>
                </a:r>
              </a:p>
              <a:p>
                <a:pPr marL="0" lvl="0" indent="0">
                  <a:buNone/>
                </a:pPr>
                <a:r>
                  <a:rPr lang="en-US" sz="1500" dirty="0"/>
                  <a:t>Examples of </a:t>
                </a:r>
                <a14:m>
                  <m:oMath xmlns:m="http://schemas.openxmlformats.org/officeDocument/2006/math">
                    <m:r>
                      <a:rPr lang="en-US" sz="1500">
                        <a:latin typeface="Cambria Math" panose="02040503050406030204" pitchFamily="18" charset="0"/>
                      </a:rPr>
                      <m:t>𝑅</m:t>
                    </m:r>
                  </m:oMath>
                </a14:m>
                <a:r>
                  <a:rPr lang="en-US" sz="1500" dirty="0"/>
                  <a:t>: </a:t>
                </a:r>
              </a:p>
              <a:p>
                <a:pPr marL="0" lvl="0" indent="0">
                  <a:buNone/>
                </a:pPr>
                <a:r>
                  <a:rPr lang="en-US" sz="1500" dirty="0"/>
                  <a:t> - Frequentist: </a:t>
                </a:r>
                <a14:m>
                  <m:oMath xmlns:m="http://schemas.openxmlformats.org/officeDocument/2006/math">
                    <m:r>
                      <a:rPr lang="en-US" sz="1500">
                        <a:latin typeface="Cambria Math" panose="02040503050406030204" pitchFamily="18" charset="0"/>
                      </a:rPr>
                      <m:t>𝑝</m:t>
                    </m:r>
                    <m:r>
                      <a:rPr lang="en-US" sz="1500">
                        <a:latin typeface="Cambria Math" panose="02040503050406030204" pitchFamily="18" charset="0"/>
                      </a:rPr>
                      <m:t>&lt;0.05</m:t>
                    </m:r>
                  </m:oMath>
                </a14:m>
                <a:r>
                  <a:rPr lang="en-US" sz="1500" dirty="0"/>
                  <a:t> (two-sided) and effect in the favorable direction</a:t>
                </a:r>
                <a:br>
                  <a:rPr lang="en-US" sz="1500" dirty="0"/>
                </a:br>
                <a:r>
                  <a:rPr lang="en-US" sz="1500" dirty="0"/>
                  <a:t> - Bayesian: </a:t>
                </a:r>
                <a14:m>
                  <m:oMath xmlns:m="http://schemas.openxmlformats.org/officeDocument/2006/math">
                    <m:r>
                      <m:rPr>
                        <m:sty m:val="p"/>
                      </m:rPr>
                      <a:rPr lang="en-US" sz="1500">
                        <a:latin typeface="Cambria Math" panose="02040503050406030204" pitchFamily="18" charset="0"/>
                      </a:rPr>
                      <m:t>Pr</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&lt;0∣</m:t>
                        </m:r>
                        <m:r>
                          <m:rPr>
                            <m:nor/>
                          </m:rPr>
                          <a:rPr lang="en-US" sz="1500"/>
                          <m:t>data</m:t>
                        </m:r>
                      </m:e>
                    </m:d>
                    <m:r>
                      <a:rPr lang="ar-AE" sz="1500">
                        <a:latin typeface="Cambria Math" panose="02040503050406030204" pitchFamily="18" charset="0"/>
                      </a:rPr>
                      <m:t>&gt;0.95</m:t>
                    </m:r>
                  </m:oMath>
                </a14:m>
                <a:endParaRPr lang="en-US" sz="1500" dirty="0"/>
              </a:p>
              <a:p>
                <a:pPr marL="0" lvl="0" indent="0">
                  <a:buNone/>
                </a:pPr>
                <a:r>
                  <a:rPr lang="en-US" sz="1500" dirty="0"/>
                  <a:t> - Clinical: lower CI bound exceeds a clinically meaningful threshold</a:t>
                </a:r>
              </a:p>
              <a:p>
                <a:pPr marL="0" lvl="0" indent="0">
                  <a:buNone/>
                </a:pPr>
                <a:r>
                  <a:rPr lang="en-US" sz="1500" dirty="0"/>
                  <a:t>Assume the primary endpoint is </a:t>
                </a:r>
                <a:r>
                  <a:rPr lang="en-US" sz="1500" b="1" dirty="0"/>
                  <a:t>overall survival (OS)</a:t>
                </a:r>
                <a:r>
                  <a:rPr lang="en-US" sz="1500" dirty="0"/>
                  <a:t> and the analysis is based on the </a:t>
                </a:r>
                <a:r>
                  <a:rPr lang="en-US" sz="1500" b="1" dirty="0"/>
                  <a:t>log(HR)</a:t>
                </a:r>
                <a:r>
                  <a:rPr lang="en-US" sz="1500" dirty="0"/>
                  <a:t>.</a:t>
                </a:r>
              </a:p>
              <a:p>
                <a:pPr marL="0" lvl="0" indent="0">
                  <a:buNone/>
                </a:pPr>
                <a:r>
                  <a:rPr lang="en-US" sz="1500" b="1" dirty="0"/>
                  <a:t>True treatment effect (parameter)</a:t>
                </a:r>
              </a:p>
              <a:p>
                <a:pPr marL="0" lvl="0" indent="0">
                  <a:buNone/>
                </a:pPr>
                <a14:m>
                  <m:oMathPara xmlns:m="http://schemas.openxmlformats.org/officeDocument/2006/math">
                    <m:oMathParaPr>
                      <m:jc m:val="center"/>
                    </m:oMathParaPr>
                    <m:oMath xmlns:m="http://schemas.openxmlformats.org/officeDocument/2006/math">
                      <m:r>
                        <a:rPr lang="en-US" sz="1500">
                          <a:latin typeface="Cambria Math" panose="02040503050406030204" pitchFamily="18" charset="0"/>
                        </a:rPr>
                        <m:t>𝜃</m:t>
                      </m:r>
                      <m:r>
                        <a:rPr lang="en-US"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𝜃</m:t>
                          </m:r>
                        </m:e>
                        <m:sub>
                          <m:r>
                            <a:rPr lang="ar-AE" sz="1500">
                              <a:latin typeface="Cambria Math" panose="02040503050406030204" pitchFamily="18" charset="0"/>
                            </a:rPr>
                            <m:t>𝑂𝑆</m:t>
                          </m:r>
                        </m:sub>
                      </m:sSub>
                      <m:r>
                        <a:rPr lang="ar-AE" sz="1500">
                          <a:latin typeface="Cambria Math" panose="02040503050406030204" pitchFamily="18" charset="0"/>
                        </a:rPr>
                        <m:t>=</m:t>
                      </m:r>
                      <m:r>
                        <m:rPr>
                          <m:sty m:val="p"/>
                        </m:rPr>
                        <a:rPr lang="en-US" sz="1500">
                          <a:latin typeface="Cambria Math" panose="02040503050406030204" pitchFamily="18" charset="0"/>
                        </a:rPr>
                        <m:t>log</m:t>
                      </m:r>
                      <m:d>
                        <m:dPr>
                          <m:ctrlPr>
                            <a:rPr lang="ar-AE" sz="1500" i="1">
                              <a:latin typeface="Cambria Math" panose="02040503050406030204" pitchFamily="18" charset="0"/>
                            </a:rPr>
                          </m:ctrlPr>
                        </m:dPr>
                        <m:e>
                          <m:r>
                            <a:rPr lang="ar-AE" sz="1500">
                              <a:latin typeface="Cambria Math" panose="02040503050406030204" pitchFamily="18" charset="0"/>
                            </a:rPr>
                            <m:t>𝐻</m:t>
                          </m:r>
                          <m:sSub>
                            <m:sSubPr>
                              <m:ctrlPr>
                                <a:rPr lang="ar-AE" sz="1500" i="1">
                                  <a:latin typeface="Cambria Math" panose="02040503050406030204" pitchFamily="18" charset="0"/>
                                </a:rPr>
                              </m:ctrlPr>
                            </m:sSubPr>
                            <m:e>
                              <m:r>
                                <a:rPr lang="ar-AE" sz="1500">
                                  <a:latin typeface="Cambria Math" panose="02040503050406030204" pitchFamily="18" charset="0"/>
                                </a:rPr>
                                <m:t>𝑅</m:t>
                              </m:r>
                            </m:e>
                            <m:sub>
                              <m:r>
                                <a:rPr lang="ar-AE" sz="1500">
                                  <a:latin typeface="Cambria Math" panose="02040503050406030204" pitchFamily="18" charset="0"/>
                                </a:rPr>
                                <m:t>𝑂𝑆</m:t>
                              </m:r>
                            </m:sub>
                          </m:sSub>
                        </m:e>
                      </m:d>
                    </m:oMath>
                  </m:oMathPara>
                </a14:m>
                <a:endParaRPr lang="ar-AE" sz="1500" b="1" dirty="0"/>
              </a:p>
              <a:p>
                <a:pPr marL="0" lvl="0" indent="0">
                  <a:buNone/>
                </a:pPr>
                <a:r>
                  <a:rPr lang="en-US" sz="1500" dirty="0"/>
                  <a:t>This is the </a:t>
                </a:r>
                <a:r>
                  <a:rPr lang="en-US" sz="1500" i="1" dirty="0"/>
                  <a:t>latent</a:t>
                </a:r>
                <a:r>
                  <a:rPr lang="en-US" sz="1500" dirty="0"/>
                  <a:t> (unobserved) “true” log(HR) in the target population.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b="-913"/>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Core objects and notation - continued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40000" lnSpcReduction="20000"/>
              </a:bodyPr>
              <a:lstStyle/>
              <a:p>
                <a:pPr marL="0" lvl="0" indent="0">
                  <a:buNone/>
                </a:pPr>
                <a:r>
                  <a:rPr lang="en-US" b="1" dirty="0"/>
                  <a:t>Future effect estimate / test statistic (random variable)</a:t>
                </a:r>
                <a:r>
                  <a:rPr lang="en-US" dirty="0"/>
                  <a:t>:</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m:t>
                      </m:r>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a:latin typeface="Cambria Math" panose="02040503050406030204" pitchFamily="18" charset="0"/>
                                </a:rPr>
                                <m:t>𝜃</m:t>
                              </m:r>
                            </m:e>
                          </m:acc>
                        </m:e>
                        <m:sub>
                          <m:r>
                            <a:rPr lang="ar-AE">
                              <a:latin typeface="Cambria Math" panose="02040503050406030204" pitchFamily="18" charset="0"/>
                            </a:rPr>
                            <m:t>𝑂𝑆</m:t>
                          </m:r>
                        </m:sub>
                        <m:sup>
                          <m:r>
                            <a:rPr lang="ar-AE">
                              <a:latin typeface="Cambria Math" panose="02040503050406030204" pitchFamily="18" charset="0"/>
                            </a:rPr>
                            <m:t> ∗</m:t>
                          </m:r>
                        </m:sup>
                      </m:sSubSup>
                      <m:r>
                        <a:rPr lang="ar-AE">
                          <a:latin typeface="Cambria Math" panose="02040503050406030204" pitchFamily="18" charset="0"/>
                        </a:rPr>
                        <m:t>=</m:t>
                      </m:r>
                      <m:acc>
                        <m:accPr>
                          <m:chr m:val="̂"/>
                          <m:ctrlPr>
                            <a:rPr lang="ar-AE" i="1">
                              <a:latin typeface="Cambria Math" panose="02040503050406030204" pitchFamily="18" charset="0"/>
                            </a:rPr>
                          </m:ctrlPr>
                        </m:accPr>
                        <m:e>
                          <m:r>
                            <m:rPr>
                              <m:sty m:val="p"/>
                            </m:rPr>
                            <a:rPr lang="en-US">
                              <a:latin typeface="Cambria Math" panose="02040503050406030204" pitchFamily="18" charset="0"/>
                            </a:rPr>
                            <m:t>log</m:t>
                          </m:r>
                          <m:d>
                            <m:dPr>
                              <m:ctrlPr>
                                <a:rPr lang="ar-AE" i="1">
                                  <a:latin typeface="Cambria Math" panose="02040503050406030204" pitchFamily="18" charset="0"/>
                                </a:rPr>
                              </m:ctrlPr>
                            </m:dPr>
                            <m:e>
                              <m:r>
                                <a:rPr lang="ar-AE">
                                  <a:latin typeface="Cambria Math" panose="02040503050406030204" pitchFamily="18" charset="0"/>
                                </a:rPr>
                                <m:t>𝐻</m:t>
                              </m:r>
                              <m:sSub>
                                <m:sSubPr>
                                  <m:ctrlPr>
                                    <a:rPr lang="ar-AE" i="1">
                                      <a:latin typeface="Cambria Math" panose="02040503050406030204" pitchFamily="18" charset="0"/>
                                    </a:rPr>
                                  </m:ctrlPr>
                                </m:sSubPr>
                                <m:e>
                                  <m:r>
                                    <a:rPr lang="ar-AE">
                                      <a:latin typeface="Cambria Math" panose="02040503050406030204" pitchFamily="18" charset="0"/>
                                    </a:rPr>
                                    <m:t>𝑅</m:t>
                                  </m:r>
                                </m:e>
                                <m:sub>
                                  <m:r>
                                    <a:rPr lang="ar-AE">
                                      <a:latin typeface="Cambria Math" panose="02040503050406030204" pitchFamily="18" charset="0"/>
                                    </a:rPr>
                                    <m:t>𝑂𝑆</m:t>
                                  </m:r>
                                </m:sub>
                              </m:sSub>
                            </m:e>
                          </m:d>
                        </m:e>
                      </m:acc>
                      <m:r>
                        <a:rPr lang="ar-AE">
                          <a:latin typeface="Cambria Math" panose="02040503050406030204" pitchFamily="18" charset="0"/>
                        </a:rPr>
                        <m:t> </m:t>
                      </m:r>
                      <m:r>
                        <m:rPr>
                          <m:nor/>
                        </m:rPr>
                        <a:rPr lang="en-US"/>
                        <m:t>from</m:t>
                      </m:r>
                      <m:r>
                        <m:rPr>
                          <m:nor/>
                        </m:rPr>
                        <a:rPr lang="en-US"/>
                        <m:t> </m:t>
                      </m:r>
                      <m:r>
                        <m:rPr>
                          <m:nor/>
                        </m:rPr>
                        <a:rPr lang="en-US"/>
                        <m:t>the</m:t>
                      </m:r>
                      <m:r>
                        <m:rPr>
                          <m:nor/>
                        </m:rPr>
                        <a:rPr lang="en-US"/>
                        <m:t> </m:t>
                      </m:r>
                      <m:r>
                        <m:rPr>
                          <m:nor/>
                        </m:rPr>
                        <a:rPr lang="en-US"/>
                        <m:t>future</m:t>
                      </m:r>
                      <m:r>
                        <m:rPr>
                          <m:nor/>
                        </m:rPr>
                        <a:rPr lang="en-US"/>
                        <m:t>/</m:t>
                      </m:r>
                      <m:r>
                        <m:rPr>
                          <m:nor/>
                        </m:rPr>
                        <a:rPr lang="en-US"/>
                        <m:t>final</m:t>
                      </m:r>
                      <m:r>
                        <m:rPr>
                          <m:nor/>
                        </m:rPr>
                        <a:rPr lang="en-US"/>
                        <m:t> </m:t>
                      </m:r>
                      <m:r>
                        <m:rPr>
                          <m:nor/>
                        </m:rPr>
                        <a:rPr lang="en-US"/>
                        <m:t>OS</m:t>
                      </m:r>
                      <m:r>
                        <m:rPr>
                          <m:nor/>
                        </m:rPr>
                        <a:rPr lang="en-US"/>
                        <m:t> </m:t>
                      </m:r>
                      <m:r>
                        <m:rPr>
                          <m:nor/>
                        </m:rPr>
                        <a:rPr lang="en-US"/>
                        <m:t>analysis</m:t>
                      </m:r>
                    </m:oMath>
                  </m:oMathPara>
                </a14:m>
                <a:endParaRPr lang="en-US" dirty="0"/>
              </a:p>
              <a:p>
                <a:pPr marL="0" lvl="0" indent="0">
                  <a:buNone/>
                </a:pPr>
                <a:br>
                  <a:rPr lang="en-US" dirty="0"/>
                </a:br>
                <a:r>
                  <a:rPr lang="en-US" dirty="0"/>
                  <a:t>Even if </a:t>
                </a:r>
                <a14:m>
                  <m:oMath xmlns:m="http://schemas.openxmlformats.org/officeDocument/2006/math">
                    <m:r>
                      <a:rPr lang="en-US">
                        <a:latin typeface="Cambria Math" panose="02040503050406030204" pitchFamily="18" charset="0"/>
                      </a:rPr>
                      <m:t>𝜃</m:t>
                    </m:r>
                  </m:oMath>
                </a14:m>
                <a:r>
                  <a:rPr lang="en-US" dirty="0"/>
                  <a:t> is fixed,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oMath>
                </a14:m>
                <a:r>
                  <a:rPr lang="ar-AE" dirty="0"/>
                  <a:t> </a:t>
                </a:r>
                <a:r>
                  <a:rPr lang="en-US" dirty="0"/>
                  <a:t>varies due to sampling variability.</a:t>
                </a:r>
              </a:p>
              <a:p>
                <a:pPr marL="0" lvl="0" indent="0">
                  <a:buNone/>
                </a:pPr>
                <a:r>
                  <a:rPr lang="en-US" b="1" dirty="0"/>
                  <a:t>Sampling variance (information-driven)</a:t>
                </a:r>
                <a:r>
                  <a:rPr lang="en-US" dirty="0"/>
                  <a:t>:</a:t>
                </a:r>
              </a:p>
              <a:p>
                <a:pPr marL="0" lvl="0" indent="0">
                  <a:buNone/>
                </a:pPr>
                <a14:m>
                  <m:oMathPara xmlns:m="http://schemas.openxmlformats.org/officeDocument/2006/math">
                    <m:oMathParaPr>
                      <m:jc m:val="center"/>
                    </m:oMathParaPr>
                    <m:oMath xmlns:m="http://schemas.openxmlformats.org/officeDocument/2006/math">
                      <m:r>
                        <m:rPr>
                          <m:sty m:val="p"/>
                        </m:rPr>
                        <a:rPr lang="en-US">
                          <a:latin typeface="Cambria Math" panose="02040503050406030204" pitchFamily="18" charset="0"/>
                        </a:rPr>
                        <m:t>Var</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m:t>
                          </m:r>
                          <m:r>
                            <a:rPr lang="ar-AE">
                              <a:latin typeface="Cambria Math" panose="02040503050406030204" pitchFamily="18" charset="0"/>
                            </a:rPr>
                            <m:t>𝜃</m:t>
                          </m:r>
                        </m:e>
                      </m:d>
                      <m:r>
                        <a:rPr lang="ar-AE">
                          <a:latin typeface="Cambria Math" panose="02040503050406030204" pitchFamily="18" charset="0"/>
                        </a:rPr>
                        <m:t>=</m:t>
                      </m:r>
                      <m:sSubSup>
                        <m:sSubSupPr>
                          <m:ctrlPr>
                            <a:rPr lang="ar-AE" i="1">
                              <a:latin typeface="Cambria Math" panose="02040503050406030204" pitchFamily="18" charset="0"/>
                            </a:rPr>
                          </m:ctrlPr>
                        </m:sSubSupPr>
                        <m:e>
                          <m:r>
                            <a:rPr lang="ar-AE">
                              <a:latin typeface="Cambria Math" panose="02040503050406030204" pitchFamily="18" charset="0"/>
                            </a:rPr>
                            <m:t>𝑠</m:t>
                          </m:r>
                        </m:e>
                        <m:sub>
                          <m:r>
                            <a:rPr lang="ar-AE">
                              <a:latin typeface="Cambria Math" panose="02040503050406030204" pitchFamily="18" charset="0"/>
                            </a:rPr>
                            <m:t>∗</m:t>
                          </m:r>
                        </m:sub>
                        <m:sup>
                          <m:r>
                            <a:rPr lang="ar-AE">
                              <a:latin typeface="Cambria Math" panose="02040503050406030204" pitchFamily="18" charset="0"/>
                            </a:rPr>
                            <m:t>2</m:t>
                          </m:r>
                        </m:sup>
                      </m:sSubSup>
                    </m:oMath>
                  </m:oMathPara>
                </a14:m>
                <a:endParaRPr lang="ar-AE" dirty="0"/>
              </a:p>
              <a:p>
                <a:pPr marL="0" lvl="0" indent="0">
                  <a:buNone/>
                </a:pPr>
                <a:br>
                  <a:rPr lang="ar-AE" dirty="0"/>
                </a:br>
                <a:r>
                  <a:rPr lang="en-US" dirty="0"/>
                  <a:t>With Schoenfeld approximation (for log HR), if the final OS analysis has </a:t>
                </a:r>
                <a14:m>
                  <m:oMath xmlns:m="http://schemas.openxmlformats.org/officeDocument/2006/math">
                    <m:r>
                      <a:rPr lang="en-US">
                        <a:latin typeface="Cambria Math" panose="02040503050406030204" pitchFamily="18" charset="0"/>
                      </a:rPr>
                      <m:t>𝑑</m:t>
                    </m:r>
                  </m:oMath>
                </a14:m>
                <a:r>
                  <a:rPr lang="en-US" dirty="0"/>
                  <a:t> events:</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2</m:t>
                          </m:r>
                        </m:num>
                        <m:den>
                          <m:rad>
                            <m:radPr>
                              <m:degHide m:val="on"/>
                              <m:ctrlPr>
                                <a:rPr lang="ar-AE" i="1">
                                  <a:latin typeface="Cambria Math" panose="02040503050406030204" pitchFamily="18" charset="0"/>
                                </a:rPr>
                              </m:ctrlPr>
                            </m:radPr>
                            <m:deg/>
                            <m:e>
                              <m:r>
                                <a:rPr lang="ar-AE">
                                  <a:latin typeface="Cambria Math" panose="02040503050406030204" pitchFamily="18" charset="0"/>
                                </a:rPr>
                                <m:t>𝑑</m:t>
                              </m:r>
                            </m:e>
                          </m:rad>
                        </m:den>
                      </m:f>
                      <m:r>
                        <a:rPr lang="ar-AE">
                          <a:latin typeface="Cambria Math" panose="02040503050406030204" pitchFamily="18" charset="0"/>
                        </a:rPr>
                        <m:t>,  </m:t>
                      </m:r>
                      <m:sSubSup>
                        <m:sSubSupPr>
                          <m:ctrlPr>
                            <a:rPr lang="ar-AE" i="1">
                              <a:latin typeface="Cambria Math" panose="02040503050406030204" pitchFamily="18" charset="0"/>
                            </a:rPr>
                          </m:ctrlPr>
                        </m:sSubSupPr>
                        <m:e>
                          <m:r>
                            <a:rPr lang="ar-AE">
                              <a:latin typeface="Cambria Math" panose="02040503050406030204" pitchFamily="18" charset="0"/>
                            </a:rPr>
                            <m:t>𝑠</m:t>
                          </m:r>
                        </m:e>
                        <m:sub>
                          <m:r>
                            <a:rPr lang="ar-AE">
                              <a:latin typeface="Cambria Math" panose="02040503050406030204" pitchFamily="18" charset="0"/>
                            </a:rPr>
                            <m:t>∗</m:t>
                          </m:r>
                        </m:sub>
                        <m:sup>
                          <m:r>
                            <a:rPr lang="ar-AE">
                              <a:latin typeface="Cambria Math" panose="02040503050406030204" pitchFamily="18" charset="0"/>
                            </a:rPr>
                            <m:t>2</m:t>
                          </m:r>
                        </m:sup>
                      </m:sSubSup>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4</m:t>
                          </m:r>
                        </m:num>
                        <m:den>
                          <m:r>
                            <a:rPr lang="ar-AE">
                              <a:latin typeface="Cambria Math" panose="02040503050406030204" pitchFamily="18" charset="0"/>
                            </a:rPr>
                            <m:t>𝑑</m:t>
                          </m:r>
                        </m:den>
                      </m:f>
                    </m:oMath>
                  </m:oMathPara>
                </a14:m>
                <a:endParaRPr lang="ar-AE" dirty="0"/>
              </a:p>
              <a:p>
                <a:pPr marL="0" lvl="0" indent="0">
                  <a:buNone/>
                </a:pPr>
                <a:r>
                  <a:rPr lang="en-US" b="1" dirty="0"/>
                  <a:t>Success region (</a:t>
                </a:r>
                <a14:m>
                  <m:oMath xmlns:m="http://schemas.openxmlformats.org/officeDocument/2006/math">
                    <m:r>
                      <a:rPr lang="en-US">
                        <a:latin typeface="Cambria Math" panose="02040503050406030204" pitchFamily="18" charset="0"/>
                      </a:rPr>
                      <m:t>𝑅</m:t>
                    </m:r>
                  </m:oMath>
                </a14:m>
                <a:r>
                  <a:rPr lang="en-US" dirty="0"/>
                  <a:t>) from the protocol (one-sided </a:t>
                </a:r>
                <a14:m>
                  <m:oMath xmlns:m="http://schemas.openxmlformats.org/officeDocument/2006/math">
                    <m:r>
                      <a:rPr lang="en-US">
                        <a:latin typeface="Cambria Math" panose="02040503050406030204" pitchFamily="18" charset="0"/>
                      </a:rPr>
                      <m:t>𝛼</m:t>
                    </m:r>
                    <m:r>
                      <a:rPr lang="en-US">
                        <a:latin typeface="Cambria Math" panose="02040503050406030204" pitchFamily="18" charset="0"/>
                      </a:rPr>
                      <m:t>=0.025</m:t>
                    </m:r>
                  </m:oMath>
                </a14:m>
                <a:r>
                  <a:rPr lang="en-US" dirty="0"/>
                  <a:t>):</a:t>
                </a:r>
                <a:br>
                  <a:rPr lang="en-US" dirty="0"/>
                </a:br>
                <a:r>
                  <a:rPr lang="en-US" dirty="0"/>
                  <a:t>Reject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𝐻</m:t>
                        </m:r>
                      </m:e>
                      <m:sub>
                        <m:r>
                          <a:rPr lang="ar-AE">
                            <a:latin typeface="Cambria Math" panose="02040503050406030204" pitchFamily="18" charset="0"/>
                          </a:rPr>
                          <m:t>0</m:t>
                        </m:r>
                      </m:sub>
                    </m:sSub>
                    <m:r>
                      <a:rPr lang="ar-AE">
                        <a:latin typeface="Cambria Math" panose="02040503050406030204" pitchFamily="18" charset="0"/>
                      </a:rPr>
                      <m:t>:</m:t>
                    </m:r>
                    <m:r>
                      <a:rPr lang="ar-AE">
                        <a:latin typeface="Cambria Math" panose="02040503050406030204" pitchFamily="18" charset="0"/>
                      </a:rPr>
                      <m:t>𝜃</m:t>
                    </m:r>
                    <m:r>
                      <a:rPr lang="ar-AE">
                        <a:latin typeface="Cambria Math" panose="02040503050406030204" pitchFamily="18" charset="0"/>
                      </a:rPr>
                      <m:t>≥0</m:t>
                    </m:r>
                  </m:oMath>
                </a14:m>
                <a:r>
                  <a:rPr lang="ar-AE" dirty="0"/>
                  <a:t> </a:t>
                </a:r>
                <a:r>
                  <a:rPr lang="en-US" dirty="0"/>
                  <a:t>if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&lt;</m:t>
                    </m:r>
                    <m:r>
                      <a:rPr lang="ar-AE">
                        <a:latin typeface="Cambria Math" panose="02040503050406030204" pitchFamily="18" charset="0"/>
                      </a:rPr>
                      <m:t>𝑐</m:t>
                    </m:r>
                  </m:oMath>
                </a14:m>
                <a:r>
                  <a:rPr lang="ar-AE" dirty="0"/>
                  <a:t>, </a:t>
                </a:r>
                <a:r>
                  <a:rPr lang="en-US" dirty="0"/>
                  <a:t>where</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𝑐</m:t>
                      </m:r>
                      <m:r>
                        <a:rPr lang="en-US">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𝑧</m:t>
                          </m:r>
                        </m:e>
                        <m:sub>
                          <m:r>
                            <a:rPr lang="ar-AE">
                              <a:latin typeface="Cambria Math" panose="02040503050406030204" pitchFamily="18" charset="0"/>
                            </a:rPr>
                            <m:t>0.975</m:t>
                          </m:r>
                        </m:sub>
                      </m:sSub>
                      <m:r>
                        <a:rPr lang="ar-AE">
                          <a:latin typeface="Cambria Math" panose="02040503050406030204" pitchFamily="18" charset="0"/>
                        </a:rPr>
                        <m:t> </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oMath>
                  </m:oMathPara>
                </a14:m>
                <a:endParaRPr lang="ar-AE" dirty="0"/>
              </a:p>
              <a:p>
                <a:pPr marL="0" lvl="0" indent="0">
                  <a:buNone/>
                </a:pPr>
                <a:br>
                  <a:rPr lang="ar-AE" dirty="0"/>
                </a:br>
                <a:r>
                  <a:rPr lang="en-US" dirty="0"/>
                  <a:t>Example: if </a:t>
                </a:r>
                <a14:m>
                  <m:oMath xmlns:m="http://schemas.openxmlformats.org/officeDocument/2006/math">
                    <m:r>
                      <a:rPr lang="en-US">
                        <a:latin typeface="Cambria Math" panose="02040503050406030204" pitchFamily="18" charset="0"/>
                      </a:rPr>
                      <m:t>𝑑</m:t>
                    </m:r>
                    <m:r>
                      <a:rPr lang="en-US">
                        <a:latin typeface="Cambria Math" panose="02040503050406030204" pitchFamily="18" charset="0"/>
                      </a:rPr>
                      <m:t>=278</m:t>
                    </m:r>
                  </m:oMath>
                </a14:m>
                <a:r>
                  <a:rPr lang="en-US" dirty="0"/>
                  <a:t>, then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≈2/</m:t>
                    </m:r>
                    <m:rad>
                      <m:radPr>
                        <m:degHide m:val="on"/>
                        <m:ctrlPr>
                          <a:rPr lang="ar-AE" i="1">
                            <a:latin typeface="Cambria Math" panose="02040503050406030204" pitchFamily="18" charset="0"/>
                          </a:rPr>
                        </m:ctrlPr>
                      </m:radPr>
                      <m:deg/>
                      <m:e>
                        <m:r>
                          <a:rPr lang="ar-AE">
                            <a:latin typeface="Cambria Math" panose="02040503050406030204" pitchFamily="18" charset="0"/>
                          </a:rPr>
                          <m:t>2</m:t>
                        </m:r>
                        <m:r>
                          <a:rPr lang="en-US" altLang="zh-CN" b="0" i="1" smtClean="0">
                            <a:latin typeface="Cambria Math" panose="02040503050406030204" pitchFamily="18" charset="0"/>
                          </a:rPr>
                          <m:t>78</m:t>
                        </m:r>
                      </m:e>
                    </m:rad>
                    <m:r>
                      <a:rPr lang="ar-AE">
                        <a:latin typeface="Cambria Math" panose="02040503050406030204" pitchFamily="18" charset="0"/>
                      </a:rPr>
                      <m:t>=0.12</m:t>
                    </m:r>
                    <m:r>
                      <a:rPr lang="en-US" altLang="zh-CN" b="0" i="0" smtClean="0">
                        <a:latin typeface="Cambria Math" panose="02040503050406030204" pitchFamily="18" charset="0"/>
                      </a:rPr>
                      <m:t>0</m:t>
                    </m:r>
                  </m:oMath>
                </a14:m>
                <a:r>
                  <a:rPr lang="ar-AE" dirty="0"/>
                  <a:t> </a:t>
                </a:r>
                <a:r>
                  <a:rPr lang="en-US" dirty="0"/>
                  <a:t>and</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𝑐</m:t>
                      </m:r>
                      <m:r>
                        <a:rPr lang="en-US">
                          <a:latin typeface="Cambria Math" panose="02040503050406030204" pitchFamily="18" charset="0"/>
                        </a:rPr>
                        <m:t>≈−1.96×0.129=−0.235 ⇒</m:t>
                      </m:r>
                      <m:r>
                        <a:rPr lang="en-US">
                          <a:latin typeface="Cambria Math" panose="02040503050406030204" pitchFamily="18" charset="0"/>
                        </a:rPr>
                        <m:t> </m:t>
                      </m:r>
                      <m:r>
                        <a:rPr lang="en-US">
                          <a:latin typeface="Cambria Math" panose="02040503050406030204" pitchFamily="18" charset="0"/>
                        </a:rPr>
                        <m:t>𝐻𝑅</m:t>
                      </m:r>
                      <m:r>
                        <a:rPr lang="en-US">
                          <a:latin typeface="Cambria Math" panose="02040503050406030204" pitchFamily="18" charset="0"/>
                        </a:rPr>
                        <m:t>&lt;</m:t>
                      </m:r>
                      <m:sSup>
                        <m:sSupPr>
                          <m:ctrlPr>
                            <a:rPr lang="ar-AE" i="1">
                              <a:latin typeface="Cambria Math" panose="02040503050406030204" pitchFamily="18" charset="0"/>
                            </a:rPr>
                          </m:ctrlPr>
                        </m:sSupPr>
                        <m:e>
                          <m:r>
                            <a:rPr lang="ar-AE">
                              <a:latin typeface="Cambria Math" panose="02040503050406030204" pitchFamily="18" charset="0"/>
                            </a:rPr>
                            <m:t>𝑒</m:t>
                          </m:r>
                        </m:e>
                        <m:sup>
                          <m:r>
                            <a:rPr lang="ar-AE">
                              <a:latin typeface="Cambria Math" panose="02040503050406030204" pitchFamily="18" charset="0"/>
                            </a:rPr>
                            <m:t>−0.2</m:t>
                          </m:r>
                          <m:r>
                            <a:rPr lang="en-US" altLang="zh-CN" b="0" i="1" smtClean="0">
                              <a:latin typeface="Cambria Math" panose="02040503050406030204" pitchFamily="18" charset="0"/>
                            </a:rPr>
                            <m:t>35</m:t>
                          </m:r>
                        </m:sup>
                      </m:sSup>
                      <m:r>
                        <a:rPr lang="ar-AE">
                          <a:latin typeface="Cambria Math" panose="02040503050406030204" pitchFamily="18" charset="0"/>
                        </a:rPr>
                        <m:t>=0.7</m:t>
                      </m:r>
                      <m:r>
                        <a:rPr lang="en-US" altLang="zh-CN" b="0" i="0" smtClean="0">
                          <a:latin typeface="Cambria Math" panose="02040503050406030204" pitchFamily="18" charset="0"/>
                        </a:rPr>
                        <m:t>9</m:t>
                      </m:r>
                    </m:oMath>
                  </m:oMathPara>
                </a14:m>
                <a:endParaRPr lang="ar-AE" dirty="0"/>
              </a:p>
              <a:p>
                <a:pPr marL="0" lvl="0" indent="0">
                  <a:buNone/>
                </a:pPr>
                <a:r>
                  <a:rPr lang="en-US" dirty="0"/>
                  <a:t>So</a:t>
                </a:r>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𝑅</m:t>
                      </m:r>
                      <m:r>
                        <a:rPr lang="en-US">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&lt;−0.235}  </m:t>
                      </m:r>
                      <m:d>
                        <m:dPr>
                          <m:ctrlPr>
                            <a:rPr lang="ar-AE" i="1">
                              <a:latin typeface="Cambria Math" panose="02040503050406030204" pitchFamily="18" charset="0"/>
                            </a:rPr>
                          </m:ctrlPr>
                        </m:dPr>
                        <m:e>
                          <m:r>
                            <m:rPr>
                              <m:nor/>
                            </m:rPr>
                            <a:rPr lang="en-US"/>
                            <m:t>equivalently</m:t>
                          </m:r>
                          <m:r>
                            <m:rPr>
                              <m:nor/>
                            </m:rPr>
                            <a:rPr lang="en-US"/>
                            <m:t> </m:t>
                          </m:r>
                          <m:acc>
                            <m:accPr>
                              <m:chr m:val="̂"/>
                              <m:ctrlPr>
                                <a:rPr lang="ar-AE" i="1">
                                  <a:latin typeface="Cambria Math" panose="02040503050406030204" pitchFamily="18" charset="0"/>
                                </a:rPr>
                              </m:ctrlPr>
                            </m:accPr>
                            <m:e>
                              <m:r>
                                <a:rPr lang="ar-AE">
                                  <a:latin typeface="Cambria Math" panose="02040503050406030204" pitchFamily="18" charset="0"/>
                                </a:rPr>
                                <m:t>𝐻𝑅</m:t>
                              </m:r>
                            </m:e>
                          </m:acc>
                          <m:r>
                            <a:rPr lang="ar-AE">
                              <a:latin typeface="Cambria Math" panose="02040503050406030204" pitchFamily="18" charset="0"/>
                            </a:rPr>
                            <m:t>&lt;0.7</m:t>
                          </m:r>
                          <m:r>
                            <a:rPr lang="en-US" altLang="zh-CN" b="0" i="1" smtClean="0">
                              <a:latin typeface="Cambria Math" panose="02040503050406030204" pitchFamily="18" charset="0"/>
                            </a:rPr>
                            <m:t>9</m:t>
                          </m:r>
                        </m:e>
                      </m:d>
                      <m:r>
                        <a:rPr lang="ar-AE">
                          <a:latin typeface="Cambria Math" panose="02040503050406030204" pitchFamily="18" charset="0"/>
                        </a:rPr>
                        <m:t>.</m:t>
                      </m:r>
                    </m:oMath>
                  </m:oMathPara>
                </a14:m>
                <a:endParaRP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746"/>
                </a:stretch>
              </a:blipFill>
            </p:spPr>
            <p:txBody>
              <a:bodyPr/>
              <a:lstStyle/>
              <a:p>
                <a:r>
                  <a:rPr 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lnSpc>
                <a:spcPct val="90000"/>
              </a:lnSpc>
              <a:buNone/>
            </a:pPr>
            <a:r>
              <a:rPr lang="en-US" sz="2300">
                <a:solidFill>
                  <a:srgbClr val="FFFFFF"/>
                </a:solidFill>
              </a:rPr>
              <a:t>PoS definition: integral over uncertainty in the true effect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dirty="0"/>
                  <a:t>The building block is the conditional success probability:</a:t>
                </a:r>
              </a:p>
              <a:p>
                <a:pPr marL="0" lvl="0" indent="0">
                  <a:buNone/>
                </a:pPr>
                <a14:m>
                  <m:oMathPara xmlns:m="http://schemas.openxmlformats.org/officeDocument/2006/math">
                    <m:oMathParaPr>
                      <m:jc m:val="center"/>
                    </m:oMathParaPr>
                    <m:oMath xmlns:m="http://schemas.openxmlformats.org/officeDocument/2006/math">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m:t>
                      </m:r>
                    </m:oMath>
                  </m:oMathPara>
                </a14:m>
                <a:endParaRPr lang="ar-AE" sz="1500" dirty="0"/>
              </a:p>
              <a:p>
                <a:pPr marL="0" lvl="0" indent="0">
                  <a:buNone/>
                </a:pPr>
                <a:r>
                  <a:rPr lang="en-US" sz="1500" dirty="0"/>
                  <a:t>Because </a:t>
                </a:r>
                <a14:m>
                  <m:oMath xmlns:m="http://schemas.openxmlformats.org/officeDocument/2006/math">
                    <m:r>
                      <a:rPr lang="en-US" sz="1500">
                        <a:latin typeface="Cambria Math" panose="02040503050406030204" pitchFamily="18" charset="0"/>
                      </a:rPr>
                      <m:t>𝜃</m:t>
                    </m:r>
                  </m:oMath>
                </a14:m>
                <a:r>
                  <a:rPr lang="en-US" sz="1500" dirty="0"/>
                  <a:t> is unknown, </a:t>
                </a:r>
                <a:r>
                  <a:rPr lang="en-US" sz="1500" dirty="0" err="1"/>
                  <a:t>PoS</a:t>
                </a:r>
                <a:r>
                  <a:rPr lang="en-US" sz="1500" dirty="0"/>
                  <a:t> averages the conditional success probability over the current posterior:</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 </m:t>
                      </m:r>
                      <m:r>
                        <a:rPr lang="ar-AE" sz="1500">
                          <a:latin typeface="Cambria Math" panose="02040503050406030204" pitchFamily="18" charset="0"/>
                        </a:rPr>
                        <m:t>𝑝</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 </m:t>
                      </m:r>
                      <m:r>
                        <a:rPr lang="ar-AE" sz="1500">
                          <a:latin typeface="Cambria Math" panose="02040503050406030204" pitchFamily="18" charset="0"/>
                        </a:rPr>
                        <m:t>𝑑</m:t>
                      </m:r>
                      <m:r>
                        <a:rPr lang="ar-AE" sz="1500">
                          <a:latin typeface="Cambria Math" panose="02040503050406030204" pitchFamily="18" charset="0"/>
                        </a:rPr>
                        <m:t>𝜃</m:t>
                      </m:r>
                      <m:r>
                        <a:rPr lang="ar-AE" sz="1500">
                          <a:latin typeface="Cambria Math" panose="02040503050406030204" pitchFamily="18" charset="0"/>
                        </a:rPr>
                        <m:t>,</m:t>
                      </m:r>
                    </m:oMath>
                  </m:oMathPara>
                </a14:m>
                <a:endParaRPr lang="ar-AE" sz="1500" dirty="0"/>
              </a:p>
              <a:p>
                <a:pPr marL="0" lvl="0" indent="0">
                  <a:buNone/>
                </a:pPr>
                <a:r>
                  <a:rPr lang="en-US" sz="1500" dirty="0"/>
                  <a:t>where </a:t>
                </a:r>
                <a14:m>
                  <m:oMath xmlns:m="http://schemas.openxmlformats.org/officeDocument/2006/math">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oMath>
                </a14:m>
                <a:r>
                  <a:rPr lang="ar-AE" sz="1500" dirty="0"/>
                  <a:t> </a:t>
                </a:r>
                <a:r>
                  <a:rPr lang="en-US" sz="1500" dirty="0"/>
                  <a:t>denotes all evidence observed up to now (e.g., historical trials, interim information).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a:stretch>
              </a:blipFill>
            </p:spPr>
            <p:txBody>
              <a:bodyPr/>
              <a:lstStyle/>
              <a:p>
                <a:r>
                  <a:rPr 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9D140-223C-4F26-58E8-A5E0A3854A82}"/>
              </a:ext>
            </a:extLst>
          </p:cNvPr>
          <p:cNvSpPr>
            <a:spLocks noGrp="1"/>
          </p:cNvSpPr>
          <p:nvPr>
            <p:ph type="title"/>
          </p:nvPr>
        </p:nvSpPr>
        <p:spPr/>
        <p:txBody>
          <a:bodyPr/>
          <a:lstStyle/>
          <a:p>
            <a:r>
              <a:rPr lang="en-US" dirty="0"/>
              <a:t>Mechanistic Decomposition of </a:t>
            </a:r>
            <a:r>
              <a:rPr lang="en-US" dirty="0" err="1"/>
              <a:t>PoS</a:t>
            </a:r>
            <a:r>
              <a:rPr lang="en-US" altLang="zh-CN" dirty="0"/>
              <a:t>-</a:t>
            </a:r>
            <a:r>
              <a:rPr lang="zh-CN" altLang="en-US" dirty="0"/>
              <a:t> </a:t>
            </a:r>
            <a:r>
              <a:rPr lang="en-US" altLang="zh-CN" dirty="0"/>
              <a:t>An</a:t>
            </a:r>
            <a:r>
              <a:rPr lang="zh-CN" altLang="en-US" dirty="0"/>
              <a:t> </a:t>
            </a:r>
            <a:r>
              <a:rPr lang="en-US" altLang="zh-CN" dirty="0"/>
              <a:t>Example</a:t>
            </a:r>
            <a:br>
              <a:rPr lang="en-US" dirty="0"/>
            </a:br>
            <a:endParaRPr lang="en-US" dirty="0"/>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069D1655-C86B-CEDB-0439-4BB88A7044ED}"/>
                  </a:ext>
                </a:extLst>
              </p:cNvPr>
              <p:cNvSpPr>
                <a:spLocks noGrp="1"/>
              </p:cNvSpPr>
              <p:nvPr>
                <p:ph type="body" sz="half" idx="2"/>
              </p:nvPr>
            </p:nvSpPr>
            <p:spPr>
              <a:xfrm>
                <a:off x="289775" y="917253"/>
                <a:ext cx="3336790" cy="3518297"/>
              </a:xfrm>
            </p:spPr>
            <p:txBody>
              <a:bodyPr>
                <a:normAutofit lnSpcReduction="10000"/>
              </a:bodyPr>
              <a:lstStyle/>
              <a:p>
                <a:pPr marL="171450" indent="-171450">
                  <a:buFont typeface="Arial" panose="020B0604020202020204" pitchFamily="34" charset="0"/>
                  <a:buChar char="•"/>
                </a:pPr>
                <a:r>
                  <a:rPr lang="en-US" b="1" dirty="0"/>
                  <a:t>Two Layers of Uncertainty</a:t>
                </a:r>
                <a:r>
                  <a:rPr lang="en-US" dirty="0"/>
                  <a:t>:</a:t>
                </a:r>
              </a:p>
              <a:p>
                <a:pPr marL="514350" lvl="1" indent="-171450">
                  <a:buFont typeface="Arial" panose="020B0604020202020204" pitchFamily="34" charset="0"/>
                  <a:buChar char="•"/>
                </a:pPr>
                <a:r>
                  <a:rPr lang="en-US" b="1" dirty="0"/>
                  <a:t>Blue Line (Frequentist Power)</a:t>
                </a:r>
                <a:r>
                  <a:rPr lang="en-US" dirty="0"/>
                  <a:t>: Represents the probability of success </a:t>
                </a:r>
                <a:r>
                  <a:rPr lang="en-US" i="1" dirty="0"/>
                  <a:t>if</a:t>
                </a:r>
                <a:r>
                  <a:rPr lang="en-US" dirty="0"/>
                  <a:t> we knew the true treatment effect</a:t>
                </a:r>
                <a:r>
                  <a:rPr lang="zh-CN" altLang="en-US" dirty="0"/>
                  <a:t> </a:t>
                </a:r>
                <a14:m>
                  <m:oMath xmlns:m="http://schemas.openxmlformats.org/officeDocument/2006/math">
                    <m:r>
                      <a:rPr lang="en-US">
                        <a:latin typeface="Cambria Math" panose="02040503050406030204" pitchFamily="18" charset="0"/>
                      </a:rPr>
                      <m:t>𝜃</m:t>
                    </m:r>
                    <m:r>
                      <a:rPr lang="en-US" b="0" i="0" smtClean="0">
                        <a:latin typeface="Cambria Math" panose="02040503050406030204" pitchFamily="18" charset="0"/>
                      </a:rPr>
                      <m:t>.</m:t>
                    </m:r>
                  </m:oMath>
                </a14:m>
                <a:endParaRPr lang="en-US" dirty="0"/>
              </a:p>
              <a:p>
                <a:pPr marL="514350" lvl="1" indent="-171450">
                  <a:buFont typeface="Arial" panose="020B0604020202020204" pitchFamily="34" charset="0"/>
                  <a:buChar char="•"/>
                </a:pPr>
                <a:r>
                  <a:rPr lang="en-US" b="1" dirty="0"/>
                  <a:t>Red Shaded Area (Evidence/Posterior)</a:t>
                </a:r>
                <a:r>
                  <a:rPr lang="en-US" dirty="0"/>
                  <a:t>: Represents </a:t>
                </a:r>
                <a:r>
                  <a:rPr lang="en-US" b="1" dirty="0"/>
                  <a:t>Parameter Uncertainty</a:t>
                </a:r>
                <a:r>
                  <a:rPr lang="en-US" dirty="0"/>
                  <a:t>. Based on current PFS data and historical correlation </a:t>
                </a:r>
                <a14:m>
                  <m:oMath xmlns:m="http://schemas.openxmlformats.org/officeDocument/2006/math">
                    <m:r>
                      <a:rPr lang="en-US">
                        <a:latin typeface="Cambria Math" panose="02040503050406030204" pitchFamily="18" charset="0"/>
                      </a:rPr>
                      <m:t>𝜌</m:t>
                    </m:r>
                  </m:oMath>
                </a14:m>
                <a:r>
                  <a:rPr lang="en-US" dirty="0"/>
                  <a:t>, it quantifies the likely range of the true OS effect </a:t>
                </a:r>
                <a14:m>
                  <m:oMath xmlns:m="http://schemas.openxmlformats.org/officeDocument/2006/math">
                    <m:r>
                      <a:rPr lang="en-US">
                        <a:latin typeface="Cambria Math" panose="02040503050406030204" pitchFamily="18" charset="0"/>
                      </a:rPr>
                      <m:t>𝜃</m:t>
                    </m:r>
                  </m:oMath>
                </a14:m>
                <a:r>
                  <a:rPr lang="en-US" dirty="0"/>
                  <a:t>.</a:t>
                </a:r>
              </a:p>
              <a:p>
                <a:pPr marL="171450" indent="-171450">
                  <a:buFont typeface="Arial" panose="020B0604020202020204" pitchFamily="34" charset="0"/>
                  <a:buChar char="•"/>
                </a:pPr>
                <a:r>
                  <a:rPr lang="en-US" b="1" dirty="0"/>
                  <a:t>The Essence of </a:t>
                </a:r>
                <a:r>
                  <a:rPr lang="en-US" b="1" dirty="0" err="1"/>
                  <a:t>PoS</a:t>
                </a:r>
                <a:r>
                  <a:rPr lang="en-US" b="1" dirty="0"/>
                  <a:t>:</a:t>
                </a:r>
              </a:p>
              <a:p>
                <a:pPr marL="514350" lvl="1" indent="-171450">
                  <a:buFont typeface="Arial" panose="020B0604020202020204" pitchFamily="34" charset="0"/>
                  <a:buChar char="•"/>
                </a:pPr>
                <a:r>
                  <a:rPr lang="en-US" dirty="0" err="1"/>
                  <a:t>PoS</a:t>
                </a:r>
                <a:r>
                  <a:rPr lang="en-US" dirty="0"/>
                  <a:t> is not a single point on a power curve; it is the weighted average of the Power Func across the entire Evidence Distribution (Red).</a:t>
                </a:r>
              </a:p>
              <a:p>
                <a:pPr marL="514350" lvl="1" indent="-171450">
                  <a:buFont typeface="Arial" panose="020B0604020202020204" pitchFamily="34" charset="0"/>
                  <a:buChar char="•"/>
                </a:pPr>
                <a:r>
                  <a:rPr lang="en-US" dirty="0"/>
                  <a:t>The total are of the green shaded region represents the final calculated </a:t>
                </a:r>
                <a:r>
                  <a:rPr lang="en-US" dirty="0" err="1"/>
                  <a:t>PoS</a:t>
                </a:r>
                <a:r>
                  <a:rPr lang="en-US" dirty="0"/>
                  <a:t> (.</a:t>
                </a:r>
                <a:r>
                  <a:rPr lang="en-US" dirty="0" err="1"/>
                  <a:t>e.g</a:t>
                </a:r>
                <a:r>
                  <a:rPr lang="en-US" dirty="0"/>
                  <a:t>, </a:t>
                </a:r>
                <a:r>
                  <a:rPr lang="en-US" altLang="zh-CN" dirty="0"/>
                  <a:t>71</a:t>
                </a:r>
                <a:r>
                  <a:rPr lang="en-US" dirty="0"/>
                  <a:t>.1%)</a:t>
                </a:r>
              </a:p>
              <a:p>
                <a:pPr marL="171450" indent="-171450">
                  <a:buFont typeface="Arial" panose="020B0604020202020204" pitchFamily="34" charset="0"/>
                  <a:buChar char="•"/>
                </a:pPr>
                <a:r>
                  <a:rPr lang="en-US" b="1" dirty="0"/>
                  <a:t>Success Contribution (The Green Integrand)</a:t>
                </a:r>
                <a:r>
                  <a:rPr lang="en-US" dirty="0"/>
                  <a:t>:</a:t>
                </a:r>
              </a:p>
              <a:p>
                <a:pPr marL="514350" lvl="1" indent="-171450">
                  <a:buFont typeface="Arial" panose="020B0604020202020204" pitchFamily="34" charset="0"/>
                  <a:buChar char="•"/>
                </a:pPr>
                <a:r>
                  <a:rPr lang="en-US" dirty="0"/>
                  <a:t>The width of the green area reflects the remaining uncertainty in the OS outcome (predicted). </a:t>
                </a:r>
              </a:p>
              <a:p>
                <a:pPr marL="514350" lvl="1" indent="-171450">
                  <a:buFont typeface="Arial" panose="020B0604020202020204" pitchFamily="34" charset="0"/>
                  <a:buChar char="•"/>
                </a:pPr>
                <a:r>
                  <a:rPr lang="en-US" dirty="0"/>
                  <a:t>A wider distribution shows that while the PFS is promising, the OS outcome still covers a range of possible values around the threshold. </a:t>
                </a:r>
              </a:p>
              <a:p>
                <a:pPr marL="514350" lvl="1" indent="-171450">
                  <a:buFont typeface="Arial" panose="020B0604020202020204" pitchFamily="34" charset="0"/>
                  <a:buChar char="•"/>
                </a:pPr>
                <a:r>
                  <a:rPr lang="en-US" dirty="0"/>
                  <a:t>As PFS results strengthen, the Red "Evidence Mountain" shifts left, pulling the Green "Contribution Area" with it and increasing the </a:t>
                </a:r>
                <a:r>
                  <a:rPr lang="en-US" dirty="0" err="1"/>
                  <a:t>PoS.</a:t>
                </a:r>
                <a:endParaRPr lang="en-US" dirty="0"/>
              </a:p>
              <a:p>
                <a:endParaRPr lang="en-US" dirty="0"/>
              </a:p>
              <a:p>
                <a:endParaRPr lang="en-US" dirty="0"/>
              </a:p>
              <a:p>
                <a:endParaRPr lang="en-US" dirty="0"/>
              </a:p>
              <a:p>
                <a:endParaRPr lang="en-US" dirty="0"/>
              </a:p>
              <a:p>
                <a:endParaRPr lang="en-US" dirty="0"/>
              </a:p>
            </p:txBody>
          </p:sp>
        </mc:Choice>
        <mc:Fallback>
          <p:sp>
            <p:nvSpPr>
              <p:cNvPr id="4" name="Text Placeholder 3">
                <a:extLst>
                  <a:ext uri="{FF2B5EF4-FFF2-40B4-BE49-F238E27FC236}">
                    <a16:creationId xmlns:a16="http://schemas.microsoft.com/office/drawing/2014/main" id="{069D1655-C86B-CEDB-0439-4BB88A7044ED}"/>
                  </a:ext>
                </a:extLst>
              </p:cNvPr>
              <p:cNvSpPr>
                <a:spLocks noGrp="1" noRot="1" noChangeAspect="1" noMove="1" noResize="1" noEditPoints="1" noAdjustHandles="1" noChangeArrowheads="1" noChangeShapeType="1" noTextEdit="1"/>
              </p:cNvSpPr>
              <p:nvPr>
                <p:ph type="body" sz="half" idx="2"/>
              </p:nvPr>
            </p:nvSpPr>
            <p:spPr>
              <a:xfrm>
                <a:off x="289775" y="917253"/>
                <a:ext cx="3336790" cy="3518297"/>
              </a:xfrm>
              <a:blipFill>
                <a:blip r:embed="rId2"/>
                <a:stretch>
                  <a:fillRect t="-360"/>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34E3C34D-94BA-BA41-8273-09908D5EAA25}"/>
              </a:ext>
            </a:extLst>
          </p:cNvPr>
          <p:cNvPicPr>
            <a:picLocks noChangeAspect="1"/>
          </p:cNvPicPr>
          <p:nvPr/>
        </p:nvPicPr>
        <p:blipFill>
          <a:blip r:embed="rId3"/>
          <a:stretch>
            <a:fillRect/>
          </a:stretch>
        </p:blipFill>
        <p:spPr>
          <a:xfrm>
            <a:off x="3626565" y="707949"/>
            <a:ext cx="5215833" cy="3124579"/>
          </a:xfrm>
          <a:prstGeom prst="rect">
            <a:avLst/>
          </a:prstGeom>
        </p:spPr>
      </p:pic>
    </p:spTree>
    <p:extLst>
      <p:ext uri="{BB962C8B-B14F-4D97-AF65-F5344CB8AC3E}">
        <p14:creationId xmlns:p14="http://schemas.microsoft.com/office/powerpoint/2010/main" val="3197112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2800">
                <a:solidFill>
                  <a:srgbClr val="FFFFFF"/>
                </a:solidFill>
              </a:rPr>
              <a:t>Equivalent view: posterior predictive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a:t>An equivalent expression uses the posterior predictive distribution of the future result:</a:t>
                </a:r>
              </a:p>
              <a:p>
                <a:pPr marL="0" lvl="0" indent="0">
                  <a:buNone/>
                </a:pPr>
                <a14:m>
                  <m:oMathPara xmlns:m="http://schemas.openxmlformats.org/officeDocument/2006/math">
                    <m:oMathParaPr>
                      <m:jc m:val="center"/>
                    </m:oMathParaPr>
                    <m:oMath xmlns:m="http://schemas.openxmlformats.org/officeDocument/2006/math">
                      <m:r>
                        <a:rPr lang="en-US" sz="1500">
                          <a:latin typeface="Cambria Math" panose="02040503050406030204" pitchFamily="18" charset="0"/>
                        </a:rPr>
                        <m:t>𝑝</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m:t>
                      </m:r>
                      <m:r>
                        <a:rPr lang="ar-AE" sz="1500">
                          <a:latin typeface="Cambria Math" panose="02040503050406030204" pitchFamily="18" charset="0"/>
                        </a:rPr>
                        <m:t>𝑝</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 </m:t>
                      </m:r>
                      <m:r>
                        <a:rPr lang="ar-AE" sz="1500">
                          <a:latin typeface="Cambria Math" panose="02040503050406030204" pitchFamily="18" charset="0"/>
                        </a:rPr>
                        <m:t>𝑝</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 </m:t>
                      </m:r>
                      <m:r>
                        <a:rPr lang="ar-AE" sz="1500">
                          <a:latin typeface="Cambria Math" panose="02040503050406030204" pitchFamily="18" charset="0"/>
                        </a:rPr>
                        <m:t>𝑑</m:t>
                      </m:r>
                      <m:r>
                        <a:rPr lang="ar-AE" sz="1500">
                          <a:latin typeface="Cambria Math" panose="02040503050406030204" pitchFamily="18" charset="0"/>
                        </a:rPr>
                        <m:t>𝜃</m:t>
                      </m:r>
                      <m:r>
                        <a:rPr lang="ar-AE" sz="1500">
                          <a:latin typeface="Cambria Math" panose="02040503050406030204" pitchFamily="18" charset="0"/>
                        </a:rPr>
                        <m:t>.</m:t>
                      </m:r>
                    </m:oMath>
                  </m:oMathPara>
                </a14:m>
                <a:endParaRPr lang="ar-AE" sz="1500"/>
              </a:p>
              <a:p>
                <a:pPr marL="0" lvl="0" indent="0">
                  <a:buNone/>
                </a:pPr>
                <a:r>
                  <a:rPr lang="en-US" sz="1500"/>
                  <a:t>Then PoS is simply:</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m:t>
                      </m:r>
                      <m:r>
                        <a:rPr lang="ar-AE" sz="1500">
                          <a:latin typeface="Cambria Math" panose="02040503050406030204" pitchFamily="18" charset="0"/>
                        </a:rPr>
                        <m:t>𝟏</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e>
                      </m:d>
                      <m:r>
                        <a:rPr lang="ar-AE" sz="1500">
                          <a:latin typeface="Cambria Math" panose="02040503050406030204" pitchFamily="18" charset="0"/>
                        </a:rPr>
                        <m:t> </m:t>
                      </m:r>
                      <m:r>
                        <a:rPr lang="ar-AE" sz="1500">
                          <a:latin typeface="Cambria Math" panose="02040503050406030204" pitchFamily="18" charset="0"/>
                        </a:rPr>
                        <m:t>𝑝</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 </m:t>
                      </m:r>
                      <m:r>
                        <a:rPr lang="ar-AE" sz="1500">
                          <a:latin typeface="Cambria Math" panose="02040503050406030204" pitchFamily="18" charset="0"/>
                        </a:rPr>
                        <m:t>𝑑</m:t>
                      </m:r>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oMath>
                  </m:oMathPara>
                </a14:m>
                <a:endParaRPr lang="ar-AE" sz="1500"/>
              </a:p>
              <a:p>
                <a:pPr marL="0" lvl="0" indent="0">
                  <a:buNone/>
                </a:pPr>
                <a:r>
                  <a:rPr lang="en-US" sz="1500"/>
                  <a:t>This view is often convenient for computation and interpretation.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1514104"/>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150876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6676" y="411480"/>
            <a:ext cx="7626096" cy="884682"/>
          </a:xfrm>
        </p:spPr>
        <p:txBody>
          <a:bodyPr>
            <a:normAutofit/>
          </a:bodyPr>
          <a:lstStyle/>
          <a:p>
            <a:pPr marL="0" lvl="0" indent="0">
              <a:buNone/>
            </a:pPr>
            <a:r>
              <a:rPr lang="en-US" sz="3000"/>
              <a:t>Linking the ICB surrogate scenario to PoS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56921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6676" y="1861457"/>
                <a:ext cx="7626096" cy="2771265"/>
              </a:xfrm>
            </p:spPr>
            <p:txBody>
              <a:bodyPr>
                <a:normAutofit/>
              </a:bodyPr>
              <a:lstStyle/>
              <a:p>
                <a:pPr marL="0" lvl="0" indent="0">
                  <a:lnSpc>
                    <a:spcPct val="90000"/>
                  </a:lnSpc>
                  <a:buNone/>
                </a:pPr>
                <a:r>
                  <a:rPr lang="en-US" sz="1400"/>
                  <a:t>In the ICB setting, PFS typically matures earlier than OS.</a:t>
                </a:r>
              </a:p>
              <a:p>
                <a:pPr marL="0" lvl="0" indent="0">
                  <a:lnSpc>
                    <a:spcPct val="90000"/>
                  </a:lnSpc>
                  <a:buNone/>
                </a:pPr>
                <a:r>
                  <a:rPr lang="en-US" sz="1400"/>
                  <a:t>We use historical trials reporting both endpoints to learn the joint relationship:</a:t>
                </a:r>
              </a:p>
              <a:p>
                <a:pPr marL="0" lvl="0" indent="0">
                  <a:lnSpc>
                    <a:spcPct val="90000"/>
                  </a:lnSpc>
                  <a:buNone/>
                </a:pPr>
                <a14:m>
                  <m:oMathPara xmlns:m="http://schemas.openxmlformats.org/officeDocument/2006/math">
                    <m:oMathParaPr>
                      <m:jc m:val="center"/>
                    </m:oMathParaPr>
                    <m:oMath xmlns:m="http://schemas.openxmlformats.org/officeDocument/2006/math">
                      <m:sSup>
                        <m:sSupPr>
                          <m:ctrlPr>
                            <a:rPr lang="ar-AE" sz="1400" i="1">
                              <a:latin typeface="Cambria Math" panose="02040503050406030204" pitchFamily="18" charset="0"/>
                            </a:rPr>
                          </m:ctrlPr>
                        </m:sSupPr>
                        <m:e>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𝑂𝑆</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𝑃𝐹𝑆</m:t>
                                  </m:r>
                                </m:sub>
                              </m:sSub>
                            </m:e>
                          </m:d>
                        </m:e>
                        <m:sup>
                          <m:r>
                            <a:rPr lang="ar-AE" sz="1400">
                              <a:latin typeface="Cambria Math" panose="02040503050406030204" pitchFamily="18" charset="0"/>
                            </a:rPr>
                            <m:t>⊤</m:t>
                          </m:r>
                        </m:sup>
                      </m:sSup>
                      <m:r>
                        <a:rPr lang="ar-AE" sz="1400">
                          <a:latin typeface="Cambria Math" panose="02040503050406030204" pitchFamily="18" charset="0"/>
                        </a:rPr>
                        <m:t>∼</m:t>
                      </m:r>
                      <m:r>
                        <m:rPr>
                          <m:sty m:val="p"/>
                        </m:rPr>
                        <a:rPr lang="en-US" sz="1400">
                          <a:latin typeface="Cambria Math" panose="02040503050406030204" pitchFamily="18" charset="0"/>
                        </a:rPr>
                        <m:t>MVN</m:t>
                      </m:r>
                      <m:d>
                        <m:dPr>
                          <m:ctrlPr>
                            <a:rPr lang="ar-AE" sz="1400" i="1">
                              <a:latin typeface="Cambria Math" panose="02040503050406030204" pitchFamily="18" charset="0"/>
                            </a:rPr>
                          </m:ctrlPr>
                        </m:dPr>
                        <m:e>
                          <m:r>
                            <a:rPr lang="ar-AE" sz="1400">
                              <a:latin typeface="Cambria Math" panose="02040503050406030204" pitchFamily="18" charset="0"/>
                            </a:rPr>
                            <m:t>𝜇</m:t>
                          </m:r>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sub>
                          </m:sSub>
                        </m:e>
                      </m:d>
                      <m:r>
                        <a:rPr lang="ar-AE" sz="1400">
                          <a:latin typeface="Cambria Math" panose="02040503050406030204" pitchFamily="18" charset="0"/>
                        </a:rPr>
                        <m:t>,</m:t>
                      </m:r>
                    </m:oMath>
                  </m:oMathPara>
                </a14:m>
                <a:endParaRPr lang="ar-AE" sz="1400"/>
              </a:p>
              <a:p>
                <a:pPr marL="0" lvl="0" indent="0">
                  <a:lnSpc>
                    <a:spcPct val="90000"/>
                  </a:lnSpc>
                  <a:buNone/>
                </a:pPr>
                <a:r>
                  <a:rPr lang="en-US" sz="1400"/>
                  <a:t>and then update OS using the observed current-trial PFS result </a:t>
                </a: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𝑐</m:t>
                        </m:r>
                      </m:sub>
                    </m:sSub>
                  </m:oMath>
                </a14:m>
                <a:r>
                  <a:rPr lang="ar-AE" sz="1400"/>
                  <a:t>.</a:t>
                </a:r>
              </a:p>
              <a:p>
                <a:pPr marL="0" lvl="0" indent="0">
                  <a:lnSpc>
                    <a:spcPct val="90000"/>
                  </a:lnSpc>
                  <a:buNone/>
                </a:pPr>
                <a:r>
                  <a:rPr lang="en-US" sz="1400"/>
                  <a:t>This yields a predictive distribution for the final OS estimate:</a:t>
                </a:r>
              </a:p>
              <a:p>
                <a:pPr marL="0" lvl="0" indent="0">
                  <a:lnSpc>
                    <a:spcPct val="90000"/>
                  </a:lnSpc>
                  <a:buNone/>
                </a:pPr>
                <a14:m>
                  <m:oMathPara xmlns:m="http://schemas.openxmlformats.org/officeDocument/2006/math">
                    <m:oMathParaPr>
                      <m:jc m:val="center"/>
                    </m:oMathParaPr>
                    <m:oMath xmlns:m="http://schemas.openxmlformats.org/officeDocument/2006/math">
                      <m:sSubSup>
                        <m:sSubSupPr>
                          <m:ctrlPr>
                            <a:rPr lang="ar-AE" sz="1400" i="1">
                              <a:latin typeface="Cambria Math" panose="02040503050406030204" pitchFamily="18" charset="0"/>
                            </a:rPr>
                          </m:ctrlPr>
                        </m:sSubSupPr>
                        <m:e>
                          <m:r>
                            <a:rPr lang="ar-AE" sz="1400">
                              <a:latin typeface="Cambria Math" panose="02040503050406030204" pitchFamily="18" charset="0"/>
                            </a:rPr>
                            <m:t>𝑌</m:t>
                          </m:r>
                        </m:e>
                        <m:sub>
                          <m:r>
                            <a:rPr lang="ar-AE" sz="1400">
                              <a:latin typeface="Cambria Math" panose="02040503050406030204" pitchFamily="18" charset="0"/>
                            </a:rPr>
                            <m:t>𝑂𝑆</m:t>
                          </m:r>
                        </m:sub>
                        <m:sup>
                          <m:r>
                            <a:rPr lang="ar-AE" sz="1400">
                              <a:latin typeface="Cambria Math" panose="02040503050406030204" pitchFamily="18" charset="0"/>
                            </a:rPr>
                            <m:t>∗</m:t>
                          </m:r>
                        </m:sup>
                      </m:sSubSup>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𝑐</m:t>
                          </m:r>
                        </m:sub>
                      </m:sSub>
                      <m:r>
                        <a:rPr lang="ar-AE" sz="1400">
                          <a:latin typeface="Cambria Math" panose="02040503050406030204" pitchFamily="18" charset="0"/>
                        </a:rPr>
                        <m:t>∼</m:t>
                      </m:r>
                      <m:r>
                        <a:rPr lang="ar-AE" sz="1400">
                          <a:latin typeface="Cambria Math" panose="02040503050406030204" pitchFamily="18" charset="0"/>
                        </a:rPr>
                        <m:t>𝑁</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𝑚</m:t>
                              </m:r>
                            </m:e>
                            <m:sub>
                              <m:r>
                                <m:rPr>
                                  <m:nor/>
                                </m:rPr>
                                <a:rPr lang="en-US" sz="1400"/>
                                <m:t>post</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𝑣</m:t>
                              </m:r>
                            </m:e>
                            <m:sub>
                              <m:r>
                                <m:rPr>
                                  <m:nor/>
                                </m:rPr>
                                <a:rPr lang="en-US" sz="1400"/>
                                <m:t>post</m:t>
                              </m:r>
                            </m:sub>
                          </m:sSub>
                          <m:r>
                            <a:rPr lang="ar-AE" sz="1400">
                              <a:latin typeface="Cambria Math" panose="02040503050406030204" pitchFamily="18" charset="0"/>
                            </a:rPr>
                            <m:t>+</m:t>
                          </m:r>
                          <m:sSubSup>
                            <m:sSubSupPr>
                              <m:ctrlPr>
                                <a:rPr lang="ar-AE" sz="1400" i="1">
                                  <a:latin typeface="Cambria Math" panose="02040503050406030204" pitchFamily="18" charset="0"/>
                                </a:rPr>
                              </m:ctrlPr>
                            </m:sSubSupPr>
                            <m:e>
                              <m:r>
                                <a:rPr lang="ar-AE" sz="1400">
                                  <a:latin typeface="Cambria Math" panose="02040503050406030204" pitchFamily="18" charset="0"/>
                                </a:rPr>
                                <m:t>𝜎</m:t>
                              </m:r>
                            </m:e>
                            <m:sub>
                              <m:r>
                                <a:rPr lang="ar-AE" sz="1400">
                                  <a:latin typeface="Cambria Math" panose="02040503050406030204" pitchFamily="18" charset="0"/>
                                </a:rPr>
                                <m:t>∗</m:t>
                              </m:r>
                            </m:sub>
                            <m:sup>
                              <m:r>
                                <a:rPr lang="ar-AE" sz="1400">
                                  <a:latin typeface="Cambria Math" panose="02040503050406030204" pitchFamily="18" charset="0"/>
                                </a:rPr>
                                <m:t>2</m:t>
                              </m:r>
                            </m:sup>
                          </m:sSubSup>
                        </m:e>
                      </m:d>
                      <m:r>
                        <a:rPr lang="ar-AE" sz="1400">
                          <a:latin typeface="Cambria Math" panose="02040503050406030204" pitchFamily="18" charset="0"/>
                        </a:rPr>
                        <m:t>,</m:t>
                      </m:r>
                    </m:oMath>
                  </m:oMathPara>
                </a14:m>
                <a:endParaRPr lang="ar-AE" sz="1400"/>
              </a:p>
              <a:p>
                <a:pPr marL="0" lvl="0" indent="0">
                  <a:lnSpc>
                    <a:spcPct val="90000"/>
                  </a:lnSpc>
                  <a:buNone/>
                </a:pPr>
                <a:r>
                  <a:rPr lang="en-US" sz="1400"/>
                  <a:t>and PoS follows from the OS success rule:</a:t>
                </a:r>
              </a:p>
              <a:p>
                <a:pPr marL="0" lvl="0" indent="0">
                  <a:lnSpc>
                    <a:spcPct val="90000"/>
                  </a:lnSpc>
                  <a:buNone/>
                </a:pPr>
                <a14:m>
                  <m:oMathPara xmlns:m="http://schemas.openxmlformats.org/officeDocument/2006/math">
                    <m:oMathParaPr>
                      <m:jc m:val="center"/>
                    </m:oMathParaPr>
                    <m:oMath xmlns:m="http://schemas.openxmlformats.org/officeDocument/2006/math">
                      <m:r>
                        <m:rPr>
                          <m:nor/>
                        </m:rPr>
                        <a:rPr lang="en-US" sz="1400"/>
                        <m:t>PoS</m:t>
                      </m:r>
                      <m:r>
                        <a:rPr lang="en-US" sz="1400">
                          <a:latin typeface="Cambria Math" panose="02040503050406030204" pitchFamily="18" charset="0"/>
                        </a:rPr>
                        <m:t>=</m:t>
                      </m:r>
                      <m:r>
                        <m:rPr>
                          <m:sty m:val="p"/>
                        </m:rPr>
                        <a:rPr lang="en-US" sz="1400">
                          <a:latin typeface="Cambria Math" panose="02040503050406030204" pitchFamily="18" charset="0"/>
                        </a:rPr>
                        <m:t>Pr</m:t>
                      </m:r>
                      <m:d>
                        <m:dPr>
                          <m:ctrlPr>
                            <a:rPr lang="ar-AE" sz="1400" i="1">
                              <a:latin typeface="Cambria Math" panose="02040503050406030204" pitchFamily="18" charset="0"/>
                            </a:rPr>
                          </m:ctrlPr>
                        </m:dPr>
                        <m:e>
                          <m:sSubSup>
                            <m:sSubSupPr>
                              <m:ctrlPr>
                                <a:rPr lang="ar-AE" sz="1400" i="1">
                                  <a:latin typeface="Cambria Math" panose="02040503050406030204" pitchFamily="18" charset="0"/>
                                </a:rPr>
                              </m:ctrlPr>
                            </m:sSubSupPr>
                            <m:e>
                              <m:r>
                                <a:rPr lang="ar-AE" sz="1400">
                                  <a:latin typeface="Cambria Math" panose="02040503050406030204" pitchFamily="18" charset="0"/>
                                </a:rPr>
                                <m:t>𝑌</m:t>
                              </m:r>
                            </m:e>
                            <m:sub>
                              <m:r>
                                <a:rPr lang="ar-AE" sz="1400">
                                  <a:latin typeface="Cambria Math" panose="02040503050406030204" pitchFamily="18" charset="0"/>
                                </a:rPr>
                                <m:t>𝑂𝑆</m:t>
                              </m:r>
                            </m:sub>
                            <m:sup>
                              <m:r>
                                <a:rPr lang="ar-AE" sz="1400">
                                  <a:latin typeface="Cambria Math" panose="02040503050406030204" pitchFamily="18" charset="0"/>
                                </a:rPr>
                                <m:t>∗</m:t>
                              </m:r>
                            </m:sup>
                          </m:sSubSup>
                          <m:r>
                            <a:rPr lang="ar-AE" sz="1400">
                              <a:latin typeface="Cambria Math" panose="02040503050406030204" pitchFamily="18" charset="0"/>
                            </a:rPr>
                            <m:t>&lt;−1.96 </m:t>
                          </m:r>
                          <m:sSub>
                            <m:sSubPr>
                              <m:ctrlPr>
                                <a:rPr lang="ar-AE" sz="1400" i="1">
                                  <a:latin typeface="Cambria Math" panose="02040503050406030204" pitchFamily="18" charset="0"/>
                                </a:rPr>
                              </m:ctrlPr>
                            </m:sSubPr>
                            <m:e>
                              <m:r>
                                <a:rPr lang="ar-AE" sz="1400">
                                  <a:latin typeface="Cambria Math" panose="02040503050406030204" pitchFamily="18" charset="0"/>
                                </a:rPr>
                                <m:t>𝜎</m:t>
                              </m:r>
                            </m:e>
                            <m:sub>
                              <m:r>
                                <a:rPr lang="ar-AE" sz="1400">
                                  <a:latin typeface="Cambria Math" panose="02040503050406030204" pitchFamily="18" charset="0"/>
                                </a:rPr>
                                <m:t>∗</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𝑐</m:t>
                              </m:r>
                            </m:sub>
                          </m:sSub>
                        </m:e>
                      </m:d>
                      <m:r>
                        <a:rPr lang="ar-AE" sz="1400">
                          <a:latin typeface="Cambria Math" panose="02040503050406030204" pitchFamily="18" charset="0"/>
                        </a:rPr>
                        <m:t>.</m:t>
                      </m:r>
                    </m:oMath>
                  </m:oMathPara>
                </a14:m>
                <a:endParaRPr lang="ar-AE" sz="1400"/>
              </a:p>
              <a:p>
                <a:pPr lvl="0">
                  <a:lnSpc>
                    <a:spcPct val="90000"/>
                  </a:lnSpc>
                </a:pP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𝑚</m:t>
                        </m:r>
                      </m:e>
                      <m:sub>
                        <m:r>
                          <m:rPr>
                            <m:nor/>
                          </m:rPr>
                          <a:rPr lang="en-US" sz="1400"/>
                          <m:t>post</m:t>
                        </m:r>
                      </m:sub>
                    </m:sSub>
                  </m:oMath>
                </a14:m>
                <a:r>
                  <a:rPr lang="ar-AE" sz="1400"/>
                  <a:t> = </a:t>
                </a:r>
                <a:r>
                  <a:rPr lang="en-US" sz="1400"/>
                  <a:t>the </a:t>
                </a:r>
                <a:r>
                  <a:rPr lang="en-US" sz="1400" b="1"/>
                  <a:t>best current guess</a:t>
                </a:r>
                <a:r>
                  <a:rPr lang="en-US" sz="1400"/>
                  <a:t> of the true OS log(HR) after borrowing strength from PFS evidence.</a:t>
                </a:r>
              </a:p>
              <a:p>
                <a:pPr lvl="0">
                  <a:lnSpc>
                    <a:spcPct val="90000"/>
                  </a:lnSpc>
                </a:pP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𝑣</m:t>
                        </m:r>
                      </m:e>
                      <m:sub>
                        <m:r>
                          <m:rPr>
                            <m:nor/>
                          </m:rPr>
                          <a:rPr lang="en-US" sz="1400"/>
                          <m:t>post</m:t>
                        </m:r>
                      </m:sub>
                    </m:sSub>
                  </m:oMath>
                </a14:m>
                <a:r>
                  <a:rPr lang="ar-AE" sz="1400"/>
                  <a:t> = </a:t>
                </a:r>
                <a:r>
                  <a:rPr lang="en-US" sz="1400"/>
                  <a:t>the </a:t>
                </a:r>
                <a:r>
                  <a:rPr lang="en-US" sz="1400" b="1"/>
                  <a:t>remaining uncertainty</a:t>
                </a:r>
                <a:r>
                  <a:rPr lang="en-US" sz="1400"/>
                  <a:t> about the true OS log(HR) after that update.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6676" y="1861457"/>
                <a:ext cx="7626096" cy="2771265"/>
              </a:xfrm>
              <a:blipFill>
                <a:blip r:embed="rId2"/>
                <a:stretch>
                  <a:fillRect l="-166" t="-1370"/>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we’re trying to answer</a:t>
            </a:r>
          </a:p>
        </p:txBody>
      </p:sp>
      <p:graphicFrame>
        <p:nvGraphicFramePr>
          <p:cNvPr id="5" name="Content Placeholder 2">
            <a:extLst>
              <a:ext uri="{FF2B5EF4-FFF2-40B4-BE49-F238E27FC236}">
                <a16:creationId xmlns:a16="http://schemas.microsoft.com/office/drawing/2014/main" id="{6CBA989B-EA25-84BF-462D-22499F854DC6}"/>
              </a:ext>
            </a:extLst>
          </p:cNvPr>
          <p:cNvGraphicFramePr>
            <a:graphicFrameLocks noGrp="1"/>
          </p:cNvGraphicFramePr>
          <p:nvPr>
            <p:ph idx="1"/>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a:solidFill>
                  <a:srgbClr val="FFFFFF"/>
                </a:solidFill>
              </a:rPr>
              <a:t>PoS in one line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dirty="0"/>
                  <a:t>Let:</a:t>
                </a:r>
              </a:p>
              <a:p>
                <a:pPr lvl="0"/>
                <a14:m>
                  <m:oMath xmlns:m="http://schemas.openxmlformats.org/officeDocument/2006/math">
                    <m:r>
                      <a:rPr lang="en-US" sz="1500">
                        <a:latin typeface="Cambria Math" panose="02040503050406030204" pitchFamily="18" charset="0"/>
                      </a:rPr>
                      <m:t>𝜃</m:t>
                    </m:r>
                  </m:oMath>
                </a14:m>
                <a:r>
                  <a:rPr lang="en-US" sz="1500" dirty="0"/>
                  <a:t> = the (unknown) </a:t>
                </a:r>
                <a:r>
                  <a:rPr lang="en-US" sz="1500" i="1" dirty="0"/>
                  <a:t>true</a:t>
                </a:r>
                <a:r>
                  <a:rPr lang="en-US" sz="1500" dirty="0"/>
                  <a:t> treatment effect (here: </a:t>
                </a:r>
                <a14:m>
                  <m:oMath xmlns:m="http://schemas.openxmlformats.org/officeDocument/2006/math">
                    <m:r>
                      <a:rPr lang="en-US" sz="1500">
                        <a:latin typeface="Cambria Math" panose="02040503050406030204" pitchFamily="18" charset="0"/>
                      </a:rPr>
                      <m:t>𝜃</m:t>
                    </m:r>
                    <m:r>
                      <a:rPr lang="en-US" sz="1500">
                        <a:latin typeface="Cambria Math" panose="02040503050406030204" pitchFamily="18" charset="0"/>
                      </a:rPr>
                      <m:t>=</m:t>
                    </m:r>
                    <m:r>
                      <m:rPr>
                        <m:sty m:val="p"/>
                      </m:rPr>
                      <a:rPr lang="en-US" sz="1500">
                        <a:latin typeface="Cambria Math" panose="02040503050406030204" pitchFamily="18" charset="0"/>
                      </a:rPr>
                      <m:t>log</m:t>
                    </m:r>
                    <m:d>
                      <m:dPr>
                        <m:ctrlPr>
                          <a:rPr lang="ar-AE" sz="1500" i="1">
                            <a:latin typeface="Cambria Math" panose="02040503050406030204" pitchFamily="18" charset="0"/>
                          </a:rPr>
                        </m:ctrlPr>
                      </m:dPr>
                      <m:e>
                        <m:r>
                          <a:rPr lang="ar-AE" sz="1500">
                            <a:latin typeface="Cambria Math" panose="02040503050406030204" pitchFamily="18" charset="0"/>
                          </a:rPr>
                          <m:t>𝐻𝑅</m:t>
                        </m:r>
                      </m:e>
                    </m:d>
                    <m:r>
                      <a:rPr lang="en-US" sz="1500" b="0" i="0" smtClean="0">
                        <a:latin typeface="Cambria Math" panose="02040503050406030204" pitchFamily="18" charset="0"/>
                      </a:rPr>
                      <m:t>)</m:t>
                    </m:r>
                  </m:oMath>
                </a14:m>
                <a:endParaRPr lang="ar-AE" sz="1500"/>
              </a:p>
              <a:p>
                <a:pPr lvl="0"/>
                <a14:m>
                  <m:oMath xmlns:m="http://schemas.openxmlformats.org/officeDocument/2006/math">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oMath>
                </a14:m>
                <a:r>
                  <a:rPr lang="ar-AE" sz="1500" dirty="0"/>
                  <a:t> = </a:t>
                </a:r>
                <a:r>
                  <a:rPr lang="en-US" sz="1500" dirty="0"/>
                  <a:t>the future study’s estimator (e.g., estimated log(HR) at final OS analysis)</a:t>
                </a:r>
              </a:p>
              <a:p>
                <a:pPr lvl="0"/>
                <a14:m>
                  <m:oMath xmlns:m="http://schemas.openxmlformats.org/officeDocument/2006/math">
                    <m:r>
                      <a:rPr lang="en-US" sz="1500">
                        <a:latin typeface="Cambria Math" panose="02040503050406030204" pitchFamily="18" charset="0"/>
                      </a:rPr>
                      <m:t>𝑅</m:t>
                    </m:r>
                  </m:oMath>
                </a14:m>
                <a:r>
                  <a:rPr lang="en-US" sz="1500" dirty="0"/>
                  <a:t> = the </a:t>
                </a:r>
                <a:r>
                  <a:rPr lang="en-US" sz="1500" b="1" dirty="0"/>
                  <a:t>success region</a:t>
                </a:r>
                <a:r>
                  <a:rPr lang="en-US" sz="1500" dirty="0"/>
                  <a:t> (defined by your decision rule)</a:t>
                </a:r>
              </a:p>
              <a:p>
                <a:pPr marL="0" lvl="0" indent="0">
                  <a:buNone/>
                </a:pPr>
                <a:r>
                  <a:rPr lang="en-US" sz="1500" dirty="0"/>
                  <a:t>Then predictive probability of success is:</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 = ∫</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 </m:t>
                      </m:r>
                      <m:r>
                        <a:rPr lang="ar-AE" sz="1500">
                          <a:latin typeface="Cambria Math" panose="02040503050406030204" pitchFamily="18" charset="0"/>
                        </a:rPr>
                        <m:t>𝜋</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m:t>
                          </m:r>
                          <m:r>
                            <m:rPr>
                              <m:nor/>
                            </m:rPr>
                            <a:rPr lang="en-US" sz="1500"/>
                            <m:t>current</m:t>
                          </m:r>
                          <m:r>
                            <m:rPr>
                              <m:nor/>
                            </m:rPr>
                            <a:rPr lang="en-US" sz="1500"/>
                            <m:t> </m:t>
                          </m:r>
                          <m:r>
                            <m:rPr>
                              <m:nor/>
                            </m:rPr>
                            <a:rPr lang="en-US" sz="1500"/>
                            <m:t>evidence</m:t>
                          </m:r>
                        </m:e>
                      </m:d>
                      <m:r>
                        <a:rPr lang="ar-AE" sz="1500">
                          <a:latin typeface="Cambria Math" panose="02040503050406030204" pitchFamily="18" charset="0"/>
                        </a:rPr>
                        <m:t> </m:t>
                      </m:r>
                      <m:r>
                        <a:rPr lang="ar-AE" sz="1500">
                          <a:latin typeface="Cambria Math" panose="02040503050406030204" pitchFamily="18" charset="0"/>
                        </a:rPr>
                        <m:t>𝑑</m:t>
                      </m:r>
                      <m:r>
                        <a:rPr lang="ar-AE" sz="1500">
                          <a:latin typeface="Cambria Math" panose="02040503050406030204" pitchFamily="18" charset="0"/>
                        </a:rPr>
                        <m:t>𝜃</m:t>
                      </m:r>
                    </m:oMath>
                  </m:oMathPara>
                </a14:m>
                <a:endParaRPr lang="ar-AE" sz="1500" dirty="0"/>
              </a:p>
              <a:p>
                <a:pPr marL="0" lvl="0" indent="0">
                  <a:buNone/>
                </a:pPr>
                <a:r>
                  <a:rPr lang="en-US" sz="1500" b="1" dirty="0"/>
                  <a:t>Interpretation:</a:t>
                </a:r>
                <a:r>
                  <a:rPr lang="en-US" sz="1500" dirty="0"/>
                  <a:t> average the conditional “power” over uncertainty in the true effect.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760560"/>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300915"/>
            <a:ext cx="7886700" cy="1011049"/>
          </a:xfrm>
        </p:spPr>
        <p:txBody>
          <a:bodyPr>
            <a:normAutofit/>
          </a:bodyPr>
          <a:lstStyle/>
          <a:p>
            <a:pPr marL="0" lvl="0" indent="0">
              <a:buNone/>
            </a:pPr>
            <a:r>
              <a:rPr lang="en-US" sz="3800">
                <a:solidFill>
                  <a:srgbClr val="FFFFFF"/>
                </a:solidFill>
              </a:rPr>
              <a:t>Where “current evidence” comes from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940091"/>
                <a:ext cx="7886700" cy="2692631"/>
              </a:xfrm>
            </p:spPr>
            <p:txBody>
              <a:bodyPr>
                <a:normAutofit/>
              </a:bodyPr>
              <a:lstStyle/>
              <a:p>
                <a:pPr marL="0" lvl="0" indent="0">
                  <a:buNone/>
                </a:pPr>
                <a:r>
                  <a:rPr lang="en-US" sz="1700"/>
                  <a:t>We will combine two sources:</a:t>
                </a:r>
              </a:p>
              <a:p>
                <a:pPr marL="342900" lvl="0" indent="-342900">
                  <a:buAutoNum type="arabicParenR"/>
                </a:pPr>
                <a:r>
                  <a:rPr lang="en-US" sz="1700" b="1"/>
                  <a:t>Historical trials</a:t>
                </a:r>
                <a:r>
                  <a:rPr lang="en-US" sz="1700"/>
                  <a:t> (e.g., 27 ICB studies) that report both endpoints</a:t>
                </a:r>
              </a:p>
              <a:p>
                <a:pPr lvl="1"/>
                <a14:m>
                  <m:oMath xmlns:m="http://schemas.openxmlformats.org/officeDocument/2006/math">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𝑂𝑆</m:t>
                        </m:r>
                      </m:sub>
                    </m:sSub>
                    <m:r>
                      <a:rPr lang="ar-AE" sz="1700">
                        <a:latin typeface="Cambria Math" panose="02040503050406030204" pitchFamily="18" charset="0"/>
                      </a:rPr>
                      <m:t>=</m:t>
                    </m:r>
                    <m:r>
                      <m:rPr>
                        <m:sty m:val="p"/>
                      </m:rPr>
                      <a:rPr lang="en-US" sz="1700">
                        <a:latin typeface="Cambria Math" panose="02040503050406030204" pitchFamily="18" charset="0"/>
                      </a:rPr>
                      <m:t>log</m:t>
                    </m:r>
                    <m:d>
                      <m:dPr>
                        <m:ctrlPr>
                          <a:rPr lang="ar-AE" sz="1700" i="1">
                            <a:latin typeface="Cambria Math" panose="02040503050406030204" pitchFamily="18" charset="0"/>
                          </a:rPr>
                        </m:ctrlPr>
                      </m:dPr>
                      <m:e>
                        <m:r>
                          <a:rPr lang="ar-AE" sz="1700">
                            <a:latin typeface="Cambria Math" panose="02040503050406030204" pitchFamily="18" charset="0"/>
                          </a:rPr>
                          <m:t>𝐻</m:t>
                        </m:r>
                        <m:sSub>
                          <m:sSubPr>
                            <m:ctrlPr>
                              <a:rPr lang="ar-AE" sz="1700" i="1">
                                <a:latin typeface="Cambria Math" panose="02040503050406030204" pitchFamily="18" charset="0"/>
                              </a:rPr>
                            </m:ctrlPr>
                          </m:sSubPr>
                          <m:e>
                            <m:r>
                              <a:rPr lang="ar-AE" sz="1700">
                                <a:latin typeface="Cambria Math" panose="02040503050406030204" pitchFamily="18" charset="0"/>
                              </a:rPr>
                              <m:t>𝑅</m:t>
                            </m:r>
                          </m:e>
                          <m:sub>
                            <m:r>
                              <a:rPr lang="ar-AE" sz="1700">
                                <a:latin typeface="Cambria Math" panose="02040503050406030204" pitchFamily="18" charset="0"/>
                              </a:rPr>
                              <m:t>𝑂𝑆</m:t>
                            </m:r>
                            <m:r>
                              <a:rPr lang="ar-AE" sz="1700">
                                <a:latin typeface="Cambria Math" panose="02040503050406030204" pitchFamily="18" charset="0"/>
                              </a:rPr>
                              <m:t>,</m:t>
                            </m:r>
                            <m:r>
                              <a:rPr lang="ar-AE" sz="1700">
                                <a:latin typeface="Cambria Math" panose="02040503050406030204" pitchFamily="18" charset="0"/>
                              </a:rPr>
                              <m:t>𝑖</m:t>
                            </m:r>
                          </m:sub>
                        </m:sSub>
                      </m:e>
                    </m:d>
                  </m:oMath>
                </a14:m>
                <a:r>
                  <a:rPr lang="ar-AE" sz="1700"/>
                  <a:t>, </a:t>
                </a:r>
                <a14:m>
                  <m:oMath xmlns:m="http://schemas.openxmlformats.org/officeDocument/2006/math">
                    <m:r>
                      <a:rPr lang="ar-AE" sz="1700">
                        <a:latin typeface="Cambria Math" panose="02040503050406030204" pitchFamily="18" charset="0"/>
                      </a:rPr>
                      <m:t>𝑠</m:t>
                    </m:r>
                    <m:sSub>
                      <m:sSubPr>
                        <m:ctrlPr>
                          <a:rPr lang="ar-AE" sz="1700" i="1">
                            <a:latin typeface="Cambria Math" panose="02040503050406030204" pitchFamily="18" charset="0"/>
                          </a:rPr>
                        </m:ctrlPr>
                      </m:sSubPr>
                      <m:e>
                        <m:r>
                          <a:rPr lang="ar-AE" sz="1700">
                            <a:latin typeface="Cambria Math" panose="02040503050406030204" pitchFamily="18" charset="0"/>
                          </a:rPr>
                          <m:t>𝑒</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𝑂𝑆</m:t>
                        </m:r>
                      </m:sub>
                    </m:sSub>
                  </m:oMath>
                </a14:m>
                <a:endParaRPr lang="ar-AE" sz="1700"/>
              </a:p>
              <a:p>
                <a:pPr lvl="1"/>
                <a14:m>
                  <m:oMath xmlns:m="http://schemas.openxmlformats.org/officeDocument/2006/math">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𝑃𝐹𝑆</m:t>
                        </m:r>
                      </m:sub>
                    </m:sSub>
                    <m:r>
                      <a:rPr lang="ar-AE" sz="1700">
                        <a:latin typeface="Cambria Math" panose="02040503050406030204" pitchFamily="18" charset="0"/>
                      </a:rPr>
                      <m:t>=</m:t>
                    </m:r>
                    <m:r>
                      <m:rPr>
                        <m:sty m:val="p"/>
                      </m:rPr>
                      <a:rPr lang="en-US" sz="1700">
                        <a:latin typeface="Cambria Math" panose="02040503050406030204" pitchFamily="18" charset="0"/>
                      </a:rPr>
                      <m:t>log</m:t>
                    </m:r>
                    <m:d>
                      <m:dPr>
                        <m:ctrlPr>
                          <a:rPr lang="ar-AE" sz="1700" i="1">
                            <a:latin typeface="Cambria Math" panose="02040503050406030204" pitchFamily="18" charset="0"/>
                          </a:rPr>
                        </m:ctrlPr>
                      </m:dPr>
                      <m:e>
                        <m:r>
                          <a:rPr lang="ar-AE" sz="1700">
                            <a:latin typeface="Cambria Math" panose="02040503050406030204" pitchFamily="18" charset="0"/>
                          </a:rPr>
                          <m:t>𝐻</m:t>
                        </m:r>
                        <m:sSub>
                          <m:sSubPr>
                            <m:ctrlPr>
                              <a:rPr lang="ar-AE" sz="1700" i="1">
                                <a:latin typeface="Cambria Math" panose="02040503050406030204" pitchFamily="18" charset="0"/>
                              </a:rPr>
                            </m:ctrlPr>
                          </m:sSubPr>
                          <m:e>
                            <m:r>
                              <a:rPr lang="ar-AE" sz="1700">
                                <a:latin typeface="Cambria Math" panose="02040503050406030204" pitchFamily="18" charset="0"/>
                              </a:rPr>
                              <m:t>𝑅</m:t>
                            </m:r>
                          </m:e>
                          <m:sub>
                            <m:r>
                              <a:rPr lang="ar-AE" sz="1700">
                                <a:latin typeface="Cambria Math" panose="02040503050406030204" pitchFamily="18" charset="0"/>
                              </a:rPr>
                              <m:t>𝑃𝐹𝑆</m:t>
                            </m:r>
                            <m:r>
                              <a:rPr lang="ar-AE" sz="1700">
                                <a:latin typeface="Cambria Math" panose="02040503050406030204" pitchFamily="18" charset="0"/>
                              </a:rPr>
                              <m:t>,</m:t>
                            </m:r>
                            <m:r>
                              <a:rPr lang="ar-AE" sz="1700">
                                <a:latin typeface="Cambria Math" panose="02040503050406030204" pitchFamily="18" charset="0"/>
                              </a:rPr>
                              <m:t>𝑖</m:t>
                            </m:r>
                          </m:sub>
                        </m:sSub>
                      </m:e>
                    </m:d>
                  </m:oMath>
                </a14:m>
                <a:r>
                  <a:rPr lang="ar-AE" sz="1700"/>
                  <a:t>, </a:t>
                </a:r>
                <a14:m>
                  <m:oMath xmlns:m="http://schemas.openxmlformats.org/officeDocument/2006/math">
                    <m:r>
                      <a:rPr lang="ar-AE" sz="1700">
                        <a:latin typeface="Cambria Math" panose="02040503050406030204" pitchFamily="18" charset="0"/>
                      </a:rPr>
                      <m:t>𝑠</m:t>
                    </m:r>
                    <m:sSub>
                      <m:sSubPr>
                        <m:ctrlPr>
                          <a:rPr lang="ar-AE" sz="1700" i="1">
                            <a:latin typeface="Cambria Math" panose="02040503050406030204" pitchFamily="18" charset="0"/>
                          </a:rPr>
                        </m:ctrlPr>
                      </m:sSubPr>
                      <m:e>
                        <m:r>
                          <a:rPr lang="ar-AE" sz="1700">
                            <a:latin typeface="Cambria Math" panose="02040503050406030204" pitchFamily="18" charset="0"/>
                          </a:rPr>
                          <m:t>𝑒</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𝑃𝐹𝑆</m:t>
                        </m:r>
                      </m:sub>
                    </m:sSub>
                  </m:oMath>
                </a14:m>
                <a:endParaRPr lang="ar-AE" sz="1700"/>
              </a:p>
              <a:p>
                <a:pPr marL="342900" lvl="0" indent="-342900">
                  <a:buAutoNum type="arabicParenR"/>
                </a:pPr>
                <a:r>
                  <a:rPr lang="en-US" sz="1700" b="1"/>
                  <a:t>Current trial’s PFS</a:t>
                </a:r>
                <a:r>
                  <a:rPr lang="en-US" sz="1700"/>
                  <a:t> (available now)</a:t>
                </a:r>
              </a:p>
              <a:p>
                <a:pPr lvl="1"/>
                <a14:m>
                  <m:oMath xmlns:m="http://schemas.openxmlformats.org/officeDocument/2006/math">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𝑐</m:t>
                        </m:r>
                      </m:sub>
                    </m:sSub>
                    <m:r>
                      <a:rPr lang="ar-AE" sz="1700">
                        <a:latin typeface="Cambria Math" panose="02040503050406030204" pitchFamily="18" charset="0"/>
                      </a:rPr>
                      <m:t>=</m:t>
                    </m:r>
                    <m:r>
                      <m:rPr>
                        <m:sty m:val="p"/>
                      </m:rPr>
                      <a:rPr lang="en-US" sz="1700">
                        <a:latin typeface="Cambria Math" panose="02040503050406030204" pitchFamily="18" charset="0"/>
                      </a:rPr>
                      <m:t>log</m:t>
                    </m:r>
                    <m:d>
                      <m:dPr>
                        <m:ctrlPr>
                          <a:rPr lang="ar-AE" sz="1700" i="1">
                            <a:latin typeface="Cambria Math" panose="02040503050406030204" pitchFamily="18" charset="0"/>
                          </a:rPr>
                        </m:ctrlPr>
                      </m:dPr>
                      <m:e>
                        <m:r>
                          <a:rPr lang="ar-AE" sz="1700">
                            <a:latin typeface="Cambria Math" panose="02040503050406030204" pitchFamily="18" charset="0"/>
                          </a:rPr>
                          <m:t>𝐻</m:t>
                        </m:r>
                        <m:sSub>
                          <m:sSubPr>
                            <m:ctrlPr>
                              <a:rPr lang="ar-AE" sz="1700" i="1">
                                <a:latin typeface="Cambria Math" panose="02040503050406030204" pitchFamily="18" charset="0"/>
                              </a:rPr>
                            </m:ctrlPr>
                          </m:sSubPr>
                          <m:e>
                            <m:r>
                              <a:rPr lang="ar-AE" sz="1700">
                                <a:latin typeface="Cambria Math" panose="02040503050406030204" pitchFamily="18" charset="0"/>
                              </a:rPr>
                              <m:t>𝑅</m:t>
                            </m:r>
                          </m:e>
                          <m:sub>
                            <m:r>
                              <a:rPr lang="ar-AE" sz="1700">
                                <a:latin typeface="Cambria Math" panose="02040503050406030204" pitchFamily="18" charset="0"/>
                              </a:rPr>
                              <m:t>𝑃𝐹𝑆</m:t>
                            </m:r>
                          </m:sub>
                        </m:sSub>
                      </m:e>
                    </m:d>
                  </m:oMath>
                </a14:m>
                <a:r>
                  <a:rPr lang="ar-AE" sz="1700"/>
                  <a:t>, </a:t>
                </a:r>
                <a14:m>
                  <m:oMath xmlns:m="http://schemas.openxmlformats.org/officeDocument/2006/math">
                    <m:r>
                      <a:rPr lang="ar-AE" sz="1700">
                        <a:latin typeface="Cambria Math" panose="02040503050406030204" pitchFamily="18" charset="0"/>
                      </a:rPr>
                      <m:t>𝑠</m:t>
                    </m:r>
                    <m:sSub>
                      <m:sSubPr>
                        <m:ctrlPr>
                          <a:rPr lang="ar-AE" sz="1700" i="1">
                            <a:latin typeface="Cambria Math" panose="02040503050406030204" pitchFamily="18" charset="0"/>
                          </a:rPr>
                        </m:ctrlPr>
                      </m:sSubPr>
                      <m:e>
                        <m:r>
                          <a:rPr lang="ar-AE" sz="1700">
                            <a:latin typeface="Cambria Math" panose="02040503050406030204" pitchFamily="18" charset="0"/>
                          </a:rPr>
                          <m:t>𝑒</m:t>
                        </m:r>
                      </m:e>
                      <m:sub>
                        <m:r>
                          <a:rPr lang="ar-AE" sz="1700">
                            <a:latin typeface="Cambria Math" panose="02040503050406030204" pitchFamily="18" charset="0"/>
                          </a:rPr>
                          <m:t>𝑐</m:t>
                        </m:r>
                      </m:sub>
                    </m:sSub>
                  </m:oMath>
                </a14:m>
                <a:endParaRPr lang="ar-AE" sz="1700"/>
              </a:p>
              <a:p>
                <a:pPr marL="0" lvl="0" indent="0">
                  <a:buNone/>
                </a:pPr>
                <a:r>
                  <a:rPr lang="en-US" sz="1700"/>
                  <a:t>Goal: obtain </a:t>
                </a:r>
                <a14:m>
                  <m:oMath xmlns:m="http://schemas.openxmlformats.org/officeDocument/2006/math">
                    <m:sSubSup>
                      <m:sSubSupPr>
                        <m:ctrlPr>
                          <a:rPr lang="ar-AE" sz="1700" i="1">
                            <a:latin typeface="Cambria Math" panose="02040503050406030204" pitchFamily="18" charset="0"/>
                          </a:rPr>
                        </m:ctrlPr>
                      </m:sSubSupPr>
                      <m:e>
                        <m:r>
                          <a:rPr lang="ar-AE" sz="1700">
                            <a:latin typeface="Cambria Math" panose="02040503050406030204" pitchFamily="18" charset="0"/>
                          </a:rPr>
                          <m:t>𝜃</m:t>
                        </m:r>
                      </m:e>
                      <m:sub>
                        <m:r>
                          <a:rPr lang="ar-AE" sz="1700">
                            <a:latin typeface="Cambria Math" panose="02040503050406030204" pitchFamily="18" charset="0"/>
                          </a:rPr>
                          <m:t>𝑂𝑆</m:t>
                        </m:r>
                      </m:sub>
                      <m:sup>
                        <m:r>
                          <a:rPr lang="ar-AE" sz="1700">
                            <a:latin typeface="Cambria Math" panose="02040503050406030204" pitchFamily="18" charset="0"/>
                          </a:rPr>
                          <m:t>∗</m:t>
                        </m:r>
                      </m:sup>
                    </m:sSubSup>
                    <m:r>
                      <a:rPr lang="ar-AE" sz="1700">
                        <a:latin typeface="Cambria Math" panose="02040503050406030204" pitchFamily="18" charset="0"/>
                      </a:rPr>
                      <m:t>∣</m:t>
                    </m:r>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𝑐</m:t>
                        </m:r>
                      </m:sub>
                    </m:sSub>
                  </m:oMath>
                </a14:m>
                <a:r>
                  <a:rPr lang="ar-AE" sz="1700"/>
                  <a:t> (</a:t>
                </a:r>
                <a:r>
                  <a:rPr lang="en-US" sz="1700"/>
                  <a:t>predictive distribution for the current trial’s </a:t>
                </a:r>
                <a:r>
                  <a:rPr lang="en-US" sz="1700" i="1"/>
                  <a:t>true</a:t>
                </a:r>
                <a:r>
                  <a:rPr lang="en-US" sz="1700"/>
                  <a:t> OS effect), then compute PoS.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940091"/>
                <a:ext cx="7886700" cy="2692631"/>
              </a:xfrm>
              <a:blipFill>
                <a:blip r:embed="rId2"/>
                <a:stretch>
                  <a:fillRect l="-482" t="-469"/>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760560"/>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300915"/>
            <a:ext cx="7886700" cy="1011049"/>
          </a:xfrm>
        </p:spPr>
        <p:txBody>
          <a:bodyPr>
            <a:normAutofit/>
          </a:bodyPr>
          <a:lstStyle/>
          <a:p>
            <a:pPr marL="0" lvl="0" indent="0">
              <a:buNone/>
            </a:pPr>
            <a:r>
              <a:rPr lang="en-US" sz="4100">
                <a:solidFill>
                  <a:srgbClr val="FFFFFF"/>
                </a:solidFill>
              </a:rPr>
              <a:t>Model (concept picture)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940091"/>
                <a:ext cx="7886700" cy="2692631"/>
              </a:xfrm>
            </p:spPr>
            <p:txBody>
              <a:bodyPr>
                <a:normAutofit/>
              </a:bodyPr>
              <a:lstStyle/>
              <a:p>
                <a:pPr marL="0" lvl="0" indent="0">
                  <a:lnSpc>
                    <a:spcPct val="90000"/>
                  </a:lnSpc>
                  <a:buNone/>
                </a:pPr>
                <a:r>
                  <a:rPr lang="en-US" sz="1600"/>
                  <a:t>Two layers:</a:t>
                </a:r>
              </a:p>
              <a:p>
                <a:pPr lvl="0">
                  <a:lnSpc>
                    <a:spcPct val="90000"/>
                  </a:lnSpc>
                </a:pPr>
                <a:r>
                  <a:rPr lang="en-US" sz="1600" b="1"/>
                  <a:t>Between-study layer (true effects differ across trials):</a:t>
                </a:r>
              </a:p>
              <a:p>
                <a:pPr marL="0" lvl="0" indent="0">
                  <a:lnSpc>
                    <a:spcPct val="90000"/>
                  </a:lnSpc>
                  <a:buNone/>
                </a:pPr>
                <a14:m>
                  <m:oMathPara xmlns:m="http://schemas.openxmlformats.org/officeDocument/2006/math">
                    <m:oMathParaPr>
                      <m:jc m:val="center"/>
                    </m:oMathParaPr>
                    <m:oMath xmlns:m="http://schemas.openxmlformats.org/officeDocument/2006/math">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𝑃𝐹𝑆</m:t>
                                  </m:r>
                                </m:sub>
                              </m:sSub>
                            </m:e>
                          </m:d>
                        </m:e>
                        <m:sup>
                          <m:r>
                            <a:rPr lang="ar-AE" sz="1600">
                              <a:latin typeface="Cambria Math" panose="02040503050406030204" pitchFamily="18" charset="0"/>
                            </a:rPr>
                            <m:t>⊤</m:t>
                          </m:r>
                        </m:sup>
                      </m:sSup>
                      <m:r>
                        <a:rPr lang="ar-AE" sz="1600">
                          <a:latin typeface="Cambria Math" panose="02040503050406030204" pitchFamily="18" charset="0"/>
                        </a:rPr>
                        <m:t>∼</m:t>
                      </m:r>
                      <m:r>
                        <m:rPr>
                          <m:nor/>
                        </m:rPr>
                        <a:rPr lang="en-US" sz="1600"/>
                        <m:t>MVN</m:t>
                      </m:r>
                      <m:d>
                        <m:dPr>
                          <m:ctrlPr>
                            <a:rPr lang="ar-AE" sz="1600" i="1">
                              <a:latin typeface="Cambria Math" panose="02040503050406030204" pitchFamily="18" charset="0"/>
                            </a:rPr>
                          </m:ctrlPr>
                        </m:dPr>
                        <m:e>
                          <m:r>
                            <a:rPr lang="ar-AE" sz="1600">
                              <a:latin typeface="Cambria Math" panose="02040503050406030204" pitchFamily="18" charset="0"/>
                            </a:rPr>
                            <m:t>𝜇</m:t>
                          </m:r>
                          <m:r>
                            <a:rPr lang="ar-AE" sz="1600">
                              <a:latin typeface="Cambria Math" panose="02040503050406030204" pitchFamily="18" charset="0"/>
                            </a:rPr>
                            <m:t>, </m:t>
                          </m:r>
                          <m:sSub>
                            <m:sSubPr>
                              <m:ctrlPr>
                                <a:rPr lang="ar-AE" sz="1600" i="1">
                                  <a:latin typeface="Cambria Math" panose="02040503050406030204" pitchFamily="18" charset="0"/>
                                </a:rPr>
                              </m:ctrlPr>
                            </m:sSubPr>
                            <m:e>
                              <m:r>
                                <a:rPr lang="ar-AE" sz="1600">
                                  <a:latin typeface="Cambria Math" panose="02040503050406030204" pitchFamily="18" charset="0"/>
                                </a:rPr>
                                <m:t>𝛴</m:t>
                              </m:r>
                            </m:e>
                            <m:sub>
                              <m:r>
                                <a:rPr lang="ar-AE" sz="1600">
                                  <a:latin typeface="Cambria Math" panose="02040503050406030204" pitchFamily="18" charset="0"/>
                                </a:rPr>
                                <m:t>𝑏𝑒𝑡𝑤𝑒𝑒𝑛</m:t>
                              </m:r>
                            </m:sub>
                          </m:sSub>
                        </m:e>
                      </m:d>
                    </m:oMath>
                  </m:oMathPara>
                </a14:m>
                <a:endParaRPr lang="ar-AE" sz="1600" b="1"/>
              </a:p>
              <a:p>
                <a:pPr lvl="0">
                  <a:lnSpc>
                    <a:spcPct val="90000"/>
                  </a:lnSpc>
                </a:pPr>
                <a:r>
                  <a:rPr lang="en-US" sz="1600" b="1"/>
                  <a:t>Within-study layer (estimation error):</a:t>
                </a:r>
              </a:p>
              <a:p>
                <a:pPr marL="0" lvl="0" indent="0">
                  <a:lnSpc>
                    <a:spcPct val="90000"/>
                  </a:lnSpc>
                  <a:buNone/>
                </a:pPr>
                <a14:m>
                  <m:oMathPara xmlns:m="http://schemas.openxmlformats.org/officeDocument/2006/math">
                    <m:oMathParaPr>
                      <m:jc m:val="center"/>
                    </m:oMathParaPr>
                    <m:oMath xmlns:m="http://schemas.openxmlformats.org/officeDocument/2006/math">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𝑦</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𝑦</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𝑃𝐹𝑆</m:t>
                                  </m:r>
                                </m:sub>
                              </m:sSub>
                            </m:e>
                          </m:d>
                        </m:e>
                        <m:sup>
                          <m:r>
                            <a:rPr lang="ar-AE" sz="1600">
                              <a:latin typeface="Cambria Math" panose="02040503050406030204" pitchFamily="18" charset="0"/>
                            </a:rPr>
                            <m:t>⊤</m:t>
                          </m:r>
                        </m:sup>
                      </m:sSup>
                      <m:r>
                        <a:rPr lang="ar-AE" sz="1600">
                          <a:latin typeface="Cambria Math" panose="02040503050406030204" pitchFamily="18" charset="0"/>
                        </a:rPr>
                        <m:t>∼</m:t>
                      </m:r>
                      <m:r>
                        <m:rPr>
                          <m:nor/>
                        </m:rPr>
                        <a:rPr lang="en-US" sz="1600"/>
                        <m:t>MVN</m:t>
                      </m:r>
                      <m:d>
                        <m:dPr>
                          <m:ctrlPr>
                            <a:rPr lang="ar-AE" sz="1600" i="1">
                              <a:latin typeface="Cambria Math" panose="02040503050406030204" pitchFamily="18" charset="0"/>
                            </a:rPr>
                          </m:ctrlPr>
                        </m:dPr>
                        <m:e>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𝑃𝐹𝑆</m:t>
                                      </m:r>
                                    </m:sub>
                                  </m:sSub>
                                </m:e>
                              </m:d>
                            </m:e>
                            <m:sup>
                              <m:r>
                                <a:rPr lang="ar-AE" sz="1600">
                                  <a:latin typeface="Cambria Math" panose="02040503050406030204" pitchFamily="18" charset="0"/>
                                </a:rPr>
                                <m:t>⊤</m:t>
                              </m:r>
                            </m:sup>
                          </m:sSup>
                          <m:r>
                            <a:rPr lang="ar-AE" sz="1600">
                              <a:latin typeface="Cambria Math" panose="02040503050406030204" pitchFamily="18" charset="0"/>
                            </a:rPr>
                            <m:t>, </m:t>
                          </m:r>
                          <m:sSub>
                            <m:sSubPr>
                              <m:ctrlPr>
                                <a:rPr lang="ar-AE" sz="1600" i="1">
                                  <a:latin typeface="Cambria Math" panose="02040503050406030204" pitchFamily="18" charset="0"/>
                                </a:rPr>
                              </m:ctrlPr>
                            </m:sSubPr>
                            <m:e>
                              <m:r>
                                <a:rPr lang="ar-AE" sz="1600">
                                  <a:latin typeface="Cambria Math" panose="02040503050406030204" pitchFamily="18" charset="0"/>
                                </a:rPr>
                                <m:t>𝛴</m:t>
                              </m:r>
                            </m:e>
                            <m:sub>
                              <m:r>
                                <a:rPr lang="ar-AE" sz="1600">
                                  <a:latin typeface="Cambria Math" panose="02040503050406030204" pitchFamily="18" charset="0"/>
                                </a:rPr>
                                <m:t>𝑤𝑖𝑡h𝑖𝑛</m:t>
                              </m:r>
                              <m:r>
                                <a:rPr lang="ar-AE" sz="1600">
                                  <a:latin typeface="Cambria Math" panose="02040503050406030204" pitchFamily="18" charset="0"/>
                                </a:rPr>
                                <m:t>,</m:t>
                              </m:r>
                              <m:r>
                                <a:rPr lang="ar-AE" sz="1600">
                                  <a:latin typeface="Cambria Math" panose="02040503050406030204" pitchFamily="18" charset="0"/>
                                </a:rPr>
                                <m:t>𝑖</m:t>
                              </m:r>
                            </m:sub>
                          </m:sSub>
                        </m:e>
                      </m:d>
                    </m:oMath>
                  </m:oMathPara>
                </a14:m>
                <a:endParaRPr lang="ar-AE" sz="1600" b="1"/>
              </a:p>
              <a:p>
                <a:pPr marL="0" lvl="0" indent="0">
                  <a:lnSpc>
                    <a:spcPct val="90000"/>
                  </a:lnSpc>
                  <a:buNone/>
                </a:pPr>
                <a:r>
                  <a:rPr lang="en-US" sz="1600"/>
                  <a:t>Key parameters:</a:t>
                </a:r>
              </a:p>
              <a:p>
                <a:pPr lvl="0">
                  <a:lnSpc>
                    <a:spcPct val="90000"/>
                  </a:lnSpc>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𝜇</m:t>
                        </m:r>
                      </m:e>
                      <m:sub>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𝜇</m:t>
                        </m:r>
                      </m:e>
                      <m:sub>
                        <m:r>
                          <a:rPr lang="ar-AE" sz="1600">
                            <a:latin typeface="Cambria Math" panose="02040503050406030204" pitchFamily="18" charset="0"/>
                          </a:rPr>
                          <m:t>𝑃𝐹𝑆</m:t>
                        </m:r>
                      </m:sub>
                    </m:sSub>
                  </m:oMath>
                </a14:m>
                <a:r>
                  <a:rPr lang="ar-AE" sz="1600"/>
                  <a:t>: </a:t>
                </a:r>
                <a:r>
                  <a:rPr lang="en-US" sz="1600"/>
                  <a:t>average (logHR) effects across trials</a:t>
                </a:r>
              </a:p>
              <a:p>
                <a:pPr lvl="0">
                  <a:lnSpc>
                    <a:spcPct val="90000"/>
                  </a:lnSpc>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𝜏</m:t>
                        </m:r>
                      </m:e>
                      <m:sub>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𝜏</m:t>
                        </m:r>
                      </m:e>
                      <m:sub>
                        <m:r>
                          <a:rPr lang="ar-AE" sz="1600">
                            <a:latin typeface="Cambria Math" panose="02040503050406030204" pitchFamily="18" charset="0"/>
                          </a:rPr>
                          <m:t>𝑃𝐹𝑆</m:t>
                        </m:r>
                      </m:sub>
                    </m:sSub>
                  </m:oMath>
                </a14:m>
                <a:r>
                  <a:rPr lang="ar-AE" sz="1600"/>
                  <a:t>: </a:t>
                </a:r>
                <a:r>
                  <a:rPr lang="en-US" sz="1600"/>
                  <a:t>between-study SDs (heterogeneity)</a:t>
                </a:r>
              </a:p>
              <a:p>
                <a:pPr lvl="0">
                  <a:lnSpc>
                    <a:spcPct val="90000"/>
                  </a:lnSpc>
                </a:pPr>
                <a14:m>
                  <m:oMath xmlns:m="http://schemas.openxmlformats.org/officeDocument/2006/math">
                    <m:r>
                      <a:rPr lang="en-US" sz="1600">
                        <a:latin typeface="Cambria Math" panose="02040503050406030204" pitchFamily="18" charset="0"/>
                      </a:rPr>
                      <m:t>𝜌</m:t>
                    </m:r>
                  </m:oMath>
                </a14:m>
                <a:r>
                  <a:rPr lang="en-US" sz="1600"/>
                  <a:t>: correlation between true OS and true PFS effects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940091"/>
                <a:ext cx="7886700" cy="2692631"/>
              </a:xfrm>
              <a:blipFill>
                <a:blip r:embed="rId3"/>
                <a:stretch>
                  <a:fillRect l="-322" t="-1408"/>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Conditioning: OS effect given observed PFS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0000" lnSpcReduction="20000"/>
              </a:bodyPr>
              <a:lstStyle/>
              <a:p>
                <a:pPr marL="0" lvl="0" indent="0">
                  <a:buNone/>
                </a:pPr>
                <a:r>
                  <a:rPr dirty="0"/>
                  <a:t>Treat the current trial’s true effects </a:t>
                </a:r>
                <a14:m>
                  <m:oMath xmlns:m="http://schemas.openxmlformats.org/officeDocument/2006/math">
                    <m:d>
                      <m:dPr>
                        <m:ctrlPr>
                          <a:rPr i="1">
                            <a:latin typeface="Cambria Math" panose="02040503050406030204" pitchFamily="18" charset="0"/>
                          </a:rPr>
                        </m:ctrlPr>
                      </m:dPr>
                      <m:e>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𝑂𝑆</m:t>
                            </m:r>
                          </m:sub>
                          <m:sup>
                            <m:r>
                              <a:rPr>
                                <a:latin typeface="Cambria Math" panose="02040503050406030204" pitchFamily="18" charset="0"/>
                              </a:rPr>
                              <m:t>∗</m:t>
                            </m:r>
                          </m:sup>
                        </m:sSubSup>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𝑃𝐹𝑆</m:t>
                            </m:r>
                          </m:sub>
                          <m:sup>
                            <m:r>
                              <a:rPr>
                                <a:latin typeface="Cambria Math" panose="02040503050406030204" pitchFamily="18" charset="0"/>
                              </a:rPr>
                              <m:t>∗</m:t>
                            </m:r>
                          </m:sup>
                        </m:sSubSup>
                      </m:e>
                    </m:d>
                  </m:oMath>
                </a14:m>
                <a:r>
                  <a:rPr dirty="0"/>
                  <a:t> as a draw from the same between-study distribution.</a:t>
                </a:r>
              </a:p>
              <a:p>
                <a:pPr marL="0" lvl="0" indent="0">
                  <a:buNone/>
                </a:pPr>
                <a:r>
                  <a:rPr dirty="0"/>
                  <a:t>Observation model for current PFS:</a:t>
                </a:r>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sub>
                      </m:sSub>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𝑃𝐹𝑆</m:t>
                          </m:r>
                        </m:sub>
                        <m:sup>
                          <m:r>
                            <a:rPr>
                              <a:latin typeface="Cambria Math" panose="02040503050406030204" pitchFamily="18" charset="0"/>
                            </a:rPr>
                            <m:t>∗</m:t>
                          </m:r>
                        </m:sup>
                      </m:sSubSup>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, </m:t>
                      </m:r>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𝒩</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𝑠</m:t>
                          </m:r>
                          <m:sSubSup>
                            <m:sSubSupPr>
                              <m:ctrlPr>
                                <a:rPr i="1">
                                  <a:latin typeface="Cambria Math" panose="02040503050406030204" pitchFamily="18" charset="0"/>
                                </a:rPr>
                              </m:ctrlPr>
                            </m:sSubSupPr>
                            <m:e>
                              <m:r>
                                <a:rPr>
                                  <a:latin typeface="Cambria Math" panose="02040503050406030204" pitchFamily="18" charset="0"/>
                                </a:rPr>
                                <m:t>𝑒</m:t>
                              </m:r>
                            </m:e>
                            <m:sub>
                              <m:r>
                                <a:rPr>
                                  <a:latin typeface="Cambria Math" panose="02040503050406030204" pitchFamily="18" charset="0"/>
                                </a:rPr>
                                <m:t>𝑐</m:t>
                              </m:r>
                            </m:sub>
                            <m:sup>
                              <m:r>
                                <a:rPr>
                                  <a:latin typeface="Cambria Math" panose="02040503050406030204" pitchFamily="18" charset="0"/>
                                </a:rPr>
                                <m:t>2</m:t>
                              </m:r>
                            </m:sup>
                          </m:sSubSup>
                        </m:e>
                      </m:d>
                    </m:oMath>
                  </m:oMathPara>
                </a14:m>
                <a:endParaRPr lang="en-US" dirty="0"/>
              </a:p>
              <a:p>
                <a:pPr marL="0" lvl="0" indent="0">
                  <a:buNone/>
                </a:pPr>
                <a:endParaRPr dirty="0"/>
              </a:p>
              <a:p>
                <a:pPr marL="0" lvl="0" indent="0">
                  <a:buNone/>
                </a:pPr>
                <a:r>
                  <a:rPr dirty="0"/>
                  <a:t>If </a:t>
                </a:r>
                <a14:m>
                  <m:oMath xmlns:m="http://schemas.openxmlformats.org/officeDocument/2006/math">
                    <m:d>
                      <m:dPr>
                        <m:ctrlPr>
                          <a:rPr i="1">
                            <a:latin typeface="Cambria Math" panose="02040503050406030204" pitchFamily="18" charset="0"/>
                          </a:rPr>
                        </m:ctrlPr>
                      </m:dPr>
                      <m:e>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𝑂𝑆</m:t>
                            </m:r>
                          </m:sub>
                          <m:sup>
                            <m:r>
                              <a:rPr>
                                <a:latin typeface="Cambria Math" panose="02040503050406030204" pitchFamily="18" charset="0"/>
                              </a:rPr>
                              <m:t>∗</m:t>
                            </m:r>
                          </m:sup>
                        </m:sSubSup>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𝑃𝐹𝑆</m:t>
                            </m:r>
                          </m:sub>
                          <m:sup>
                            <m:r>
                              <a:rPr>
                                <a:latin typeface="Cambria Math" panose="02040503050406030204" pitchFamily="18" charset="0"/>
                              </a:rPr>
                              <m:t>∗</m:t>
                            </m:r>
                          </m:sup>
                        </m:sSubSup>
                      </m:e>
                    </m:d>
                    <m:r>
                      <a:rPr>
                        <a:latin typeface="Cambria Math" panose="02040503050406030204" pitchFamily="18" charset="0"/>
                      </a:rPr>
                      <m:t>∼</m:t>
                    </m:r>
                    <m:r>
                      <m:rPr>
                        <m:nor/>
                      </m:rPr>
                      <a:rPr/>
                      <m:t>MVN</m:t>
                    </m:r>
                    <m:d>
                      <m:dPr>
                        <m:ctrlPr>
                          <a:rPr i="1">
                            <a:latin typeface="Cambria Math" panose="02040503050406030204" pitchFamily="18" charset="0"/>
                          </a:rPr>
                        </m:ctrlPr>
                      </m:dPr>
                      <m:e>
                        <m:r>
                          <a:rPr>
                            <a:latin typeface="Cambria Math" panose="02040503050406030204" pitchFamily="18" charset="0"/>
                          </a:rPr>
                          <m:t>𝜇</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𝛴</m:t>
                            </m:r>
                          </m:e>
                          <m:sub>
                            <m:r>
                              <a:rPr>
                                <a:latin typeface="Cambria Math" panose="02040503050406030204" pitchFamily="18" charset="0"/>
                              </a:rPr>
                              <m:t>𝑏𝑒𝑡𝑤𝑒𝑒𝑛</m:t>
                            </m:r>
                          </m:sub>
                        </m:sSub>
                      </m:e>
                    </m:d>
                  </m:oMath>
                </a14:m>
                <a:r>
                  <a:rPr dirty="0"/>
                  <a:t>, then:</a:t>
                </a:r>
              </a:p>
              <a:p>
                <a:pPr marL="0" lvl="0" indent="0">
                  <a:buNone/>
                </a:pPr>
                <a14:m>
                  <m:oMathPara xmlns:m="http://schemas.openxmlformats.org/officeDocument/2006/math">
                    <m:oMathParaPr>
                      <m:jc m:val="center"/>
                    </m:oMathParaPr>
                    <m:oMath xmlns:m="http://schemas.openxmlformats.org/officeDocument/2006/math">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𝑂𝑆</m:t>
                          </m:r>
                        </m:sub>
                        <m:sup>
                          <m:r>
                            <a:rPr>
                              <a:latin typeface="Cambria Math" panose="02040503050406030204" pitchFamily="18" charset="0"/>
                            </a:rPr>
                            <m:t>∗</m:t>
                          </m:r>
                        </m:sup>
                      </m:sSub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sub>
                      </m:sSub>
                      <m:r>
                        <a:rPr>
                          <a:latin typeface="Cambria Math" panose="02040503050406030204" pitchFamily="18" charset="0"/>
                        </a:rPr>
                        <m:t>∼</m:t>
                      </m:r>
                      <m:r>
                        <a:rPr>
                          <a:latin typeface="Cambria Math" panose="02040503050406030204" pitchFamily="18" charset="0"/>
                        </a:rPr>
                        <m:t>𝒩</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𝑚</m:t>
                              </m:r>
                            </m:e>
                            <m:sub>
                              <m:r>
                                <a:rPr>
                                  <a:latin typeface="Cambria Math" panose="02040503050406030204" pitchFamily="18" charset="0"/>
                                </a:rPr>
                                <m:t>𝑝𝑜𝑠𝑡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𝑝𝑜𝑠𝑡</m:t>
                              </m:r>
                            </m:sub>
                          </m:sSub>
                        </m:e>
                      </m:d>
                    </m:oMath>
                  </m:oMathPara>
                </a14:m>
                <a:endParaRPr dirty="0"/>
              </a:p>
              <a:p>
                <a:pPr marL="0" lvl="0" indent="0">
                  <a:buNone/>
                </a:pPr>
                <a:r>
                  <a:rPr dirty="0"/>
                  <a:t>where</a:t>
                </a:r>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𝑚</m:t>
                          </m:r>
                        </m:e>
                        <m:sub>
                          <m:r>
                            <a:rPr>
                              <a:latin typeface="Cambria Math" panose="02040503050406030204" pitchFamily="18" charset="0"/>
                            </a:rPr>
                            <m:t>𝑝𝑜𝑠𝑡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𝑂𝑆</m:t>
                          </m:r>
                        </m:sub>
                      </m:sSub>
                      <m:r>
                        <a:rPr>
                          <a:latin typeface="Cambria Math" panose="02040503050406030204" pitchFamily="18" charset="0"/>
                        </a:rPr>
                        <m:t>+</m:t>
                      </m:r>
                      <m:f>
                        <m:fPr>
                          <m:ctrlPr>
                            <a:rPr i="1">
                              <a:latin typeface="Cambria Math" panose="02040503050406030204" pitchFamily="18" charset="0"/>
                            </a:rPr>
                          </m:ctrlPr>
                        </m:fPr>
                        <m:num>
                          <m:r>
                            <m:rPr>
                              <m:nor/>
                            </m:rPr>
                            <a:rPr/>
                            <m:t>Cov</m:t>
                          </m:r>
                          <m:d>
                            <m:dPr>
                              <m:ctrlPr>
                                <a:rPr i="1">
                                  <a:latin typeface="Cambria Math" panose="02040503050406030204" pitchFamily="18" charset="0"/>
                                </a:rPr>
                              </m:ctrlPr>
                            </m:dPr>
                            <m:e>
                              <m:r>
                                <a:rPr>
                                  <a:latin typeface="Cambria Math" panose="02040503050406030204" pitchFamily="18" charset="0"/>
                                </a:rPr>
                                <m:t>𝑂𝑆</m:t>
                              </m:r>
                              <m:r>
                                <a:rPr>
                                  <a:latin typeface="Cambria Math" panose="02040503050406030204" pitchFamily="18" charset="0"/>
                                </a:rPr>
                                <m:t>,</m:t>
                              </m:r>
                              <m:r>
                                <a:rPr>
                                  <a:latin typeface="Cambria Math" panose="02040503050406030204" pitchFamily="18" charset="0"/>
                                </a:rPr>
                                <m:t>𝑃𝐹𝑆</m:t>
                              </m:r>
                            </m:e>
                          </m:d>
                        </m:num>
                        <m:den>
                          <m:r>
                            <m:rPr>
                              <m:nor/>
                            </m:rPr>
                            <a:rPr/>
                            <m:t>Var</m:t>
                          </m:r>
                          <m:d>
                            <m:dPr>
                              <m:ctrlPr>
                                <a:rPr i="1">
                                  <a:latin typeface="Cambria Math" panose="02040503050406030204" pitchFamily="18" charset="0"/>
                                </a:rPr>
                              </m:ctrlPr>
                            </m:dPr>
                            <m:e>
                              <m:r>
                                <a:rPr>
                                  <a:latin typeface="Cambria Math" panose="02040503050406030204" pitchFamily="18" charset="0"/>
                                </a:rPr>
                                <m:t>𝑃𝐹𝑆</m:t>
                              </m:r>
                            </m:e>
                          </m:d>
                          <m:r>
                            <a:rPr>
                              <a:latin typeface="Cambria Math" panose="02040503050406030204" pitchFamily="18" charset="0"/>
                            </a:rPr>
                            <m:t>+</m:t>
                          </m:r>
                          <m:r>
                            <a:rPr>
                              <a:latin typeface="Cambria Math" panose="02040503050406030204" pitchFamily="18" charset="0"/>
                            </a:rPr>
                            <m:t>𝑠</m:t>
                          </m:r>
                          <m:sSubSup>
                            <m:sSubSupPr>
                              <m:ctrlPr>
                                <a:rPr i="1">
                                  <a:latin typeface="Cambria Math" panose="02040503050406030204" pitchFamily="18" charset="0"/>
                                </a:rPr>
                              </m:ctrlPr>
                            </m:sSubSupPr>
                            <m:e>
                              <m:r>
                                <a:rPr>
                                  <a:latin typeface="Cambria Math" panose="02040503050406030204" pitchFamily="18" charset="0"/>
                                </a:rPr>
                                <m:t>𝑒</m:t>
                              </m:r>
                            </m:e>
                            <m:sub>
                              <m:r>
                                <a:rPr>
                                  <a:latin typeface="Cambria Math" panose="02040503050406030204" pitchFamily="18" charset="0"/>
                                </a:rPr>
                                <m:t>𝑐</m:t>
                              </m:r>
                            </m:sub>
                            <m:sup>
                              <m:r>
                                <a:rPr>
                                  <a:latin typeface="Cambria Math" panose="02040503050406030204" pitchFamily="18" charset="0"/>
                                </a:rPr>
                                <m:t>2</m:t>
                              </m:r>
                            </m:sup>
                          </m:sSubSup>
                        </m:den>
                      </m:f>
                      <m:r>
                        <a:rPr>
                          <a:latin typeface="Cambria Math" panose="02040503050406030204" pitchFamily="18" charset="0"/>
                        </a:rPr>
                        <m:t> </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𝑃𝐹𝑆</m:t>
                              </m:r>
                            </m:sub>
                          </m:sSub>
                        </m:e>
                      </m:d>
                    </m:oMath>
                  </m:oMathPara>
                </a14:m>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𝑝𝑜𝑠𝑡</m:t>
                          </m:r>
                        </m:sub>
                      </m:sSub>
                      <m:r>
                        <a:rPr>
                          <a:latin typeface="Cambria Math" panose="02040503050406030204" pitchFamily="18" charset="0"/>
                        </a:rPr>
                        <m:t>=</m:t>
                      </m:r>
                      <m:r>
                        <m:rPr>
                          <m:nor/>
                        </m:rPr>
                        <a:rPr/>
                        <m:t>Var</m:t>
                      </m:r>
                      <m:d>
                        <m:dPr>
                          <m:ctrlPr>
                            <a:rPr i="1">
                              <a:latin typeface="Cambria Math" panose="02040503050406030204" pitchFamily="18" charset="0"/>
                            </a:rPr>
                          </m:ctrlPr>
                        </m:dPr>
                        <m:e>
                          <m:r>
                            <a:rPr>
                              <a:latin typeface="Cambria Math" panose="02040503050406030204" pitchFamily="18" charset="0"/>
                            </a:rPr>
                            <m:t>𝑂𝑆</m:t>
                          </m:r>
                        </m:e>
                      </m:d>
                      <m:r>
                        <a:rPr>
                          <a:latin typeface="Cambria Math" panose="02040503050406030204" pitchFamily="18" charset="0"/>
                        </a:rPr>
                        <m:t>−</m:t>
                      </m:r>
                      <m:f>
                        <m:fPr>
                          <m:ctrlPr>
                            <a:rPr i="1">
                              <a:latin typeface="Cambria Math" panose="02040503050406030204" pitchFamily="18" charset="0"/>
                            </a:rPr>
                          </m:ctrlPr>
                        </m:fPr>
                        <m:num>
                          <m:r>
                            <m:rPr>
                              <m:nor/>
                            </m:rPr>
                            <a:rPr/>
                            <m:t>Cov</m:t>
                          </m:r>
                          <m:sSup>
                            <m:sSupPr>
                              <m:ctrlPr>
                                <a:rPr i="1">
                                  <a:latin typeface="Cambria Math" panose="02040503050406030204" pitchFamily="18" charset="0"/>
                                </a:rPr>
                              </m:ctrlPr>
                            </m:sSupPr>
                            <m:e>
                              <m:d>
                                <m:dPr>
                                  <m:ctrlPr>
                                    <a:rPr i="1">
                                      <a:latin typeface="Cambria Math" panose="02040503050406030204" pitchFamily="18" charset="0"/>
                                    </a:rPr>
                                  </m:ctrlPr>
                                </m:dPr>
                                <m:e>
                                  <m:r>
                                    <a:rPr>
                                      <a:latin typeface="Cambria Math" panose="02040503050406030204" pitchFamily="18" charset="0"/>
                                    </a:rPr>
                                    <m:t>𝑂𝑆</m:t>
                                  </m:r>
                                  <m:r>
                                    <a:rPr>
                                      <a:latin typeface="Cambria Math" panose="02040503050406030204" pitchFamily="18" charset="0"/>
                                    </a:rPr>
                                    <m:t>,</m:t>
                                  </m:r>
                                  <m:r>
                                    <a:rPr>
                                      <a:latin typeface="Cambria Math" panose="02040503050406030204" pitchFamily="18" charset="0"/>
                                    </a:rPr>
                                    <m:t>𝑃𝐹𝑆</m:t>
                                  </m:r>
                                </m:e>
                              </m:d>
                            </m:e>
                            <m:sup>
                              <m:r>
                                <a:rPr>
                                  <a:latin typeface="Cambria Math" panose="02040503050406030204" pitchFamily="18" charset="0"/>
                                </a:rPr>
                                <m:t>2</m:t>
                              </m:r>
                            </m:sup>
                          </m:sSup>
                        </m:num>
                        <m:den>
                          <m:r>
                            <m:rPr>
                              <m:nor/>
                            </m:rPr>
                            <a:rPr/>
                            <m:t>Var</m:t>
                          </m:r>
                          <m:d>
                            <m:dPr>
                              <m:ctrlPr>
                                <a:rPr i="1">
                                  <a:latin typeface="Cambria Math" panose="02040503050406030204" pitchFamily="18" charset="0"/>
                                </a:rPr>
                              </m:ctrlPr>
                            </m:dPr>
                            <m:e>
                              <m:r>
                                <a:rPr>
                                  <a:latin typeface="Cambria Math" panose="02040503050406030204" pitchFamily="18" charset="0"/>
                                </a:rPr>
                                <m:t>𝑃𝐹𝑆</m:t>
                              </m:r>
                            </m:e>
                          </m:d>
                          <m:r>
                            <a:rPr>
                              <a:latin typeface="Cambria Math" panose="02040503050406030204" pitchFamily="18" charset="0"/>
                            </a:rPr>
                            <m:t>+</m:t>
                          </m:r>
                          <m:r>
                            <a:rPr>
                              <a:latin typeface="Cambria Math" panose="02040503050406030204" pitchFamily="18" charset="0"/>
                            </a:rPr>
                            <m:t>𝑠</m:t>
                          </m:r>
                          <m:sSubSup>
                            <m:sSubSupPr>
                              <m:ctrlPr>
                                <a:rPr i="1">
                                  <a:latin typeface="Cambria Math" panose="02040503050406030204" pitchFamily="18" charset="0"/>
                                </a:rPr>
                              </m:ctrlPr>
                            </m:sSubSupPr>
                            <m:e>
                              <m:r>
                                <a:rPr>
                                  <a:latin typeface="Cambria Math" panose="02040503050406030204" pitchFamily="18" charset="0"/>
                                </a:rPr>
                                <m:t>𝑒</m:t>
                              </m:r>
                            </m:e>
                            <m:sub>
                              <m:r>
                                <a:rPr>
                                  <a:latin typeface="Cambria Math" panose="02040503050406030204" pitchFamily="18" charset="0"/>
                                </a:rPr>
                                <m:t>𝑐</m:t>
                              </m:r>
                            </m:sub>
                            <m:sup>
                              <m:r>
                                <a:rPr>
                                  <a:latin typeface="Cambria Math" panose="02040503050406030204" pitchFamily="18" charset="0"/>
                                </a:rPr>
                                <m:t>2</m:t>
                              </m:r>
                            </m:sup>
                          </m:sSubSup>
                        </m:den>
                      </m:f>
                    </m:oMath>
                  </m:oMathPara>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463" t="-2239"/>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a:solidFill>
                  <a:srgbClr val="FFFFFF"/>
                </a:solidFill>
              </a:rPr>
              <a:t>PoS in closed form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a:t>Final OS estimator:</a:t>
                </a:r>
              </a:p>
              <a:p>
                <a:pPr marL="0" lvl="0" indent="0">
                  <a:buNone/>
                </a:pPr>
                <a14:m>
                  <m:oMathPara xmlns:m="http://schemas.openxmlformats.org/officeDocument/2006/math">
                    <m:oMathParaPr>
                      <m:jc m:val="center"/>
                    </m:oMathParaPr>
                    <m:oMath xmlns:m="http://schemas.openxmlformats.org/officeDocument/2006/math">
                      <m:sSubSup>
                        <m:sSubSupPr>
                          <m:ctrlPr>
                            <a:rPr lang="ar-AE" sz="1500" i="1">
                              <a:latin typeface="Cambria Math" panose="02040503050406030204" pitchFamily="18" charset="0"/>
                            </a:rPr>
                          </m:ctrlPr>
                        </m:sSubSupPr>
                        <m:e>
                          <m:r>
                            <a:rPr lang="ar-AE" sz="1500">
                              <a:latin typeface="Cambria Math" panose="02040503050406030204" pitchFamily="18" charset="0"/>
                            </a:rPr>
                            <m:t>𝑌</m:t>
                          </m:r>
                        </m:e>
                        <m:sub>
                          <m:r>
                            <a:rPr lang="ar-AE" sz="1500">
                              <a:latin typeface="Cambria Math" panose="02040503050406030204" pitchFamily="18" charset="0"/>
                            </a:rPr>
                            <m:t>𝑂𝑆</m:t>
                          </m:r>
                        </m:sub>
                        <m:sup>
                          <m:r>
                            <a:rPr lang="ar-AE" sz="1500">
                              <a:latin typeface="Cambria Math" panose="02040503050406030204" pitchFamily="18" charset="0"/>
                            </a:rPr>
                            <m:t>∗</m:t>
                          </m:r>
                        </m:sup>
                      </m:sSubSup>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𝑦</m:t>
                          </m:r>
                        </m:e>
                        <m:sub>
                          <m:r>
                            <a:rPr lang="ar-AE" sz="1500">
                              <a:latin typeface="Cambria Math" panose="02040503050406030204" pitchFamily="18" charset="0"/>
                            </a:rPr>
                            <m:t>𝑐</m:t>
                          </m:r>
                        </m:sub>
                      </m:sSub>
                      <m:r>
                        <a:rPr lang="ar-AE" sz="1500">
                          <a:latin typeface="Cambria Math" panose="02040503050406030204" pitchFamily="18" charset="0"/>
                        </a:rPr>
                        <m:t>∼</m:t>
                      </m:r>
                      <m:r>
                        <a:rPr lang="ar-AE" sz="1500">
                          <a:latin typeface="Cambria Math" panose="02040503050406030204" pitchFamily="18" charset="0"/>
                        </a:rPr>
                        <m:t>𝒩</m:t>
                      </m:r>
                      <m:d>
                        <m:dPr>
                          <m:ctrlPr>
                            <a:rPr lang="ar-AE" sz="1500" i="1">
                              <a:latin typeface="Cambria Math" panose="02040503050406030204" pitchFamily="18" charset="0"/>
                            </a:rPr>
                          </m:ctrlPr>
                        </m:dPr>
                        <m:e>
                          <m:sSub>
                            <m:sSubPr>
                              <m:ctrlPr>
                                <a:rPr lang="ar-AE" sz="1500" i="1">
                                  <a:latin typeface="Cambria Math" panose="02040503050406030204" pitchFamily="18" charset="0"/>
                                </a:rPr>
                              </m:ctrlPr>
                            </m:sSubPr>
                            <m:e>
                              <m:r>
                                <a:rPr lang="ar-AE" sz="1500">
                                  <a:latin typeface="Cambria Math" panose="02040503050406030204" pitchFamily="18" charset="0"/>
                                </a:rPr>
                                <m:t>𝑚</m:t>
                              </m:r>
                            </m:e>
                            <m:sub>
                              <m:r>
                                <a:rPr lang="ar-AE" sz="1500">
                                  <a:latin typeface="Cambria Math" panose="02040503050406030204" pitchFamily="18" charset="0"/>
                                </a:rPr>
                                <m:t>𝑝𝑜𝑠𝑡</m:t>
                              </m:r>
                            </m:sub>
                          </m:sSub>
                          <m:r>
                            <a:rPr lang="ar-AE" sz="1500">
                              <a:latin typeface="Cambria Math" panose="02040503050406030204" pitchFamily="18" charset="0"/>
                            </a:rPr>
                            <m:t>, </m:t>
                          </m:r>
                          <m:sSub>
                            <m:sSubPr>
                              <m:ctrlPr>
                                <a:rPr lang="ar-AE" sz="1500" i="1">
                                  <a:latin typeface="Cambria Math" panose="02040503050406030204" pitchFamily="18" charset="0"/>
                                </a:rPr>
                              </m:ctrlPr>
                            </m:sSubPr>
                            <m:e>
                              <m:r>
                                <a:rPr lang="ar-AE" sz="1500">
                                  <a:latin typeface="Cambria Math" panose="02040503050406030204" pitchFamily="18" charset="0"/>
                                </a:rPr>
                                <m:t>𝑣</m:t>
                              </m:r>
                            </m:e>
                            <m:sub>
                              <m:r>
                                <a:rPr lang="ar-AE" sz="1500">
                                  <a:latin typeface="Cambria Math" panose="02040503050406030204" pitchFamily="18" charset="0"/>
                                </a:rPr>
                                <m:t>𝑝𝑜𝑠𝑡</m:t>
                              </m:r>
                            </m:sub>
                          </m:sSub>
                          <m:r>
                            <a:rPr lang="ar-AE" sz="1500">
                              <a:latin typeface="Cambria Math" panose="02040503050406030204" pitchFamily="18" charset="0"/>
                            </a:rPr>
                            <m:t>+</m:t>
                          </m:r>
                          <m:r>
                            <a:rPr lang="ar-AE" sz="1500">
                              <a:latin typeface="Cambria Math" panose="02040503050406030204" pitchFamily="18" charset="0"/>
                            </a:rPr>
                            <m:t>𝑠</m:t>
                          </m:r>
                          <m:sSubSup>
                            <m:sSubSupPr>
                              <m:ctrlPr>
                                <a:rPr lang="ar-AE" sz="1500" i="1">
                                  <a:latin typeface="Cambria Math" panose="02040503050406030204" pitchFamily="18" charset="0"/>
                                </a:rPr>
                              </m:ctrlPr>
                            </m:sSubSupPr>
                            <m:e>
                              <m:r>
                                <a:rPr lang="ar-AE" sz="1500">
                                  <a:latin typeface="Cambria Math" panose="02040503050406030204" pitchFamily="18" charset="0"/>
                                </a:rPr>
                                <m:t>𝑒</m:t>
                              </m:r>
                            </m:e>
                            <m:sub>
                              <m:r>
                                <a:rPr lang="ar-AE" sz="1500">
                                  <a:latin typeface="Cambria Math" panose="02040503050406030204" pitchFamily="18" charset="0"/>
                                </a:rPr>
                                <m:t>∗</m:t>
                              </m:r>
                            </m:sub>
                            <m:sup>
                              <m:r>
                                <a:rPr lang="ar-AE" sz="1500">
                                  <a:latin typeface="Cambria Math" panose="02040503050406030204" pitchFamily="18" charset="0"/>
                                </a:rPr>
                                <m:t>2</m:t>
                              </m:r>
                            </m:sup>
                          </m:sSubSup>
                        </m:e>
                      </m:d>
                    </m:oMath>
                  </m:oMathPara>
                </a14:m>
                <a:endParaRPr lang="ar-AE" sz="1500"/>
              </a:p>
              <a:p>
                <a:pPr marL="0" lvl="0" indent="0">
                  <a:buNone/>
                </a:pPr>
                <a:r>
                  <a:rPr lang="en-US" sz="1500"/>
                  <a:t>Therefore:</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bSup>
                            <m:sSubSupPr>
                              <m:ctrlPr>
                                <a:rPr lang="ar-AE" sz="1500" i="1">
                                  <a:latin typeface="Cambria Math" panose="02040503050406030204" pitchFamily="18" charset="0"/>
                                </a:rPr>
                              </m:ctrlPr>
                            </m:sSubSupPr>
                            <m:e>
                              <m:r>
                                <a:rPr lang="ar-AE" sz="1500">
                                  <a:latin typeface="Cambria Math" panose="02040503050406030204" pitchFamily="18" charset="0"/>
                                </a:rPr>
                                <m:t>𝑌</m:t>
                              </m:r>
                            </m:e>
                            <m:sub>
                              <m:r>
                                <a:rPr lang="ar-AE" sz="1500">
                                  <a:latin typeface="Cambria Math" panose="02040503050406030204" pitchFamily="18" charset="0"/>
                                </a:rPr>
                                <m:t>𝑂𝑆</m:t>
                              </m:r>
                            </m:sub>
                            <m:sup>
                              <m:r>
                                <a:rPr lang="ar-AE" sz="1500">
                                  <a:latin typeface="Cambria Math" panose="02040503050406030204" pitchFamily="18" charset="0"/>
                                </a:rPr>
                                <m:t>∗</m:t>
                              </m:r>
                            </m:sup>
                          </m:sSubSup>
                          <m:r>
                            <a:rPr lang="ar-AE" sz="1500">
                              <a:latin typeface="Cambria Math" panose="02040503050406030204" pitchFamily="18" charset="0"/>
                            </a:rPr>
                            <m:t>&lt;</m:t>
                          </m:r>
                          <m:r>
                            <a:rPr lang="ar-AE" sz="1500">
                              <a:latin typeface="Cambria Math" panose="02040503050406030204" pitchFamily="18" charset="0"/>
                            </a:rPr>
                            <m:t>𝑐</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𝑦</m:t>
                              </m:r>
                            </m:e>
                            <m:sub>
                              <m:r>
                                <a:rPr lang="ar-AE" sz="1500">
                                  <a:latin typeface="Cambria Math" panose="02040503050406030204" pitchFamily="18" charset="0"/>
                                </a:rPr>
                                <m:t>𝑐</m:t>
                              </m:r>
                            </m:sub>
                          </m:sSub>
                        </m:e>
                      </m:d>
                      <m:r>
                        <a:rPr lang="ar-AE" sz="1500">
                          <a:latin typeface="Cambria Math" panose="02040503050406030204" pitchFamily="18" charset="0"/>
                        </a:rPr>
                        <m:t>=</m:t>
                      </m:r>
                      <m:r>
                        <a:rPr lang="ar-AE" sz="1500">
                          <a:latin typeface="Cambria Math" panose="02040503050406030204" pitchFamily="18" charset="0"/>
                        </a:rPr>
                        <m:t>𝛷</m:t>
                      </m:r>
                      <m:r>
                        <a:rPr lang="ar-AE" sz="1500">
                          <a:latin typeface="Cambria Math" panose="02040503050406030204" pitchFamily="18" charset="0"/>
                        </a:rPr>
                        <m:t>​</m:t>
                      </m:r>
                      <m:d>
                        <m:dPr>
                          <m:ctrlPr>
                            <a:rPr lang="ar-AE" sz="1500" i="1">
                              <a:latin typeface="Cambria Math" panose="02040503050406030204" pitchFamily="18" charset="0"/>
                            </a:rPr>
                          </m:ctrlPr>
                        </m:dPr>
                        <m:e>
                          <m:f>
                            <m:fPr>
                              <m:ctrlPr>
                                <a:rPr lang="ar-AE" sz="1500" i="1">
                                  <a:latin typeface="Cambria Math" panose="02040503050406030204" pitchFamily="18" charset="0"/>
                                </a:rPr>
                              </m:ctrlPr>
                            </m:fPr>
                            <m:num>
                              <m:r>
                                <a:rPr lang="ar-AE" sz="1500">
                                  <a:latin typeface="Cambria Math" panose="02040503050406030204" pitchFamily="18" charset="0"/>
                                </a:rPr>
                                <m:t>𝑐</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𝑚</m:t>
                                  </m:r>
                                </m:e>
                                <m:sub>
                                  <m:r>
                                    <a:rPr lang="ar-AE" sz="1500">
                                      <a:latin typeface="Cambria Math" panose="02040503050406030204" pitchFamily="18" charset="0"/>
                                    </a:rPr>
                                    <m:t>𝑝𝑜𝑠𝑡</m:t>
                                  </m:r>
                                </m:sub>
                              </m:sSub>
                            </m:num>
                            <m:den>
                              <m:rad>
                                <m:radPr>
                                  <m:degHide m:val="on"/>
                                  <m:ctrlPr>
                                    <a:rPr lang="ar-AE" sz="1500" i="1">
                                      <a:latin typeface="Cambria Math" panose="02040503050406030204" pitchFamily="18" charset="0"/>
                                    </a:rPr>
                                  </m:ctrlPr>
                                </m:radPr>
                                <m:deg/>
                                <m:e>
                                  <m:sSub>
                                    <m:sSubPr>
                                      <m:ctrlPr>
                                        <a:rPr lang="ar-AE" sz="1500" i="1">
                                          <a:latin typeface="Cambria Math" panose="02040503050406030204" pitchFamily="18" charset="0"/>
                                        </a:rPr>
                                      </m:ctrlPr>
                                    </m:sSubPr>
                                    <m:e>
                                      <m:r>
                                        <a:rPr lang="ar-AE" sz="1500">
                                          <a:latin typeface="Cambria Math" panose="02040503050406030204" pitchFamily="18" charset="0"/>
                                        </a:rPr>
                                        <m:t>𝑣</m:t>
                                      </m:r>
                                    </m:e>
                                    <m:sub>
                                      <m:r>
                                        <a:rPr lang="ar-AE" sz="1500">
                                          <a:latin typeface="Cambria Math" panose="02040503050406030204" pitchFamily="18" charset="0"/>
                                        </a:rPr>
                                        <m:t>𝑝𝑜𝑠𝑡</m:t>
                                      </m:r>
                                    </m:sub>
                                  </m:sSub>
                                  <m:r>
                                    <a:rPr lang="ar-AE" sz="1500">
                                      <a:latin typeface="Cambria Math" panose="02040503050406030204" pitchFamily="18" charset="0"/>
                                    </a:rPr>
                                    <m:t>+</m:t>
                                  </m:r>
                                  <m:r>
                                    <a:rPr lang="ar-AE" sz="1500">
                                      <a:latin typeface="Cambria Math" panose="02040503050406030204" pitchFamily="18" charset="0"/>
                                    </a:rPr>
                                    <m:t>𝑠</m:t>
                                  </m:r>
                                  <m:sSubSup>
                                    <m:sSubSupPr>
                                      <m:ctrlPr>
                                        <a:rPr lang="ar-AE" sz="1500" i="1">
                                          <a:latin typeface="Cambria Math" panose="02040503050406030204" pitchFamily="18" charset="0"/>
                                        </a:rPr>
                                      </m:ctrlPr>
                                    </m:sSubSupPr>
                                    <m:e>
                                      <m:r>
                                        <a:rPr lang="ar-AE" sz="1500">
                                          <a:latin typeface="Cambria Math" panose="02040503050406030204" pitchFamily="18" charset="0"/>
                                        </a:rPr>
                                        <m:t>𝑒</m:t>
                                      </m:r>
                                    </m:e>
                                    <m:sub>
                                      <m:r>
                                        <a:rPr lang="ar-AE" sz="1500">
                                          <a:latin typeface="Cambria Math" panose="02040503050406030204" pitchFamily="18" charset="0"/>
                                        </a:rPr>
                                        <m:t>∗</m:t>
                                      </m:r>
                                    </m:sub>
                                    <m:sup>
                                      <m:r>
                                        <a:rPr lang="ar-AE" sz="1500">
                                          <a:latin typeface="Cambria Math" panose="02040503050406030204" pitchFamily="18" charset="0"/>
                                        </a:rPr>
                                        <m:t>2</m:t>
                                      </m:r>
                                    </m:sup>
                                  </m:sSubSup>
                                </m:e>
                              </m:rad>
                            </m:den>
                          </m:f>
                        </m:e>
                      </m:d>
                    </m:oMath>
                  </m:oMathPara>
                </a14:m>
                <a:endParaRPr lang="ar-AE" sz="1500"/>
              </a:p>
              <a:p>
                <a:pPr marL="0" lvl="0" indent="0">
                  <a:buNone/>
                </a:pPr>
                <a:r>
                  <a:rPr lang="en-US" sz="1500" b="1"/>
                  <a:t>Knobs that matter:</a:t>
                </a:r>
              </a:p>
              <a:p>
                <a:pPr lvl="0"/>
                <a14:m>
                  <m:oMath xmlns:m="http://schemas.openxmlformats.org/officeDocument/2006/math">
                    <m:r>
                      <a:rPr lang="en-US" sz="1500">
                        <a:latin typeface="Cambria Math" panose="02040503050406030204" pitchFamily="18" charset="0"/>
                      </a:rPr>
                      <m:t>𝜌</m:t>
                    </m:r>
                  </m:oMath>
                </a14:m>
                <a:r>
                  <a:rPr lang="en-US" sz="1500"/>
                  <a:t>: stronger PFS–OS association → PFS updates OS more</a:t>
                </a:r>
              </a:p>
              <a:p>
                <a:pPr lvl="0"/>
                <a14:m>
                  <m:oMath xmlns:m="http://schemas.openxmlformats.org/officeDocument/2006/math">
                    <m:r>
                      <a:rPr lang="en-US" sz="1500">
                        <a:latin typeface="Cambria Math" panose="02040503050406030204" pitchFamily="18" charset="0"/>
                      </a:rPr>
                      <m:t>𝜏</m:t>
                    </m:r>
                  </m:oMath>
                </a14:m>
                <a:r>
                  <a:rPr lang="en-US" sz="1500"/>
                  <a:t>’s: more heterogeneity → less certainty → PoS often down</a:t>
                </a:r>
              </a:p>
              <a:p>
                <a:pPr lvl="0"/>
                <a14:m>
                  <m:oMath xmlns:m="http://schemas.openxmlformats.org/officeDocument/2006/math">
                    <m:sSub>
                      <m:sSubPr>
                        <m:ctrlPr>
                          <a:rPr lang="ar-AE" sz="1500" i="1">
                            <a:latin typeface="Cambria Math" panose="02040503050406030204" pitchFamily="18" charset="0"/>
                          </a:rPr>
                        </m:ctrlPr>
                      </m:sSubPr>
                      <m:e>
                        <m:r>
                          <a:rPr lang="ar-AE" sz="1500">
                            <a:latin typeface="Cambria Math" panose="02040503050406030204" pitchFamily="18" charset="0"/>
                          </a:rPr>
                          <m:t>𝑑</m:t>
                        </m:r>
                      </m:e>
                      <m:sub>
                        <m:r>
                          <a:rPr lang="ar-AE" sz="1500">
                            <a:latin typeface="Cambria Math" panose="02040503050406030204" pitchFamily="18" charset="0"/>
                          </a:rPr>
                          <m:t>𝑒𝑣𝑒𝑛𝑡𝑠</m:t>
                        </m:r>
                      </m:sub>
                    </m:sSub>
                  </m:oMath>
                </a14:m>
                <a:r>
                  <a:rPr lang="ar-AE" sz="1500"/>
                  <a:t>: </a:t>
                </a:r>
                <a:r>
                  <a:rPr lang="en-US" sz="1500"/>
                  <a:t>more OS events → smaller </a:t>
                </a:r>
                <a14:m>
                  <m:oMath xmlns:m="http://schemas.openxmlformats.org/officeDocument/2006/math">
                    <m:r>
                      <a:rPr lang="en-US" sz="1500">
                        <a:latin typeface="Cambria Math" panose="02040503050406030204" pitchFamily="18" charset="0"/>
                      </a:rPr>
                      <m:t>𝑠</m:t>
                    </m:r>
                    <m:sSub>
                      <m:sSubPr>
                        <m:ctrlPr>
                          <a:rPr lang="ar-AE" sz="1500" i="1">
                            <a:latin typeface="Cambria Math" panose="02040503050406030204" pitchFamily="18" charset="0"/>
                          </a:rPr>
                        </m:ctrlPr>
                      </m:sSubPr>
                      <m:e>
                        <m:r>
                          <a:rPr lang="ar-AE" sz="1500">
                            <a:latin typeface="Cambria Math" panose="02040503050406030204" pitchFamily="18" charset="0"/>
                          </a:rPr>
                          <m:t>𝑒</m:t>
                        </m:r>
                      </m:e>
                      <m:sub>
                        <m:r>
                          <a:rPr lang="ar-AE" sz="1500">
                            <a:latin typeface="Cambria Math" panose="02040503050406030204" pitchFamily="18" charset="0"/>
                          </a:rPr>
                          <m:t>∗</m:t>
                        </m:r>
                      </m:sub>
                    </m:sSub>
                  </m:oMath>
                </a14:m>
                <a:r>
                  <a:rPr lang="ar-AE" sz="1500"/>
                  <a:t> → </a:t>
                </a:r>
                <a:r>
                  <a:rPr lang="en-US" sz="1500"/>
                  <a:t>PoS up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3"/>
                <a:stretch>
                  <a:fillRect l="-348" b="-1370"/>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273843"/>
            <a:ext cx="8375585" cy="1566988"/>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5059" y="440116"/>
            <a:ext cx="2670189" cy="1234440"/>
          </a:xfrm>
        </p:spPr>
        <p:txBody>
          <a:bodyPr>
            <a:normAutofit/>
          </a:bodyPr>
          <a:lstStyle/>
          <a:p>
            <a:pPr marL="0" lvl="0" indent="0">
              <a:buNone/>
            </a:pPr>
            <a:r>
              <a:rPr lang="en-US" sz="2400"/>
              <a:t>Reproducible demo: simulate 27 historical ICB trials</a:t>
            </a:r>
          </a:p>
        </p:txBody>
      </p:sp>
      <p:sp>
        <p:nvSpPr>
          <p:cNvPr id="26" name="Rectangle 2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79330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8" name="Rectangle 27">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82656" y="1050479"/>
            <a:ext cx="109728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4013373" y="440116"/>
            <a:ext cx="4501977" cy="1234440"/>
          </a:xfrm>
        </p:spPr>
        <p:txBody>
          <a:bodyPr anchor="ctr">
            <a:normAutofit/>
          </a:bodyPr>
          <a:lstStyle/>
          <a:p>
            <a:pPr marL="0" lvl="0" indent="0">
              <a:lnSpc>
                <a:spcPct val="90000"/>
              </a:lnSpc>
              <a:buNone/>
            </a:pPr>
            <a:r>
              <a:rPr lang="en-US" sz="1400"/>
              <a:t>We’ll create a virtual dataset with:</a:t>
            </a:r>
          </a:p>
          <a:p>
            <a:pPr lvl="0">
              <a:lnSpc>
                <a:spcPct val="90000"/>
              </a:lnSpc>
            </a:pPr>
            <a:r>
              <a:rPr lang="en-US" sz="1400"/>
              <a:t>K = 27 historical trials</a:t>
            </a:r>
          </a:p>
          <a:p>
            <a:pPr lvl="0">
              <a:lnSpc>
                <a:spcPct val="90000"/>
              </a:lnSpc>
            </a:pPr>
            <a:r>
              <a:rPr lang="en-US" sz="1400"/>
              <a:t>True bivariate relationship between log(HR_OS) and log(HR_PFS)</a:t>
            </a:r>
          </a:p>
          <a:p>
            <a:pPr lvl="0">
              <a:lnSpc>
                <a:spcPct val="90000"/>
              </a:lnSpc>
            </a:pPr>
            <a:r>
              <a:rPr lang="en-US" sz="1400"/>
              <a:t>Realistic ranges of standard errors</a:t>
            </a:r>
          </a:p>
        </p:txBody>
      </p:sp>
      <p:graphicFrame>
        <p:nvGraphicFramePr>
          <p:cNvPr id="5" name="Table 4">
            <a:extLst>
              <a:ext uri="{FF2B5EF4-FFF2-40B4-BE49-F238E27FC236}">
                <a16:creationId xmlns:a16="http://schemas.microsoft.com/office/drawing/2014/main" id="{1FA25B94-A2E3-D782-70BA-C96FE8631B4E}"/>
              </a:ext>
            </a:extLst>
          </p:cNvPr>
          <p:cNvGraphicFramePr>
            <a:graphicFrameLocks noGrp="1"/>
          </p:cNvGraphicFramePr>
          <p:nvPr>
            <p:extLst>
              <p:ext uri="{D42A27DB-BD31-4B8C-83A1-F6EECF244321}">
                <p14:modId xmlns:p14="http://schemas.microsoft.com/office/powerpoint/2010/main" val="222522182"/>
              </p:ext>
            </p:extLst>
          </p:nvPr>
        </p:nvGraphicFramePr>
        <p:xfrm>
          <a:off x="1084775" y="2050542"/>
          <a:ext cx="7040745" cy="2612900"/>
        </p:xfrm>
        <a:graphic>
          <a:graphicData uri="http://schemas.openxmlformats.org/drawingml/2006/table">
            <a:tbl>
              <a:tblPr/>
              <a:tblGrid>
                <a:gridCol w="1408149">
                  <a:extLst>
                    <a:ext uri="{9D8B030D-6E8A-4147-A177-3AD203B41FA5}">
                      <a16:colId xmlns:a16="http://schemas.microsoft.com/office/drawing/2014/main" val="2145233753"/>
                    </a:ext>
                  </a:extLst>
                </a:gridCol>
                <a:gridCol w="1408149">
                  <a:extLst>
                    <a:ext uri="{9D8B030D-6E8A-4147-A177-3AD203B41FA5}">
                      <a16:colId xmlns:a16="http://schemas.microsoft.com/office/drawing/2014/main" val="290008782"/>
                    </a:ext>
                  </a:extLst>
                </a:gridCol>
                <a:gridCol w="1408149">
                  <a:extLst>
                    <a:ext uri="{9D8B030D-6E8A-4147-A177-3AD203B41FA5}">
                      <a16:colId xmlns:a16="http://schemas.microsoft.com/office/drawing/2014/main" val="3325291937"/>
                    </a:ext>
                  </a:extLst>
                </a:gridCol>
                <a:gridCol w="1408149">
                  <a:extLst>
                    <a:ext uri="{9D8B030D-6E8A-4147-A177-3AD203B41FA5}">
                      <a16:colId xmlns:a16="http://schemas.microsoft.com/office/drawing/2014/main" val="979396561"/>
                    </a:ext>
                  </a:extLst>
                </a:gridCol>
                <a:gridCol w="1408149">
                  <a:extLst>
                    <a:ext uri="{9D8B030D-6E8A-4147-A177-3AD203B41FA5}">
                      <a16:colId xmlns:a16="http://schemas.microsoft.com/office/drawing/2014/main" val="204433698"/>
                    </a:ext>
                  </a:extLst>
                </a:gridCol>
              </a:tblGrid>
              <a:tr h="631060">
                <a:tc>
                  <a:txBody>
                    <a:bodyPr/>
                    <a:lstStyle/>
                    <a:p>
                      <a:pPr algn="l" rtl="0" fontAlgn="ctr">
                        <a:buNone/>
                      </a:pPr>
                      <a:r>
                        <a:rPr lang="en-US" sz="1500" b="1" i="0" u="none" strike="noStrike" dirty="0">
                          <a:solidFill>
                            <a:srgbClr val="1F1F1F"/>
                          </a:solidFill>
                          <a:effectLst/>
                          <a:latin typeface="Google Sans Text"/>
                        </a:rPr>
                        <a:t>Trial ID</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dirty="0">
                          <a:solidFill>
                            <a:srgbClr val="1F1F1F"/>
                          </a:solidFill>
                          <a:effectLst/>
                          <a:latin typeface="Google Sans Text"/>
                        </a:rPr>
                        <a:t>Observed OS log(HR)</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a:solidFill>
                            <a:srgbClr val="1F1F1F"/>
                          </a:solidFill>
                          <a:effectLst/>
                          <a:latin typeface="Google Sans Text"/>
                        </a:rPr>
                        <a:t>OS Std. Error (se)</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a:solidFill>
                            <a:srgbClr val="1F1F1F"/>
                          </a:solidFill>
                          <a:effectLst/>
                          <a:latin typeface="Google Sans Text"/>
                        </a:rPr>
                        <a:t>Observed PFS log(HR)</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a:solidFill>
                            <a:srgbClr val="1F1F1F"/>
                          </a:solidFill>
                          <a:effectLst/>
                          <a:latin typeface="Google Sans Text"/>
                        </a:rPr>
                        <a:t>PFS Std. Error (se)</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9551960"/>
                  </a:ext>
                </a:extLst>
              </a:tr>
              <a:tr h="396368">
                <a:tc>
                  <a:txBody>
                    <a:bodyPr/>
                    <a:lstStyle/>
                    <a:p>
                      <a:pPr algn="l" rtl="0" fontAlgn="ctr">
                        <a:buNone/>
                      </a:pPr>
                      <a:r>
                        <a:rPr lang="en-US" sz="1500" b="1" i="0" u="none" strike="noStrike">
                          <a:solidFill>
                            <a:srgbClr val="1F1F1F"/>
                          </a:solidFill>
                          <a:effectLst/>
                          <a:latin typeface="Google Sans Text"/>
                        </a:rPr>
                        <a:t>1</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-0.531</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0.108</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-0.654</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0.133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695602"/>
                  </a:ext>
                </a:extLst>
              </a:tr>
              <a:tr h="396368">
                <a:tc>
                  <a:txBody>
                    <a:bodyPr/>
                    <a:lstStyle/>
                    <a:p>
                      <a:pPr algn="l" rtl="0" fontAlgn="ctr">
                        <a:buNone/>
                      </a:pPr>
                      <a:r>
                        <a:rPr lang="en-US" sz="1500" b="1" i="0" u="none" strike="noStrike">
                          <a:solidFill>
                            <a:srgbClr val="1F1F1F"/>
                          </a:solidFill>
                          <a:effectLst/>
                          <a:latin typeface="Google Sans Text"/>
                        </a:rPr>
                        <a:t>2</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-0.044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0.138</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-0.693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0.104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20235991"/>
                  </a:ext>
                </a:extLst>
              </a:tr>
              <a:tr h="396368">
                <a:tc>
                  <a:txBody>
                    <a:bodyPr/>
                    <a:lstStyle/>
                    <a:p>
                      <a:pPr algn="l" rtl="0" fontAlgn="ctr">
                        <a:buNone/>
                      </a:pPr>
                      <a:r>
                        <a:rPr lang="en-US" sz="1500" b="1" i="0" u="none" strike="noStrike">
                          <a:solidFill>
                            <a:srgbClr val="1F1F1F"/>
                          </a:solidFill>
                          <a:effectLst/>
                          <a:latin typeface="Google Sans Text"/>
                        </a:rPr>
                        <a:t>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-0.227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0.140</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-0.297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0.114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85642112"/>
                  </a:ext>
                </a:extLst>
              </a:tr>
              <a:tr h="396368">
                <a:tc>
                  <a:txBody>
                    <a:bodyPr/>
                    <a:lstStyle/>
                    <a:p>
                      <a:pPr algn="l" rtl="0" fontAlgn="ctr">
                        <a:buNone/>
                      </a:pPr>
                      <a:r>
                        <a:rPr lang="en-US" sz="1500" b="1" i="0" u="none" strike="noStrike">
                          <a:solidFill>
                            <a:srgbClr val="1F1F1F"/>
                          </a:solidFill>
                          <a:effectLst/>
                          <a:latin typeface="Google Sans Text"/>
                        </a:rPr>
                        <a:t>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-0.387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0.183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-0.460</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0.124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92541664"/>
                  </a:ext>
                </a:extLst>
              </a:tr>
              <a:tr h="396368">
                <a:tc>
                  <a:txBody>
                    <a:bodyPr/>
                    <a:lstStyle/>
                    <a:p>
                      <a:pPr algn="l" rtl="0" fontAlgn="ctr">
                        <a:buNone/>
                      </a:pPr>
                      <a:r>
                        <a:rPr lang="en-US" sz="1500" b="1" i="0" u="none" strike="noStrike">
                          <a:solidFill>
                            <a:srgbClr val="1F1F1F"/>
                          </a:solidFill>
                          <a:effectLst/>
                          <a:latin typeface="Google Sans Text"/>
                        </a:rPr>
                        <a:t>5</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-0.224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0.137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-0.422</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0.120</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807159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lang="en-US" sz="2400" dirty="0"/>
              <a:t>Simulation Setting</a:t>
            </a:r>
            <a:r>
              <a:rPr sz="2400" dirty="0"/>
              <a:t>: “</a:t>
            </a:r>
            <a:r>
              <a:rPr lang="en-US" sz="2400" dirty="0"/>
              <a:t>T</a:t>
            </a:r>
            <a:r>
              <a:rPr sz="2400" dirty="0"/>
              <a:t>rue” </a:t>
            </a:r>
            <a:r>
              <a:rPr lang="en-US" sz="2400" dirty="0"/>
              <a:t>H</a:t>
            </a:r>
            <a:r>
              <a:rPr sz="2400" dirty="0"/>
              <a:t>yper-parameters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Autofit/>
              </a:bodyPr>
              <a:lstStyle/>
              <a:p>
                <a:pPr marL="0" lvl="0" indent="0">
                  <a:buNone/>
                </a:pPr>
                <a:r>
                  <a:rPr lang="en-US" sz="1400" dirty="0"/>
                  <a:t>We define a bivariate random-effects world for the treatment effect on </a:t>
                </a:r>
                <a:r>
                  <a:rPr lang="en-US" sz="1400" b="1" dirty="0"/>
                  <a:t>OS</a:t>
                </a:r>
                <a:r>
                  <a:rPr lang="en-US" sz="1400" dirty="0"/>
                  <a:t> and </a:t>
                </a:r>
                <a:r>
                  <a:rPr lang="en-US" sz="1400" b="1" dirty="0"/>
                  <a:t>PFS</a:t>
                </a:r>
                <a:r>
                  <a:rPr lang="en-US" sz="1400" dirty="0"/>
                  <a:t>, measured on the log(HR) scale. The population mean effects are fixed at:</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𝜇</m:t>
                          </m:r>
                        </m:e>
                        <m:sub>
                          <m:r>
                            <m:rPr>
                              <m:nor/>
                            </m:rPr>
                            <a:rPr lang="en-US" sz="1400"/>
                            <m:t>true</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1"/>
                                    <m:mcJc m:val="center"/>
                                  </m:mcPr>
                                </m:mc>
                              </m:mcs>
                              <m:ctrlPr>
                                <a:rPr lang="ar-AE" sz="1400" i="1">
                                  <a:latin typeface="Cambria Math" panose="02040503050406030204" pitchFamily="18" charset="0"/>
                                </a:rPr>
                              </m:ctrlPr>
                            </m:mPr>
                            <m:mr>
                              <m:e>
                                <m:r>
                                  <a:rPr lang="ar-AE" sz="1400">
                                    <a:latin typeface="Cambria Math" panose="02040503050406030204" pitchFamily="18" charset="0"/>
                                  </a:rPr>
                                  <m:t>−0.</m:t>
                                </m:r>
                                <m:r>
                                  <a:rPr lang="ar-AE" altLang="zh-CN" sz="1400" b="0" i="0" smtClean="0">
                                    <a:latin typeface="Cambria Math" panose="02040503050406030204" pitchFamily="18" charset="0"/>
                                  </a:rPr>
                                  <m:t>3</m:t>
                                </m:r>
                                <m:r>
                                  <a:rPr lang="ar-AE" sz="1400">
                                    <a:latin typeface="Cambria Math" panose="02040503050406030204" pitchFamily="18" charset="0"/>
                                  </a:rPr>
                                  <m:t>0</m:t>
                                </m:r>
                              </m:e>
                            </m:mr>
                            <m:mr>
                              <m:e>
                                <m:r>
                                  <a:rPr lang="ar-AE" sz="1400">
                                    <a:latin typeface="Cambria Math" panose="02040503050406030204" pitchFamily="18" charset="0"/>
                                  </a:rPr>
                                  <m:t>−0.</m:t>
                                </m:r>
                                <m:r>
                                  <a:rPr lang="en-US" altLang="zh-CN" sz="1400" b="0" i="1" smtClean="0">
                                    <a:latin typeface="Cambria Math" panose="02040503050406030204" pitchFamily="18" charset="0"/>
                                  </a:rPr>
                                  <m:t>55</m:t>
                                </m:r>
                              </m:e>
                            </m:mr>
                          </m:m>
                        </m:e>
                      </m:d>
                      <m:r>
                        <a:rPr lang="ar-AE" sz="1400">
                          <a:latin typeface="Cambria Math" panose="02040503050406030204" pitchFamily="18" charset="0"/>
                        </a:rPr>
                        <m:t> </m:t>
                      </m:r>
                      <m:r>
                        <m:rPr>
                          <m:nor/>
                        </m:rPr>
                        <a:rPr lang="ar-AE" sz="1400"/>
                        <m:t>(</m:t>
                      </m:r>
                      <m:r>
                        <m:rPr>
                          <m:nor/>
                        </m:rPr>
                        <a:rPr lang="en-US" sz="1400"/>
                        <m:t>OS</m:t>
                      </m:r>
                      <m:r>
                        <m:rPr>
                          <m:nor/>
                        </m:rPr>
                        <a:rPr lang="en-US" sz="1400"/>
                        <m:t>, </m:t>
                      </m:r>
                      <m:r>
                        <m:rPr>
                          <m:nor/>
                        </m:rPr>
                        <a:rPr lang="en-US" sz="1400"/>
                        <m:t>PFS</m:t>
                      </m:r>
                      <m:r>
                        <m:rPr>
                          <m:nor/>
                        </m:rPr>
                        <a:rPr lang="en-US" sz="1400"/>
                        <m:t>)</m:t>
                      </m:r>
                    </m:oMath>
                  </m:oMathPara>
                </a14:m>
                <a:endParaRPr lang="en-US" sz="1400" dirty="0"/>
              </a:p>
              <a:p>
                <a:pPr marL="0" lvl="0" indent="0">
                  <a:buNone/>
                </a:pPr>
                <a:r>
                  <a:rPr lang="en-US" sz="1400" dirty="0"/>
                  <a:t>Between-trial heterogeneity is controlled by</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𝜏</m:t>
                          </m:r>
                        </m:e>
                        <m:sub>
                          <m:r>
                            <m:rPr>
                              <m:nor/>
                            </m:rPr>
                            <a:rPr lang="en-US" sz="1400"/>
                            <m:t>true</m:t>
                          </m:r>
                        </m:sub>
                      </m:sSub>
                      <m:r>
                        <a:rPr lang="ar-AE" sz="1400">
                          <a:latin typeface="Cambria Math" panose="02040503050406030204" pitchFamily="18" charset="0"/>
                        </a:rPr>
                        <m:t>=</m:t>
                      </m:r>
                      <m:d>
                        <m:dPr>
                          <m:ctrlPr>
                            <a:rPr lang="ar-AE" sz="1400" i="1">
                              <a:latin typeface="Cambria Math" panose="02040503050406030204" pitchFamily="18" charset="0"/>
                            </a:rPr>
                          </m:ctrlPr>
                        </m:dPr>
                        <m:e>
                          <m:r>
                            <a:rPr lang="ar-AE" sz="1400">
                              <a:latin typeface="Cambria Math" panose="02040503050406030204" pitchFamily="18" charset="0"/>
                            </a:rPr>
                            <m:t>0.15, 0.12</m:t>
                          </m:r>
                        </m:e>
                      </m:d>
                    </m:oMath>
                  </m:oMathPara>
                </a14:m>
                <a:endParaRPr lang="ar-AE" sz="1400" dirty="0"/>
              </a:p>
              <a:p>
                <a:pPr marL="0" lvl="0" indent="0">
                  <a:buNone/>
                </a:pPr>
                <a:r>
                  <a:rPr lang="en-US" sz="1400" dirty="0"/>
                  <a:t>and the across-endpoint correlation is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𝜌</m:t>
                          </m:r>
                        </m:e>
                        <m:sub>
                          <m:r>
                            <m:rPr>
                              <m:nor/>
                            </m:rPr>
                            <a:rPr lang="en-US" sz="1400"/>
                            <m:t>true</m:t>
                          </m:r>
                        </m:sub>
                      </m:sSub>
                      <m:r>
                        <a:rPr lang="ar-AE" sz="1400">
                          <a:latin typeface="Cambria Math" panose="02040503050406030204" pitchFamily="18" charset="0"/>
                        </a:rPr>
                        <m:t>=0.7</m:t>
                      </m:r>
                      <m:r>
                        <a:rPr lang="en-US" altLang="zh-CN" sz="1400" b="0" i="0" smtClean="0">
                          <a:latin typeface="Cambria Math" panose="02040503050406030204" pitchFamily="18" charset="0"/>
                        </a:rPr>
                        <m:t>0</m:t>
                      </m:r>
                      <m:r>
                        <a:rPr lang="ar-AE" sz="1400">
                          <a:latin typeface="Cambria Math" panose="02040503050406030204" pitchFamily="18" charset="0"/>
                        </a:rPr>
                        <m:t>.</m:t>
                      </m:r>
                    </m:oMath>
                  </m:oMathPara>
                </a14:m>
                <a:endParaRPr lang="ar-AE" sz="1400" dirty="0"/>
              </a:p>
              <a:p>
                <a:pPr marL="0" lvl="0" indent="0">
                  <a:buNone/>
                </a:pPr>
                <a:r>
                  <a:rPr lang="en-US" sz="1400" dirty="0"/>
                  <a:t>This implies the between-study covariance matrix:</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r>
                            <m:rPr>
                              <m:nor/>
                            </m:rPr>
                            <a:rPr lang="en-US" sz="1400"/>
                            <m:t>,</m:t>
                          </m:r>
                          <m:r>
                            <m:rPr>
                              <m:nor/>
                            </m:rPr>
                            <a:rPr lang="en-US" sz="1400"/>
                            <m:t>true</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2"/>
                                    <m:mcJc m:val="center"/>
                                  </m:mcPr>
                                </m:mc>
                              </m:mcs>
                              <m:ctrlPr>
                                <a:rPr lang="ar-AE" sz="1400" i="1">
                                  <a:latin typeface="Cambria Math" panose="02040503050406030204" pitchFamily="18" charset="0"/>
                                </a:rPr>
                              </m:ctrlPr>
                            </m:mPr>
                            <m:mr>
                              <m:e>
                                <m:sSubSup>
                                  <m:sSubSupPr>
                                    <m:ctrlPr>
                                      <a:rPr lang="ar-AE" sz="1400" i="1">
                                        <a:latin typeface="Cambria Math" panose="02040503050406030204" pitchFamily="18" charset="0"/>
                                      </a:rPr>
                                    </m:ctrlPr>
                                  </m:sSubSupPr>
                                  <m:e>
                                    <m:r>
                                      <a:rPr lang="ar-AE" sz="1400">
                                        <a:latin typeface="Cambria Math" panose="02040503050406030204" pitchFamily="18" charset="0"/>
                                      </a:rPr>
                                      <m:t>𝜏</m:t>
                                    </m:r>
                                  </m:e>
                                  <m:sub>
                                    <m:r>
                                      <a:rPr lang="ar-AE" sz="1400">
                                        <a:latin typeface="Cambria Math" panose="02040503050406030204" pitchFamily="18" charset="0"/>
                                      </a:rPr>
                                      <m:t>𝑂𝑆</m:t>
                                    </m:r>
                                  </m:sub>
                                  <m:sup>
                                    <m:r>
                                      <a:rPr lang="ar-AE" sz="1400">
                                        <a:latin typeface="Cambria Math" panose="02040503050406030204" pitchFamily="18" charset="0"/>
                                      </a:rPr>
                                      <m:t>2</m:t>
                                    </m:r>
                                  </m:sup>
                                </m:sSubSup>
                              </m:e>
                              <m:e>
                                <m:r>
                                  <a:rPr lang="ar-AE" sz="1400">
                                    <a:latin typeface="Cambria Math" panose="02040503050406030204" pitchFamily="18" charset="0"/>
                                  </a:rPr>
                                  <m:t>𝜌</m:t>
                                </m:r>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𝑂𝑆</m:t>
                                    </m:r>
                                  </m:sub>
                                </m:sSub>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𝑃𝐹𝑆</m:t>
                                    </m:r>
                                  </m:sub>
                                </m:sSub>
                              </m:e>
                            </m:mr>
                            <m:mr>
                              <m:e>
                                <m:r>
                                  <a:rPr lang="ar-AE" sz="1400">
                                    <a:latin typeface="Cambria Math" panose="02040503050406030204" pitchFamily="18" charset="0"/>
                                  </a:rPr>
                                  <m:t>𝜌</m:t>
                                </m:r>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𝑂𝑆</m:t>
                                    </m:r>
                                  </m:sub>
                                </m:sSub>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𝑃𝐹𝑆</m:t>
                                    </m:r>
                                  </m:sub>
                                </m:sSub>
                              </m:e>
                              <m:e>
                                <m:sSubSup>
                                  <m:sSubSupPr>
                                    <m:ctrlPr>
                                      <a:rPr lang="ar-AE" sz="1400" i="1">
                                        <a:latin typeface="Cambria Math" panose="02040503050406030204" pitchFamily="18" charset="0"/>
                                      </a:rPr>
                                    </m:ctrlPr>
                                  </m:sSubSupPr>
                                  <m:e>
                                    <m:r>
                                      <a:rPr lang="ar-AE" sz="1400">
                                        <a:latin typeface="Cambria Math" panose="02040503050406030204" pitchFamily="18" charset="0"/>
                                      </a:rPr>
                                      <m:t>𝜏</m:t>
                                    </m:r>
                                  </m:e>
                                  <m:sub>
                                    <m:r>
                                      <a:rPr lang="ar-AE" sz="1400">
                                        <a:latin typeface="Cambria Math" panose="02040503050406030204" pitchFamily="18" charset="0"/>
                                      </a:rPr>
                                      <m:t>𝑃𝐹𝑆</m:t>
                                    </m:r>
                                  </m:sub>
                                  <m:sup>
                                    <m:r>
                                      <a:rPr lang="ar-AE" sz="1400">
                                        <a:latin typeface="Cambria Math" panose="02040503050406030204" pitchFamily="18" charset="0"/>
                                      </a:rPr>
                                      <m:t>2</m:t>
                                    </m:r>
                                  </m:sup>
                                </m:sSubSup>
                              </m:e>
                            </m:mr>
                          </m:m>
                        </m:e>
                      </m:d>
                    </m:oMath>
                  </m:oMathPara>
                </a14:m>
                <a:endParaRPr lang="ar-AE" sz="1400" dirty="0"/>
              </a:p>
              <a:p>
                <a:pPr marL="0" lvl="0" indent="0">
                  <a:buNone/>
                </a:pPr>
                <a:r>
                  <a:rPr lang="en-US" sz="1400" dirty="0"/>
                  <a:t>Trial-specific “true” effects are generated as: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1"/>
                                    <m:mcJc m:val="center"/>
                                  </m:mcPr>
                                </m:mc>
                              </m:mcs>
                              <m:ctrlPr>
                                <a:rPr lang="ar-AE" sz="1400" i="1">
                                  <a:latin typeface="Cambria Math" panose="02040503050406030204" pitchFamily="18" charset="0"/>
                                </a:rPr>
                              </m:ctrlPr>
                            </m:mPr>
                            <m:m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e>
                            </m:mr>
                            <m:m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mr>
                          </m:m>
                        </m:e>
                      </m:d>
                      <m:r>
                        <a:rPr lang="ar-AE" sz="1400">
                          <a:latin typeface="Cambria Math" panose="02040503050406030204" pitchFamily="18" charset="0"/>
                        </a:rPr>
                        <m:t>∼</m:t>
                      </m:r>
                      <m:r>
                        <a:rPr lang="ar-AE" sz="1400">
                          <a:latin typeface="Cambria Math" panose="02040503050406030204" pitchFamily="18" charset="0"/>
                        </a:rPr>
                        <m:t>𝒩</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𝜇</m:t>
                              </m:r>
                            </m:e>
                            <m:sub>
                              <m:r>
                                <m:rPr>
                                  <m:nor/>
                                </m:rPr>
                                <a:rPr lang="en-US" sz="1400"/>
                                <m:t>true</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r>
                                <m:rPr>
                                  <m:nor/>
                                </m:rPr>
                                <a:rPr lang="en-US" sz="1400"/>
                                <m:t>,</m:t>
                              </m:r>
                              <m:r>
                                <m:rPr>
                                  <m:nor/>
                                </m:rPr>
                                <a:rPr lang="en-US" sz="1400"/>
                                <m:t>true</m:t>
                              </m:r>
                            </m:sub>
                          </m:sSub>
                        </m:e>
                      </m:d>
                    </m:oMath>
                  </m:oMathPara>
                </a14:m>
                <a:endParaRPr sz="1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309" t="-373"/>
                </a:stretch>
              </a:blipFill>
            </p:spPr>
            <p:txBody>
              <a:bodyPr/>
              <a:lstStyle/>
              <a:p>
                <a:r>
                  <a:rPr lang="en-US">
                    <a:noFill/>
                  </a:rPr>
                  <a:t> </a:t>
                </a:r>
              </a:p>
            </p:txBody>
          </p:sp>
        </mc:Fallback>
      </mc:AlternateContent>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Observation model: within-study uncertainty (SE) and covariance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72613"/>
                <a:ext cx="8229600" cy="3394472"/>
              </a:xfrm>
            </p:spPr>
            <p:txBody>
              <a:bodyPr>
                <a:noAutofit/>
              </a:bodyPr>
              <a:lstStyle/>
              <a:p>
                <a:pPr marL="0" lvl="0" indent="0">
                  <a:buNone/>
                </a:pPr>
                <a:r>
                  <a:rPr lang="en-US" sz="1400" dirty="0"/>
                  <a:t>Each trial reports estimated effects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sub>
                      </m:sSub>
                      <m:r>
                        <a:rPr lang="ar-AE" sz="1400">
                          <a:latin typeface="Cambria Math" panose="02040503050406030204" pitchFamily="18" charset="0"/>
                        </a:rPr>
                        <m:t>=</m:t>
                      </m:r>
                      <m:sSup>
                        <m:sSupPr>
                          <m:ctrlPr>
                            <a:rPr lang="ar-AE" sz="1400" i="1">
                              <a:latin typeface="Cambria Math" panose="02040503050406030204" pitchFamily="18" charset="0"/>
                            </a:rPr>
                          </m:ctrlPr>
                        </m:sSupPr>
                        <m:e>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d>
                        </m:e>
                        <m:sup>
                          <m:r>
                            <a:rPr lang="ar-AE" sz="1400">
                              <a:latin typeface="Cambria Math" panose="02040503050406030204" pitchFamily="18" charset="0"/>
                            </a:rPr>
                            <m:t>⊤</m:t>
                          </m:r>
                        </m:sup>
                      </m:sSup>
                    </m:oMath>
                  </m:oMathPara>
                </a14:m>
                <a:endParaRPr lang="ar-AE" sz="1400" dirty="0"/>
              </a:p>
              <a:p>
                <a:pPr marL="0" lvl="0" indent="0">
                  <a:buNone/>
                </a:pPr>
                <a:r>
                  <a:rPr lang="en-US" sz="1400" dirty="0"/>
                  <a:t>with standard errors</a:t>
                </a:r>
              </a:p>
              <a:p>
                <a:pPr marL="0" lvl="0" indent="0">
                  <a:buNone/>
                </a:pPr>
                <a14:m>
                  <m:oMathPara xmlns:m="http://schemas.openxmlformats.org/officeDocument/2006/math">
                    <m:oMathParaPr>
                      <m:jc m:val="center"/>
                    </m:oMathParaPr>
                    <m:oMath xmlns:m="http://schemas.openxmlformats.org/officeDocument/2006/math">
                      <m:d>
                        <m:dPr>
                          <m:ctrlPr>
                            <a:rPr lang="ar-AE" sz="1400">
                              <a:latin typeface="Cambria Math" panose="02040503050406030204" pitchFamily="18" charset="0"/>
                            </a:rPr>
                          </m:ctrlPr>
                        </m:dPr>
                        <m:e>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d>
                      <m:r>
                        <a:rPr lang="ar-AE" sz="1400">
                          <a:latin typeface="Cambria Math" panose="02040503050406030204" pitchFamily="18" charset="0"/>
                        </a:rPr>
                        <m:t>.</m:t>
                      </m:r>
                    </m:oMath>
                  </m:oMathPara>
                </a14:m>
                <a:endParaRPr lang="ar-AE" sz="1400" dirty="0"/>
              </a:p>
              <a:p>
                <a:pPr marL="0" lvl="0" indent="0">
                  <a:buNone/>
                </a:pPr>
                <a:r>
                  <a:rPr lang="en-US" sz="1400" dirty="0"/>
                  <a:t>In the simulation, we draw “roughly realistic” SE ranges:</a:t>
                </a:r>
              </a:p>
              <a:p>
                <a:pPr lvl="0"/>
                <a14:m>
                  <m:oMath xmlns:m="http://schemas.openxmlformats.org/officeDocument/2006/math">
                    <m:r>
                      <a:rPr lang="en-US"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m:rPr>
                        <m:nor/>
                      </m:rPr>
                      <a:rPr lang="en-US" sz="1400"/>
                      <m:t>Unif</m:t>
                    </m:r>
                    <m:d>
                      <m:dPr>
                        <m:ctrlPr>
                          <a:rPr lang="ar-AE" sz="1400" i="1">
                            <a:latin typeface="Cambria Math" panose="02040503050406030204" pitchFamily="18" charset="0"/>
                          </a:rPr>
                        </m:ctrlPr>
                      </m:dPr>
                      <m:e>
                        <m:r>
                          <a:rPr lang="ar-AE" sz="1400">
                            <a:latin typeface="Cambria Math" panose="02040503050406030204" pitchFamily="18" charset="0"/>
                          </a:rPr>
                          <m:t>0.10,0.</m:t>
                        </m:r>
                        <m:r>
                          <a:rPr lang="ar-AE" altLang="zh-CN" sz="1400" b="0" i="1" smtClean="0">
                            <a:latin typeface="Cambria Math" panose="02040503050406030204" pitchFamily="18" charset="0"/>
                          </a:rPr>
                          <m:t>2</m:t>
                        </m:r>
                        <m:r>
                          <a:rPr lang="en-US" altLang="zh-CN" sz="1400" b="0" i="1" smtClean="0">
                            <a:latin typeface="Cambria Math" panose="02040503050406030204" pitchFamily="18" charset="0"/>
                          </a:rPr>
                          <m:t>0</m:t>
                        </m:r>
                      </m:e>
                    </m:d>
                  </m:oMath>
                </a14:m>
                <a:endParaRPr lang="ar-AE" sz="1400" dirty="0"/>
              </a:p>
              <a:p>
                <a:pPr lvl="0"/>
                <a14:m>
                  <m:oMath xmlns:m="http://schemas.openxmlformats.org/officeDocument/2006/math">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r>
                      <a:rPr lang="ar-AE" sz="1400">
                        <a:latin typeface="Cambria Math" panose="02040503050406030204" pitchFamily="18" charset="0"/>
                      </a:rPr>
                      <m:t>∼</m:t>
                    </m:r>
                    <m:r>
                      <m:rPr>
                        <m:nor/>
                      </m:rPr>
                      <a:rPr lang="en-US" sz="1400"/>
                      <m:t>Unif</m:t>
                    </m:r>
                    <m:d>
                      <m:dPr>
                        <m:ctrlPr>
                          <a:rPr lang="ar-AE" sz="1400" i="1">
                            <a:latin typeface="Cambria Math" panose="02040503050406030204" pitchFamily="18" charset="0"/>
                          </a:rPr>
                        </m:ctrlPr>
                      </m:dPr>
                      <m:e>
                        <m:r>
                          <a:rPr lang="ar-AE" sz="1400">
                            <a:latin typeface="Cambria Math" panose="02040503050406030204" pitchFamily="18" charset="0"/>
                          </a:rPr>
                          <m:t>0.08,0.15</m:t>
                        </m:r>
                      </m:e>
                    </m:d>
                  </m:oMath>
                </a14:m>
                <a:endParaRPr lang="ar-AE" sz="1400" dirty="0"/>
              </a:p>
              <a:p>
                <a:pPr marL="0" lvl="0" indent="0">
                  <a:buNone/>
                </a:pPr>
                <a:r>
                  <a:rPr lang="en-US" sz="1400" dirty="0"/>
                  <a:t>Within-study correlation between the </a:t>
                </a:r>
                <a:r>
                  <a:rPr lang="en-US" sz="1400" b="1" dirty="0"/>
                  <a:t>estimated</a:t>
                </a:r>
                <a:r>
                  <a:rPr lang="en-US" sz="1400" dirty="0"/>
                  <a:t> endpoints is often unknown; for the base demo we set</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𝑟</m:t>
                          </m:r>
                        </m:e>
                        <m:sub>
                          <m:r>
                            <m:rPr>
                              <m:nor/>
                            </m:rPr>
                            <a:rPr lang="en-US" sz="1400"/>
                            <m:t>within</m:t>
                          </m:r>
                        </m:sub>
                      </m:sSub>
                      <m:r>
                        <a:rPr lang="ar-AE" sz="1400">
                          <a:latin typeface="Cambria Math" panose="02040503050406030204" pitchFamily="18" charset="0"/>
                        </a:rPr>
                        <m:t>=0.</m:t>
                      </m:r>
                    </m:oMath>
                  </m:oMathPara>
                </a14:m>
                <a:endParaRPr lang="ar-AE" sz="1400" dirty="0"/>
              </a:p>
              <a:p>
                <a:pPr marL="0" lvl="0" indent="0">
                  <a:buNone/>
                </a:pPr>
                <a:r>
                  <a:rPr lang="en-US" sz="1400" dirty="0"/>
                  <a:t>Then for each trial</a:t>
                </a:r>
                <a14:m>
                  <m:oMath xmlns:m="http://schemas.openxmlformats.org/officeDocument/2006/math">
                    <m:r>
                      <a:rPr lang="en-US" sz="1400">
                        <a:latin typeface="Cambria Math" panose="02040503050406030204" pitchFamily="18" charset="0"/>
                      </a:rPr>
                      <m:t>𝑖</m:t>
                    </m:r>
                  </m:oMath>
                </a14:m>
                <a:r>
                  <a:rPr lang="en-US" sz="1400" dirty="0"/>
                  <a:t>:</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𝛴</m:t>
                          </m:r>
                        </m:e>
                        <m:sub>
                          <m:r>
                            <m:rPr>
                              <m:nor/>
                            </m:rPr>
                            <a:rPr lang="en-US" sz="1400"/>
                            <m:t>within</m:t>
                          </m:r>
                          <m:r>
                            <a:rPr lang="en-US" sz="1400">
                              <a:latin typeface="Cambria Math" panose="02040503050406030204" pitchFamily="18" charset="0"/>
                            </a:rPr>
                            <m:t>,</m:t>
                          </m:r>
                          <m:r>
                            <a:rPr lang="en-US" sz="1400">
                              <a:latin typeface="Cambria Math" panose="02040503050406030204" pitchFamily="18" charset="0"/>
                            </a:rPr>
                            <m:t>𝑖</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2"/>
                                    <m:mcJc m:val="center"/>
                                  </m:mcPr>
                                </m:mc>
                              </m:mcs>
                              <m:ctrlPr>
                                <a:rPr lang="ar-AE" sz="1400" i="1">
                                  <a:latin typeface="Cambria Math" panose="02040503050406030204" pitchFamily="18" charset="0"/>
                                </a:rPr>
                              </m:ctrlPr>
                            </m:mPr>
                            <m:mr>
                              <m:e>
                                <m:r>
                                  <a:rPr lang="ar-AE" sz="1400">
                                    <a:latin typeface="Cambria Math" panose="02040503050406030204" pitchFamily="18" charset="0"/>
                                  </a:rPr>
                                  <m:t>𝑠</m:t>
                                </m:r>
                                <m:sSubSup>
                                  <m:sSubSupPr>
                                    <m:ctrlPr>
                                      <a:rPr lang="ar-AE" sz="1400" i="1">
                                        <a:latin typeface="Cambria Math" panose="02040503050406030204" pitchFamily="18" charset="0"/>
                                      </a:rPr>
                                    </m:ctrlPr>
                                  </m:sSubSup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up>
                                    <m:r>
                                      <a:rPr lang="ar-AE" sz="1400">
                                        <a:latin typeface="Cambria Math" panose="02040503050406030204" pitchFamily="18" charset="0"/>
                                      </a:rPr>
                                      <m:t>2</m:t>
                                    </m:r>
                                  </m:sup>
                                </m:sSubSup>
                              </m:e>
                              <m:e>
                                <m:sSub>
                                  <m:sSubPr>
                                    <m:ctrlPr>
                                      <a:rPr lang="ar-AE" sz="1400" i="1">
                                        <a:latin typeface="Cambria Math" panose="02040503050406030204" pitchFamily="18" charset="0"/>
                                      </a:rPr>
                                    </m:ctrlPr>
                                  </m:sSubPr>
                                  <m:e>
                                    <m:r>
                                      <a:rPr lang="ar-AE" sz="1400">
                                        <a:latin typeface="Cambria Math" panose="02040503050406030204" pitchFamily="18" charset="0"/>
                                      </a:rPr>
                                      <m:t>𝑟</m:t>
                                    </m:r>
                                  </m:e>
                                  <m:sub>
                                    <m:r>
                                      <m:rPr>
                                        <m:nor/>
                                      </m:rPr>
                                      <a:rPr lang="en-US" sz="1400"/>
                                      <m:t>within</m:t>
                                    </m:r>
                                  </m:sub>
                                </m:sSub>
                                <m:r>
                                  <a:rPr lang="ar-AE" sz="1400">
                                    <a:latin typeface="Cambria Math" panose="02040503050406030204" pitchFamily="18" charset="0"/>
                                  </a:rPr>
                                  <m:t> </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mr>
                            <m:mr>
                              <m:e>
                                <m:sSub>
                                  <m:sSubPr>
                                    <m:ctrlPr>
                                      <a:rPr lang="ar-AE" sz="1400" i="1">
                                        <a:latin typeface="Cambria Math" panose="02040503050406030204" pitchFamily="18" charset="0"/>
                                      </a:rPr>
                                    </m:ctrlPr>
                                  </m:sSubPr>
                                  <m:e>
                                    <m:r>
                                      <a:rPr lang="ar-AE" sz="1400">
                                        <a:latin typeface="Cambria Math" panose="02040503050406030204" pitchFamily="18" charset="0"/>
                                      </a:rPr>
                                      <m:t>𝑟</m:t>
                                    </m:r>
                                  </m:e>
                                  <m:sub>
                                    <m:r>
                                      <m:rPr>
                                        <m:nor/>
                                      </m:rPr>
                                      <a:rPr lang="en-US" sz="1400"/>
                                      <m:t>within</m:t>
                                    </m:r>
                                  </m:sub>
                                </m:sSub>
                                <m:r>
                                  <a:rPr lang="ar-AE" sz="1400">
                                    <a:latin typeface="Cambria Math" panose="02040503050406030204" pitchFamily="18" charset="0"/>
                                  </a:rPr>
                                  <m:t> </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e>
                                <m:r>
                                  <a:rPr lang="ar-AE" sz="1400">
                                    <a:latin typeface="Cambria Math" panose="02040503050406030204" pitchFamily="18" charset="0"/>
                                  </a:rPr>
                                  <m:t>𝑠</m:t>
                                </m:r>
                                <m:sSubSup>
                                  <m:sSubSupPr>
                                    <m:ctrlPr>
                                      <a:rPr lang="ar-AE" sz="1400" i="1">
                                        <a:latin typeface="Cambria Math" panose="02040503050406030204" pitchFamily="18" charset="0"/>
                                      </a:rPr>
                                    </m:ctrlPr>
                                  </m:sSubSup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up>
                                    <m:r>
                                      <a:rPr lang="ar-AE" sz="1400">
                                        <a:latin typeface="Cambria Math" panose="02040503050406030204" pitchFamily="18" charset="0"/>
                                      </a:rPr>
                                      <m:t>2</m:t>
                                    </m:r>
                                  </m:sup>
                                </m:sSubSup>
                              </m:e>
                            </m:mr>
                          </m:m>
                        </m:e>
                      </m:d>
                    </m:oMath>
                  </m:oMathPara>
                </a14:m>
                <a:endParaRPr lang="ar-AE" sz="1400" dirty="0"/>
              </a:p>
              <a:p>
                <a:pPr marL="0" lvl="0" indent="0">
                  <a:buNone/>
                </a:pPr>
                <a:r>
                  <a:rPr lang="en-US" sz="1400" dirty="0"/>
                  <a:t>and the observation model is: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sub>
                      </m:sSub>
                      <m:r>
                        <a:rPr lang="ar-AE" sz="1400">
                          <a:latin typeface="Cambria Math" panose="02040503050406030204" pitchFamily="18" charset="0"/>
                        </a:rPr>
                        <m:t>∼</m:t>
                      </m:r>
                      <m:r>
                        <a:rPr lang="ar-AE" sz="1400">
                          <a:latin typeface="Cambria Math" panose="02040503050406030204" pitchFamily="18" charset="0"/>
                        </a:rPr>
                        <m:t>𝒩</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within</m:t>
                              </m:r>
                              <m:r>
                                <a:rPr lang="en-US" sz="1400">
                                  <a:latin typeface="Cambria Math" panose="02040503050406030204" pitchFamily="18" charset="0"/>
                                </a:rPr>
                                <m:t>,</m:t>
                              </m:r>
                              <m:r>
                                <a:rPr lang="en-US" sz="1400">
                                  <a:latin typeface="Cambria Math" panose="02040503050406030204" pitchFamily="18" charset="0"/>
                                </a:rPr>
                                <m:t>𝑖</m:t>
                              </m:r>
                            </m:sub>
                          </m:sSub>
                        </m:e>
                      </m:d>
                      <m:r>
                        <a:rPr lang="ar-AE" sz="1400">
                          <a:latin typeface="Cambria Math" panose="02040503050406030204" pitchFamily="18" charset="0"/>
                        </a:rPr>
                        <m:t>  ⇒  </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sub>
                      </m:sSub>
                      <m:r>
                        <a:rPr lang="ar-AE" sz="1400">
                          <a:latin typeface="Cambria Math" panose="02040503050406030204" pitchFamily="18" charset="0"/>
                        </a:rPr>
                        <m:t>∼</m:t>
                      </m:r>
                      <m:r>
                        <a:rPr lang="ar-AE" sz="1400">
                          <a:latin typeface="Cambria Math" panose="02040503050406030204" pitchFamily="18" charset="0"/>
                        </a:rPr>
                        <m:t>𝒩</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𝜇</m:t>
                              </m:r>
                            </m:e>
                            <m:sub>
                              <m:r>
                                <m:rPr>
                                  <m:nor/>
                                </m:rPr>
                                <a:rPr lang="en-US" sz="1400"/>
                                <m:t>true</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r>
                                <m:rPr>
                                  <m:nor/>
                                </m:rPr>
                                <a:rPr lang="en-US" sz="1400"/>
                                <m:t>,</m:t>
                              </m:r>
                              <m:r>
                                <m:rPr>
                                  <m:nor/>
                                </m:rPr>
                                <a:rPr lang="en-US" sz="1400"/>
                                <m:t>true</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within</m:t>
                              </m:r>
                              <m:r>
                                <a:rPr lang="en-US" sz="1400">
                                  <a:latin typeface="Cambria Math" panose="02040503050406030204" pitchFamily="18" charset="0"/>
                                </a:rPr>
                                <m:t>,</m:t>
                              </m:r>
                              <m:r>
                                <a:rPr lang="en-US" sz="1400">
                                  <a:latin typeface="Cambria Math" panose="02040503050406030204" pitchFamily="18" charset="0"/>
                                </a:rPr>
                                <m:t>𝑖</m:t>
                              </m:r>
                            </m:sub>
                          </m:sSub>
                        </m:e>
                      </m:d>
                    </m:oMath>
                  </m:oMathPara>
                </a14:m>
                <a:endParaRPr sz="1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972613"/>
                <a:ext cx="8229600" cy="3394472"/>
              </a:xfrm>
              <a:blipFill>
                <a:blip r:embed="rId2"/>
                <a:stretch>
                  <a:fillRect l="-309" t="-373" b="-8582"/>
                </a:stretch>
              </a:blipFill>
            </p:spPr>
            <p:txBody>
              <a:bodyPr/>
              <a:lstStyle/>
              <a:p>
                <a:r>
                  <a:rPr 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273843"/>
            <a:ext cx="8375585" cy="1566988"/>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5059" y="440116"/>
            <a:ext cx="2670189" cy="1234440"/>
          </a:xfrm>
        </p:spPr>
        <p:txBody>
          <a:bodyPr>
            <a:normAutofit/>
          </a:bodyPr>
          <a:lstStyle/>
          <a:p>
            <a:pPr marL="0" lvl="0" indent="0">
              <a:lnSpc>
                <a:spcPct val="90000"/>
              </a:lnSpc>
              <a:buNone/>
            </a:pPr>
            <a:r>
              <a:rPr lang="en-US" sz="2000"/>
              <a:t>Estimate the between-study relationship (demo-friendly moment approach)</a:t>
            </a:r>
          </a:p>
        </p:txBody>
      </p:sp>
      <p:sp>
        <p:nvSpPr>
          <p:cNvPr id="22" name="Rectangle 21">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79330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4" name="Rectangle 23">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82656" y="1050479"/>
            <a:ext cx="109728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013373" y="440116"/>
                <a:ext cx="4501977" cy="1234440"/>
              </a:xfrm>
            </p:spPr>
            <p:txBody>
              <a:bodyPr anchor="ctr">
                <a:normAutofit/>
              </a:bodyPr>
              <a:lstStyle/>
              <a:p>
                <a:pPr marL="0" lvl="0" indent="0">
                  <a:lnSpc>
                    <a:spcPct val="90000"/>
                  </a:lnSpc>
                  <a:buNone/>
                </a:pPr>
                <a:r>
                  <a:rPr lang="en-US" sz="1400"/>
                  <a:t>For a quick internal demo, we’ll use </a:t>
                </a:r>
                <a:r>
                  <a:rPr lang="en-US" sz="1400" b="1"/>
                  <a:t>error-corrected moments</a:t>
                </a:r>
                <a:r>
                  <a:rPr lang="en-US" sz="1400"/>
                  <a:t>:</a:t>
                </a:r>
              </a:p>
              <a:p>
                <a:pPr lvl="0">
                  <a:lnSpc>
                    <a:spcPct val="90000"/>
                  </a:lnSpc>
                </a:pPr>
                <a:r>
                  <a:rPr lang="en-US" sz="1400"/>
                  <a:t>observed sample covariance: </a:t>
                </a: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𝑆</m:t>
                        </m:r>
                      </m:e>
                      <m:sub>
                        <m:r>
                          <a:rPr lang="ar-AE" sz="1400">
                            <a:latin typeface="Cambria Math" panose="02040503050406030204" pitchFamily="18" charset="0"/>
                          </a:rPr>
                          <m:t>𝑜𝑏𝑠</m:t>
                        </m:r>
                      </m:sub>
                    </m:sSub>
                    <m:r>
                      <a:rPr lang="ar-AE" sz="1400">
                        <a:latin typeface="Cambria Math" panose="02040503050406030204" pitchFamily="18" charset="0"/>
                      </a:rPr>
                      <m:t>=</m:t>
                    </m:r>
                    <m:r>
                      <m:rPr>
                        <m:nor/>
                      </m:rPr>
                      <a:rPr lang="en-US" sz="1400"/>
                      <m:t>Cov</m:t>
                    </m:r>
                    <m:d>
                      <m:dPr>
                        <m:ctrlPr>
                          <a:rPr lang="ar-AE" sz="1400" i="1">
                            <a:latin typeface="Cambria Math" panose="02040503050406030204" pitchFamily="18" charset="0"/>
                          </a:rPr>
                        </m:ctrlPr>
                      </m:dPr>
                      <m:e>
                        <m:r>
                          <a:rPr lang="ar-AE" sz="1400">
                            <a:latin typeface="Cambria Math" panose="02040503050406030204" pitchFamily="18" charset="0"/>
                          </a:rPr>
                          <m:t>𝑦</m:t>
                        </m:r>
                      </m:e>
                    </m:d>
                  </m:oMath>
                </a14:m>
                <a:endParaRPr lang="ar-AE" sz="1400"/>
              </a:p>
              <a:p>
                <a:pPr lvl="0">
                  <a:lnSpc>
                    <a:spcPct val="90000"/>
                  </a:lnSpc>
                </a:pPr>
                <a:r>
                  <a:rPr lang="en-US" sz="1400"/>
                  <a:t>average within-study covariance: </a:t>
                </a:r>
                <a14:m>
                  <m:oMath xmlns:m="http://schemas.openxmlformats.org/officeDocument/2006/math">
                    <m:acc>
                      <m:accPr>
                        <m:chr m:val="‾"/>
                        <m:ctrlPr>
                          <a:rPr lang="ar-AE" sz="1400" i="1">
                            <a:latin typeface="Cambria Math" panose="02040503050406030204" pitchFamily="18" charset="0"/>
                          </a:rPr>
                        </m:ctrlPr>
                      </m:accPr>
                      <m:e>
                        <m:r>
                          <a:rPr lang="ar-AE" sz="1400">
                            <a:latin typeface="Cambria Math" panose="02040503050406030204" pitchFamily="18" charset="0"/>
                          </a:rPr>
                          <m:t>𝑊</m:t>
                        </m:r>
                      </m:e>
                    </m:acc>
                  </m:oMath>
                </a14:m>
                <a:endParaRPr lang="ar-AE" sz="1400"/>
              </a:p>
              <a:p>
                <a:pPr lvl="0">
                  <a:lnSpc>
                    <a:spcPct val="90000"/>
                  </a:lnSpc>
                </a:pPr>
                <a:r>
                  <a:rPr lang="en-US" sz="1400"/>
                  <a:t>estimate: </a:t>
                </a:r>
                <a14:m>
                  <m:oMath xmlns:m="http://schemas.openxmlformats.org/officeDocument/2006/math">
                    <m:sSub>
                      <m:sSubPr>
                        <m:ctrlPr>
                          <a:rPr lang="ar-AE" sz="1400" i="1">
                            <a:latin typeface="Cambria Math" panose="02040503050406030204" pitchFamily="18" charset="0"/>
                          </a:rPr>
                        </m:ctrlPr>
                      </m:sSubPr>
                      <m:e>
                        <m:acc>
                          <m:accPr>
                            <m:chr m:val="̂"/>
                            <m:ctrlPr>
                              <a:rPr lang="ar-AE" sz="1400" i="1">
                                <a:latin typeface="Cambria Math" panose="02040503050406030204" pitchFamily="18" charset="0"/>
                              </a:rPr>
                            </m:ctrlPr>
                          </m:accPr>
                          <m:e>
                            <m:r>
                              <a:rPr lang="ar-AE" sz="1400">
                                <a:latin typeface="Cambria Math" panose="02040503050406030204" pitchFamily="18" charset="0"/>
                              </a:rPr>
                              <m:t>𝛴</m:t>
                            </m:r>
                          </m:e>
                        </m:acc>
                      </m:e>
                      <m:sub>
                        <m:r>
                          <a:rPr lang="ar-AE" sz="1400">
                            <a:latin typeface="Cambria Math" panose="02040503050406030204" pitchFamily="18" charset="0"/>
                          </a:rPr>
                          <m:t>𝑏𝑒𝑡𝑤𝑒𝑒𝑛</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𝑆</m:t>
                        </m:r>
                      </m:e>
                      <m:sub>
                        <m:r>
                          <a:rPr lang="ar-AE" sz="1400">
                            <a:latin typeface="Cambria Math" panose="02040503050406030204" pitchFamily="18" charset="0"/>
                          </a:rPr>
                          <m:t>𝑜𝑏𝑠</m:t>
                        </m:r>
                      </m:sub>
                    </m:sSub>
                    <m:r>
                      <a:rPr lang="ar-AE" sz="1400">
                        <a:latin typeface="Cambria Math" panose="02040503050406030204" pitchFamily="18" charset="0"/>
                      </a:rPr>
                      <m:t>−</m:t>
                    </m:r>
                    <m:acc>
                      <m:accPr>
                        <m:chr m:val="‾"/>
                        <m:ctrlPr>
                          <a:rPr lang="ar-AE" sz="1400" i="1">
                            <a:latin typeface="Cambria Math" panose="02040503050406030204" pitchFamily="18" charset="0"/>
                          </a:rPr>
                        </m:ctrlPr>
                      </m:accPr>
                      <m:e>
                        <m:r>
                          <a:rPr lang="ar-AE" sz="1400">
                            <a:latin typeface="Cambria Math" panose="02040503050406030204" pitchFamily="18" charset="0"/>
                          </a:rPr>
                          <m:t>𝑊</m:t>
                        </m:r>
                      </m:e>
                    </m:acc>
                  </m:oMath>
                </a14:m>
                <a:endParaRPr lang="ar-AE" sz="14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013373" y="440116"/>
                <a:ext cx="4501977" cy="1234440"/>
              </a:xfrm>
              <a:blipFill>
                <a:blip r:embed="rId3"/>
                <a:stretch>
                  <a:fillRect l="-281" t="-1020" b="-4082"/>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3AEF2EB5-42A7-099D-3D78-4CFDF1B79996}"/>
              </a:ext>
            </a:extLst>
          </p:cNvPr>
          <p:cNvGraphicFramePr>
            <a:graphicFrameLocks noGrp="1"/>
          </p:cNvGraphicFramePr>
          <p:nvPr>
            <p:extLst>
              <p:ext uri="{D42A27DB-BD31-4B8C-83A1-F6EECF244321}">
                <p14:modId xmlns:p14="http://schemas.microsoft.com/office/powerpoint/2010/main" val="2045114585"/>
              </p:ext>
            </p:extLst>
          </p:nvPr>
        </p:nvGraphicFramePr>
        <p:xfrm>
          <a:off x="544057" y="2050542"/>
          <a:ext cx="8122182" cy="2612901"/>
        </p:xfrm>
        <a:graphic>
          <a:graphicData uri="http://schemas.openxmlformats.org/drawingml/2006/table">
            <a:tbl>
              <a:tblPr/>
              <a:tblGrid>
                <a:gridCol w="2055901">
                  <a:extLst>
                    <a:ext uri="{9D8B030D-6E8A-4147-A177-3AD203B41FA5}">
                      <a16:colId xmlns:a16="http://schemas.microsoft.com/office/drawing/2014/main" val="229552332"/>
                    </a:ext>
                  </a:extLst>
                </a:gridCol>
                <a:gridCol w="2064372">
                  <a:extLst>
                    <a:ext uri="{9D8B030D-6E8A-4147-A177-3AD203B41FA5}">
                      <a16:colId xmlns:a16="http://schemas.microsoft.com/office/drawing/2014/main" val="3026214129"/>
                    </a:ext>
                  </a:extLst>
                </a:gridCol>
                <a:gridCol w="1891124">
                  <a:extLst>
                    <a:ext uri="{9D8B030D-6E8A-4147-A177-3AD203B41FA5}">
                      <a16:colId xmlns:a16="http://schemas.microsoft.com/office/drawing/2014/main" val="173066917"/>
                    </a:ext>
                  </a:extLst>
                </a:gridCol>
                <a:gridCol w="2110785">
                  <a:extLst>
                    <a:ext uri="{9D8B030D-6E8A-4147-A177-3AD203B41FA5}">
                      <a16:colId xmlns:a16="http://schemas.microsoft.com/office/drawing/2014/main" val="1603216963"/>
                    </a:ext>
                  </a:extLst>
                </a:gridCol>
              </a:tblGrid>
              <a:tr h="291601">
                <a:tc>
                  <a:txBody>
                    <a:bodyPr/>
                    <a:lstStyle/>
                    <a:p>
                      <a:pPr algn="l" rtl="0" fontAlgn="ctr">
                        <a:buNone/>
                      </a:pPr>
                      <a:r>
                        <a:rPr lang="en-US" sz="1100" b="1" i="0" u="none" strike="noStrike">
                          <a:solidFill>
                            <a:srgbClr val="1F1F1F"/>
                          </a:solidFill>
                          <a:effectLst/>
                          <a:latin typeface="Google Sans Text"/>
                        </a:rPr>
                        <a:t>Parameter</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Symbol</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Estimate</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Interpretation (HR equivalent)</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32193116"/>
                  </a:ext>
                </a:extLst>
              </a:tr>
              <a:tr h="464260">
                <a:tc>
                  <a:txBody>
                    <a:bodyPr/>
                    <a:lstStyle/>
                    <a:p>
                      <a:pPr algn="l" rtl="0" fontAlgn="ctr">
                        <a:buNone/>
                      </a:pPr>
                      <a:r>
                        <a:rPr lang="en-US" sz="1100" b="1" i="0" u="none" strike="noStrike">
                          <a:solidFill>
                            <a:srgbClr val="1F1F1F"/>
                          </a:solidFill>
                          <a:effectLst/>
                          <a:latin typeface="Google Sans Text"/>
                        </a:rPr>
                        <a:t>Mean OS Effect</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marL="0" marR="0" indent="0" algn="l" defTabSz="342900" rtl="0" eaLnBrk="1" fontAlgn="ctr" latinLnBrk="0" hangingPunct="1">
                        <a:lnSpc>
                          <a:spcPct val="100000"/>
                        </a:lnSpc>
                        <a:spcBef>
                          <a:spcPts val="0"/>
                        </a:spcBef>
                        <a:spcAft>
                          <a:spcPts val="0"/>
                        </a:spcAft>
                        <a:buClrTx/>
                        <a:buSzTx/>
                        <a:buFontTx/>
                        <a:buNone/>
                        <a:tabLst/>
                        <a:defRPr/>
                      </a:pPr>
                      <a:r>
                        <a:rPr lang="en-US" sz="1100" dirty="0">
                          <a:effectLst/>
                          <a:latin typeface="Google Sans Text"/>
                        </a:rPr>
                        <a:t>$\hat{\mu}_{OS}$</a:t>
                      </a:r>
                      <a:endParaRPr lang="en-US" sz="11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-0.315</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Historical average $HR \approx 0.73$</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5681036"/>
                  </a:ext>
                </a:extLst>
              </a:tr>
              <a:tr h="464260">
                <a:tc>
                  <a:txBody>
                    <a:bodyPr/>
                    <a:lstStyle/>
                    <a:p>
                      <a:pPr algn="l" rtl="0" fontAlgn="ctr">
                        <a:buNone/>
                      </a:pPr>
                      <a:r>
                        <a:rPr lang="en-US" sz="1100" b="1" i="0" u="none" strike="noStrike">
                          <a:solidFill>
                            <a:srgbClr val="1F1F1F"/>
                          </a:solidFill>
                          <a:effectLst/>
                          <a:latin typeface="Google Sans Text"/>
                        </a:rPr>
                        <a:t>Mean PFS Effect</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$\hat{\mu}_{PFS}$</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-0.537</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Historical average $HR \approx 0.58$</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79428495"/>
                  </a:ext>
                </a:extLst>
              </a:tr>
              <a:tr h="464260">
                <a:tc>
                  <a:txBody>
                    <a:bodyPr/>
                    <a:lstStyle/>
                    <a:p>
                      <a:pPr algn="l" rtl="0" fontAlgn="ctr">
                        <a:buNone/>
                      </a:pPr>
                      <a:r>
                        <a:rPr lang="en-US" sz="1100" b="1" i="0" u="none" strike="noStrike">
                          <a:solidFill>
                            <a:srgbClr val="1F1F1F"/>
                          </a:solidFill>
                          <a:effectLst/>
                          <a:latin typeface="Google Sans Text"/>
                        </a:rPr>
                        <a:t>OS Heterogeneity</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$\hat{\tau}_{OS}$</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0.097</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Low-to-moderate cross-study variation</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73492887"/>
                  </a:ext>
                </a:extLst>
              </a:tr>
              <a:tr h="464260">
                <a:tc>
                  <a:txBody>
                    <a:bodyPr/>
                    <a:lstStyle/>
                    <a:p>
                      <a:pPr algn="l" rtl="0" fontAlgn="ctr">
                        <a:buNone/>
                      </a:pPr>
                      <a:r>
                        <a:rPr lang="en-US" sz="1100" b="1" i="0" u="none" strike="noStrike">
                          <a:solidFill>
                            <a:srgbClr val="1F1F1F"/>
                          </a:solidFill>
                          <a:effectLst/>
                          <a:latin typeface="Google Sans Text"/>
                        </a:rPr>
                        <a:t>PFS Heterogeneity</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$\hat{\tau}_{PFS}$</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0.162</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Higher variability in PFS outcomes</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65106074"/>
                  </a:ext>
                </a:extLst>
              </a:tr>
              <a:tr h="464260">
                <a:tc>
                  <a:txBody>
                    <a:bodyPr/>
                    <a:lstStyle/>
                    <a:p>
                      <a:pPr algn="l" rtl="0" fontAlgn="ctr">
                        <a:buNone/>
                      </a:pPr>
                      <a:r>
                        <a:rPr lang="en-US" sz="1100" b="1" i="0" u="none" strike="noStrike">
                          <a:solidFill>
                            <a:srgbClr val="1F1F1F"/>
                          </a:solidFill>
                          <a:effectLst/>
                          <a:latin typeface="Google Sans Text"/>
                        </a:rPr>
                        <a:t>Endpoint Correlation</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Google Sans Text"/>
                        </a:rPr>
                        <a:t>$\hat{\rho}$</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Google Sans Text"/>
                        </a:rPr>
                        <a:t>0.797</a:t>
                      </a:r>
                      <a:endParaRPr lang="en-US" sz="11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100" b="1" i="0" u="none" strike="noStrike" dirty="0">
                          <a:solidFill>
                            <a:srgbClr val="1F1F1F"/>
                          </a:solidFill>
                          <a:effectLst/>
                          <a:latin typeface="Google Sans Text"/>
                        </a:rPr>
                        <a:t>Strong linkage</a:t>
                      </a:r>
                      <a:r>
                        <a:rPr lang="en-US" sz="1100" b="0" i="0" u="none" strike="noStrike" dirty="0">
                          <a:solidFill>
                            <a:srgbClr val="1F1F1F"/>
                          </a:solidFill>
                          <a:effectLst/>
                          <a:latin typeface="Google Sans Text"/>
                        </a:rPr>
                        <a:t> between PFS and OS</a:t>
                      </a:r>
                      <a:endParaRPr lang="en-US" sz="11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2816786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lnSpc>
                <a:spcPct val="90000"/>
              </a:lnSpc>
              <a:buNone/>
            </a:pPr>
            <a:r>
              <a:rPr lang="en-US" sz="2600">
                <a:solidFill>
                  <a:srgbClr val="FFFFFF"/>
                </a:solidFill>
              </a:rPr>
              <a:t>Current trial: plug in observed PFS and compute PoS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28699" y="1413958"/>
                <a:ext cx="7293023" cy="2762519"/>
              </a:xfrm>
            </p:spPr>
            <p:txBody>
              <a:bodyPr anchor="ctr">
                <a:normAutofit lnSpcReduction="10000"/>
              </a:bodyPr>
              <a:lstStyle/>
              <a:p>
                <a:pPr marL="0" lvl="0" indent="0">
                  <a:lnSpc>
                    <a:spcPct val="90000"/>
                  </a:lnSpc>
                  <a:buNone/>
                </a:pPr>
                <a:r>
                  <a:rPr lang="en-US" sz="1200" dirty="0"/>
                  <a:t>Assume the current trial has interim/final PFS result:</a:t>
                </a:r>
              </a:p>
              <a:p>
                <a:pPr lvl="0">
                  <a:lnSpc>
                    <a:spcPct val="90000"/>
                  </a:lnSpc>
                </a:pPr>
                <a14:m>
                  <m:oMath xmlns:m="http://schemas.openxmlformats.org/officeDocument/2006/math">
                    <m:sSub>
                      <m:sSubPr>
                        <m:ctrlPr>
                          <a:rPr lang="ar-AE" sz="1200" i="1">
                            <a:latin typeface="Cambria Math" panose="02040503050406030204" pitchFamily="18" charset="0"/>
                          </a:rPr>
                        </m:ctrlPr>
                      </m:sSubPr>
                      <m:e>
                        <m:r>
                          <a:rPr lang="ar-AE" sz="1200">
                            <a:latin typeface="Cambria Math" panose="02040503050406030204" pitchFamily="18" charset="0"/>
                          </a:rPr>
                          <m:t>𝑦</m:t>
                        </m:r>
                      </m:e>
                      <m:sub>
                        <m:r>
                          <a:rPr lang="ar-AE" sz="1200">
                            <a:latin typeface="Cambria Math" panose="02040503050406030204" pitchFamily="18" charset="0"/>
                          </a:rPr>
                          <m:t>𝑐</m:t>
                        </m:r>
                      </m:sub>
                    </m:sSub>
                    <m:r>
                      <a:rPr lang="ar-AE" sz="1200">
                        <a:latin typeface="Cambria Math" panose="02040503050406030204" pitchFamily="18" charset="0"/>
                      </a:rPr>
                      <m:t>=</m:t>
                    </m:r>
                    <m:r>
                      <m:rPr>
                        <m:sty m:val="p"/>
                      </m:rPr>
                      <a:rPr lang="en-US" sz="1200">
                        <a:latin typeface="Cambria Math" panose="02040503050406030204" pitchFamily="18" charset="0"/>
                      </a:rPr>
                      <m:t>log</m:t>
                    </m:r>
                    <m:d>
                      <m:dPr>
                        <m:ctrlPr>
                          <a:rPr lang="ar-AE" sz="1200" i="1">
                            <a:latin typeface="Cambria Math" panose="02040503050406030204" pitchFamily="18" charset="0"/>
                          </a:rPr>
                        </m:ctrlPr>
                      </m:dPr>
                      <m:e>
                        <m:r>
                          <a:rPr lang="ar-AE" sz="1200">
                            <a:latin typeface="Cambria Math" panose="02040503050406030204" pitchFamily="18" charset="0"/>
                          </a:rPr>
                          <m:t>𝐻</m:t>
                        </m:r>
                        <m:sSub>
                          <m:sSubPr>
                            <m:ctrlPr>
                              <a:rPr lang="ar-AE" sz="1200" i="1">
                                <a:latin typeface="Cambria Math" panose="02040503050406030204" pitchFamily="18" charset="0"/>
                              </a:rPr>
                            </m:ctrlPr>
                          </m:sSubPr>
                          <m:e>
                            <m:r>
                              <a:rPr lang="ar-AE" sz="1200">
                                <a:latin typeface="Cambria Math" panose="02040503050406030204" pitchFamily="18" charset="0"/>
                              </a:rPr>
                              <m:t>𝑅</m:t>
                            </m:r>
                          </m:e>
                          <m:sub>
                            <m:r>
                              <a:rPr lang="ar-AE" sz="1200">
                                <a:latin typeface="Cambria Math" panose="02040503050406030204" pitchFamily="18" charset="0"/>
                              </a:rPr>
                              <m:t>𝑃𝐹𝑆</m:t>
                            </m:r>
                          </m:sub>
                        </m:sSub>
                      </m:e>
                    </m:d>
                  </m:oMath>
                </a14:m>
                <a:endParaRPr lang="ar-AE" sz="1200" dirty="0"/>
              </a:p>
              <a:p>
                <a:pPr lvl="0">
                  <a:lnSpc>
                    <a:spcPct val="90000"/>
                  </a:lnSpc>
                </a:pPr>
                <a14:m>
                  <m:oMath xmlns:m="http://schemas.openxmlformats.org/officeDocument/2006/math">
                    <m:r>
                      <a:rPr lang="ar-AE" sz="1200">
                        <a:latin typeface="Cambria Math" panose="02040503050406030204" pitchFamily="18" charset="0"/>
                      </a:rPr>
                      <m:t>𝑠</m:t>
                    </m:r>
                    <m:sSub>
                      <m:sSubPr>
                        <m:ctrlPr>
                          <a:rPr lang="ar-AE" sz="1200" i="1">
                            <a:latin typeface="Cambria Math" panose="02040503050406030204" pitchFamily="18" charset="0"/>
                          </a:rPr>
                        </m:ctrlPr>
                      </m:sSubPr>
                      <m:e>
                        <m:r>
                          <a:rPr lang="ar-AE" sz="1200">
                            <a:latin typeface="Cambria Math" panose="02040503050406030204" pitchFamily="18" charset="0"/>
                          </a:rPr>
                          <m:t>𝑒</m:t>
                        </m:r>
                      </m:e>
                      <m:sub>
                        <m:r>
                          <a:rPr lang="ar-AE" sz="1200">
                            <a:latin typeface="Cambria Math" panose="02040503050406030204" pitchFamily="18" charset="0"/>
                          </a:rPr>
                          <m:t>𝑐</m:t>
                        </m:r>
                      </m:sub>
                    </m:sSub>
                  </m:oMath>
                </a14:m>
                <a:r>
                  <a:rPr lang="ar-AE" sz="1200" dirty="0"/>
                  <a:t> (</a:t>
                </a:r>
                <a:r>
                  <a:rPr lang="en-US" sz="1200" dirty="0"/>
                  <a:t>its standard error)</a:t>
                </a:r>
              </a:p>
              <a:p>
                <a:pPr marL="0" lvl="0" indent="0">
                  <a:lnSpc>
                    <a:spcPct val="90000"/>
                  </a:lnSpc>
                  <a:buNone/>
                </a:pPr>
                <a:r>
                  <a:rPr lang="en-US" sz="1200" dirty="0"/>
                  <a:t>For OS final analysis, assume planned OS event count </a:t>
                </a:r>
                <a14:m>
                  <m:oMath xmlns:m="http://schemas.openxmlformats.org/officeDocument/2006/math">
                    <m:r>
                      <a:rPr lang="en-US" sz="1200">
                        <a:latin typeface="Cambria Math" panose="02040503050406030204" pitchFamily="18" charset="0"/>
                      </a:rPr>
                      <m:t>𝑑</m:t>
                    </m:r>
                  </m:oMath>
                </a14:m>
                <a:r>
                  <a:rPr lang="en-US" sz="1200" dirty="0"/>
                  <a:t>. Under 1:1 allocation, Schoenfeld gives a useful approximation:</a:t>
                </a:r>
              </a:p>
              <a:p>
                <a:pPr marL="0" lvl="0" indent="0">
                  <a:lnSpc>
                    <a:spcPct val="90000"/>
                  </a:lnSpc>
                  <a:buNone/>
                </a:pPr>
                <a:endParaRPr lang="en-US" sz="1200" dirty="0"/>
              </a:p>
              <a:p>
                <a:pPr marL="0" lvl="0" indent="0">
                  <a:lnSpc>
                    <a:spcPct val="90000"/>
                  </a:lnSpc>
                  <a:buNone/>
                </a:pPr>
                <a14:m>
                  <m:oMathPara xmlns:m="http://schemas.openxmlformats.org/officeDocument/2006/math">
                    <m:oMathParaPr>
                      <m:jc m:val="center"/>
                    </m:oMathParaPr>
                    <m:oMath xmlns:m="http://schemas.openxmlformats.org/officeDocument/2006/math">
                      <m:r>
                        <a:rPr lang="en-US" sz="1200">
                          <a:latin typeface="Cambria Math" panose="02040503050406030204" pitchFamily="18" charset="0"/>
                        </a:rPr>
                        <m:t>𝑠</m:t>
                      </m:r>
                      <m:sSub>
                        <m:sSubPr>
                          <m:ctrlPr>
                            <a:rPr lang="ar-AE" sz="1200" i="1">
                              <a:latin typeface="Cambria Math" panose="02040503050406030204" pitchFamily="18" charset="0"/>
                            </a:rPr>
                          </m:ctrlPr>
                        </m:sSubPr>
                        <m:e>
                          <m:r>
                            <a:rPr lang="ar-AE" sz="1200">
                              <a:latin typeface="Cambria Math" panose="02040503050406030204" pitchFamily="18" charset="0"/>
                            </a:rPr>
                            <m:t>𝑒</m:t>
                          </m:r>
                        </m:e>
                        <m:sub>
                          <m:r>
                            <a:rPr lang="ar-AE" sz="1200">
                              <a:latin typeface="Cambria Math" panose="02040503050406030204" pitchFamily="18" charset="0"/>
                            </a:rPr>
                            <m:t>∗</m:t>
                          </m:r>
                        </m:sub>
                      </m:sSub>
                      <m:r>
                        <a:rPr lang="ar-AE" sz="1200">
                          <a:latin typeface="Cambria Math" panose="02040503050406030204" pitchFamily="18" charset="0"/>
                        </a:rPr>
                        <m:t>≈</m:t>
                      </m:r>
                      <m:f>
                        <m:fPr>
                          <m:ctrlPr>
                            <a:rPr lang="ar-AE" sz="1200" i="1">
                              <a:latin typeface="Cambria Math" panose="02040503050406030204" pitchFamily="18" charset="0"/>
                            </a:rPr>
                          </m:ctrlPr>
                        </m:fPr>
                        <m:num>
                          <m:r>
                            <a:rPr lang="ar-AE" sz="1200">
                              <a:latin typeface="Cambria Math" panose="02040503050406030204" pitchFamily="18" charset="0"/>
                            </a:rPr>
                            <m:t>2</m:t>
                          </m:r>
                        </m:num>
                        <m:den>
                          <m:rad>
                            <m:radPr>
                              <m:degHide m:val="on"/>
                              <m:ctrlPr>
                                <a:rPr lang="ar-AE" sz="1200" i="1">
                                  <a:latin typeface="Cambria Math" panose="02040503050406030204" pitchFamily="18" charset="0"/>
                                </a:rPr>
                              </m:ctrlPr>
                            </m:radPr>
                            <m:deg/>
                            <m:e>
                              <m:r>
                                <a:rPr lang="ar-AE" sz="1200">
                                  <a:latin typeface="Cambria Math" panose="02040503050406030204" pitchFamily="18" charset="0"/>
                                </a:rPr>
                                <m:t>𝑑</m:t>
                              </m:r>
                            </m:e>
                          </m:rad>
                        </m:den>
                      </m:f>
                    </m:oMath>
                  </m:oMathPara>
                </a14:m>
                <a:endParaRPr lang="ar-AE" sz="1200" dirty="0"/>
              </a:p>
              <a:p>
                <a:pPr lvl="0" indent="0">
                  <a:lnSpc>
                    <a:spcPct val="90000"/>
                  </a:lnSpc>
                  <a:buNone/>
                </a:pPr>
                <a:r>
                  <a:rPr lang="ar-AE" sz="1200" dirty="0">
                    <a:latin typeface="Courier"/>
                  </a:rPr>
                  <a:t>               </a:t>
                </a:r>
                <a:r>
                  <a:rPr lang="en-US" sz="1200" dirty="0" err="1">
                    <a:latin typeface="Courier"/>
                  </a:rPr>
                  <a:t>y_c</a:t>
                </a:r>
                <a:r>
                  <a:rPr lang="en-US" sz="1200" dirty="0">
                    <a:latin typeface="Courier"/>
                  </a:rPr>
                  <a:t>          HR_PFS      </a:t>
                </a:r>
                <a:r>
                  <a:rPr lang="en-US" sz="1200" dirty="0" err="1">
                    <a:latin typeface="Courier"/>
                  </a:rPr>
                  <a:t>m_post_OS.OS</a:t>
                </a:r>
                <a:r>
                  <a:rPr lang="en-US" sz="1200" dirty="0">
                    <a:latin typeface="Courier"/>
                  </a:rPr>
                  <a:t>
       -0.350        0.705        -0.209 
</a:t>
                </a:r>
                <a:r>
                  <a:rPr lang="en-US" sz="1200" dirty="0" err="1">
                    <a:latin typeface="Courier"/>
                  </a:rPr>
                  <a:t>HR_OS_pred_mean.OS</a:t>
                </a:r>
                <a:r>
                  <a:rPr lang="en-US" sz="1200" dirty="0">
                    <a:latin typeface="Courier"/>
                  </a:rPr>
                  <a:t>  </a:t>
                </a:r>
                <a:r>
                  <a:rPr lang="en-US" sz="1200" dirty="0" err="1">
                    <a:latin typeface="Courier"/>
                  </a:rPr>
                  <a:t>sd_thetaOS</a:t>
                </a:r>
                <a:r>
                  <a:rPr lang="en-US" sz="1200" dirty="0">
                    <a:latin typeface="Courier"/>
                  </a:rPr>
                  <a:t>   </a:t>
                </a:r>
                <a:r>
                  <a:rPr lang="en-US" sz="1200" dirty="0" err="1">
                    <a:latin typeface="Courier"/>
                  </a:rPr>
                  <a:t>d_events</a:t>
                </a:r>
                <a:r>
                  <a:rPr lang="en-US" sz="1200" dirty="0">
                    <a:latin typeface="Courier"/>
                  </a:rPr>
                  <a:t>
        0.811        0.079          240
       </a:t>
                </a:r>
                <a:r>
                  <a:rPr lang="en-US" sz="1200" dirty="0" err="1">
                    <a:latin typeface="Courier"/>
                  </a:rPr>
                  <a:t>se_star</a:t>
                </a:r>
                <a:r>
                  <a:rPr lang="en-US" sz="1200" dirty="0">
                    <a:latin typeface="Courier"/>
                  </a:rPr>
                  <a:t>       </a:t>
                </a:r>
                <a:r>
                  <a:rPr lang="en-US" sz="1200" dirty="0" err="1">
                    <a:latin typeface="Courier"/>
                  </a:rPr>
                  <a:t>threshold_c</a:t>
                </a:r>
                <a:r>
                  <a:rPr lang="en-US" sz="1200" dirty="0">
                    <a:latin typeface="Courier"/>
                  </a:rPr>
                  <a:t>   </a:t>
                </a:r>
                <a:r>
                  <a:rPr lang="en-US" sz="1200" dirty="0" err="1">
                    <a:latin typeface="Courier"/>
                  </a:rPr>
                  <a:t>PoS</a:t>
                </a:r>
                <a:r>
                  <a:rPr lang="en-US" sz="1200" dirty="0">
                    <a:latin typeface="Courier"/>
                  </a:rPr>
                  <a:t>
        0.129       -0.253         0.386</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028699" y="1413958"/>
                <a:ext cx="7293023" cy="2762519"/>
              </a:xfrm>
              <a:blipFill>
                <a:blip r:embed="rId2"/>
                <a:stretch>
                  <a:fillRect/>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186028"/>
            <a:ext cx="5297791" cy="869400"/>
          </a:xfrm>
        </p:spPr>
        <p:txBody>
          <a:bodyPr vert="horz" lIns="91440" tIns="45720" rIns="91440" bIns="45720" rtlCol="0" anchor="ctr">
            <a:normAutofit/>
          </a:bodyPr>
          <a:lstStyle/>
          <a:p>
            <a:pPr marL="0" lvl="0" indent="0" algn="l" defTabSz="914400">
              <a:lnSpc>
                <a:spcPct val="90000"/>
              </a:lnSpc>
            </a:pPr>
            <a:r>
              <a:rPr lang="en-US" sz="2800" kern="1200">
                <a:solidFill>
                  <a:srgbClr val="FFFFFF"/>
                </a:solidFill>
                <a:latin typeface="+mj-lt"/>
                <a:ea typeface="+mj-ea"/>
                <a:cs typeface="+mj-cs"/>
              </a:rPr>
              <a:t>Visual 1: historical relationship (virtual 27 trials)</a:t>
            </a:r>
          </a:p>
        </p:txBody>
      </p:sp>
      <p:pic>
        <p:nvPicPr>
          <p:cNvPr id="4" name="Picture 3">
            <a:extLst>
              <a:ext uri="{FF2B5EF4-FFF2-40B4-BE49-F238E27FC236}">
                <a16:creationId xmlns:a16="http://schemas.microsoft.com/office/drawing/2014/main" id="{B122FFD4-1EA9-1467-E374-FE1581CE4EFF}"/>
              </a:ext>
            </a:extLst>
          </p:cNvPr>
          <p:cNvPicPr>
            <a:picLocks noChangeAspect="1"/>
          </p:cNvPicPr>
          <p:nvPr/>
        </p:nvPicPr>
        <p:blipFill>
          <a:blip r:embed="rId2"/>
          <a:stretch>
            <a:fillRect/>
          </a:stretch>
        </p:blipFill>
        <p:spPr>
          <a:xfrm>
            <a:off x="2125757" y="1474719"/>
            <a:ext cx="4892484" cy="33391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186028"/>
            <a:ext cx="5297791" cy="869400"/>
          </a:xfrm>
        </p:spPr>
        <p:txBody>
          <a:bodyPr vert="horz" lIns="91440" tIns="45720" rIns="91440" bIns="45720" rtlCol="0" anchor="ctr">
            <a:normAutofit/>
          </a:bodyPr>
          <a:lstStyle/>
          <a:p>
            <a:pPr marL="0" lvl="0" indent="0" algn="l" defTabSz="914400">
              <a:lnSpc>
                <a:spcPct val="90000"/>
              </a:lnSpc>
            </a:pPr>
            <a:r>
              <a:rPr lang="en-US" sz="2800" kern="1200">
                <a:solidFill>
                  <a:srgbClr val="FFFFFF"/>
                </a:solidFill>
                <a:latin typeface="+mj-lt"/>
                <a:ea typeface="+mj-ea"/>
                <a:cs typeface="+mj-cs"/>
              </a:rPr>
              <a:t>Visual 2: PoS curve (how PFS maps to OS success probability)</a:t>
            </a:r>
          </a:p>
        </p:txBody>
      </p:sp>
      <p:pic>
        <p:nvPicPr>
          <p:cNvPr id="3" name="Picture 1" descr="PPOS-or-POS_files/figure-pptx/plot_pos_curve-1.png"/>
          <p:cNvPicPr>
            <a:picLocks noGrp="1" noChangeAspect="1"/>
          </p:cNvPicPr>
          <p:nvPr/>
        </p:nvPicPr>
        <p:blipFill>
          <a:blip r:embed="rId3"/>
          <a:stretch>
            <a:fillRect/>
          </a:stretch>
        </p:blipFill>
        <p:spPr bwMode="auto">
          <a:xfrm>
            <a:off x="1480220" y="1474719"/>
            <a:ext cx="6183558" cy="333912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p:cNvSpPr>
                <a:spLocks noGrp="1"/>
              </p:cNvSpPr>
              <p:nvPr>
                <p:ph type="title"/>
              </p:nvPr>
            </p:nvSpPr>
            <p:spPr>
              <a:xfrm>
                <a:off x="524784" y="186028"/>
                <a:ext cx="5297791" cy="869400"/>
              </a:xfrm>
            </p:spPr>
            <p:txBody>
              <a:bodyPr vert="horz" lIns="91440" tIns="45720" rIns="91440" bIns="45720" rtlCol="0" anchor="ctr">
                <a:normAutofit/>
              </a:bodyPr>
              <a:lstStyle/>
              <a:p>
                <a:pPr marL="0" lvl="0" indent="0" algn="l" defTabSz="914400">
                  <a:lnSpc>
                    <a:spcPct val="90000"/>
                  </a:lnSpc>
                </a:pPr>
                <a:r>
                  <a:rPr lang="en-US" sz="2800" kern="1200">
                    <a:solidFill>
                      <a:srgbClr val="FFFFFF"/>
                    </a:solidFill>
                    <a:latin typeface="+mj-lt"/>
                    <a:ea typeface="+mj-ea"/>
                    <a:cs typeface="+mj-cs"/>
                  </a:rPr>
                  <a:t>Sensitivity demo: vary PFS–OS correlation (</a:t>
                </a:r>
                <a14:m>
                  <m:oMath xmlns:m="http://schemas.openxmlformats.org/officeDocument/2006/math">
                    <m:r>
                      <a:rPr lang="en-US" sz="2800" kern="1200">
                        <a:solidFill>
                          <a:srgbClr val="FFFFFF"/>
                        </a:solidFill>
                        <a:latin typeface="Cambria Math" panose="02040503050406030204" pitchFamily="18" charset="0"/>
                        <a:ea typeface="+mj-ea"/>
                        <a:cs typeface="+mj-cs"/>
                      </a:rPr>
                      <m:t>𝜌</m:t>
                    </m:r>
                  </m:oMath>
                </a14:m>
                <a:r>
                  <a:rPr lang="en-US" sz="2800" kern="1200">
                    <a:solidFill>
                      <a:srgbClr val="FFFFFF"/>
                    </a:solidFill>
                    <a:latin typeface="+mj-lt"/>
                    <a:ea typeface="+mj-ea"/>
                    <a:cs typeface="+mj-cs"/>
                  </a:rPr>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524784" y="186028"/>
                <a:ext cx="5297791" cy="869400"/>
              </a:xfrm>
              <a:blipFill>
                <a:blip r:embed="rId2"/>
                <a:stretch>
                  <a:fillRect l="-2392" t="-11429" b="-1714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84318FD-3777-C199-B230-4D372BAB21A2}"/>
              </a:ext>
            </a:extLst>
          </p:cNvPr>
          <p:cNvPicPr>
            <a:picLocks noChangeAspect="1"/>
          </p:cNvPicPr>
          <p:nvPr/>
        </p:nvPicPr>
        <p:blipFill>
          <a:blip r:embed="rId3"/>
          <a:stretch>
            <a:fillRect/>
          </a:stretch>
        </p:blipFill>
        <p:spPr>
          <a:xfrm>
            <a:off x="2003445" y="1474719"/>
            <a:ext cx="5137108" cy="33391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290197"/>
            <a:ext cx="7549592" cy="973836"/>
          </a:xfrm>
        </p:spPr>
        <p:txBody>
          <a:bodyPr anchor="b">
            <a:normAutofit/>
          </a:bodyPr>
          <a:lstStyle/>
          <a:p>
            <a:pPr marL="0" lvl="0" indent="0">
              <a:lnSpc>
                <a:spcPct val="90000"/>
              </a:lnSpc>
              <a:buNone/>
            </a:pPr>
            <a:r>
              <a:rPr lang="en-US" sz="3100"/>
              <a:t>Sensitivity: The Power of Information (Event Count d)</a:t>
            </a:r>
          </a:p>
        </p:txBody>
      </p:sp>
      <p:sp>
        <p:nvSpPr>
          <p:cNvPr id="52" name="Rectangle 5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499133"/>
            <a:ext cx="8590945" cy="5862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2309"/>
            <a:ext cx="8537521" cy="3200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95245" y="1949631"/>
                <a:ext cx="3398174" cy="2729588"/>
              </a:xfrm>
            </p:spPr>
            <p:txBody>
              <a:bodyPr anchor="ctr">
                <a:normAutofit/>
              </a:bodyPr>
              <a:lstStyle/>
              <a:p>
                <a:pPr marL="0" lvl="0" indent="0">
                  <a:buNone/>
                </a:pPr>
                <a:r>
                  <a:rPr lang="en-US" sz="1500" dirty="0"/>
                  <a:t>If your event count changes, so does </a:t>
                </a:r>
                <a14:m>
                  <m:oMath xmlns:m="http://schemas.openxmlformats.org/officeDocument/2006/math">
                    <m:r>
                      <a:rPr lang="en-US" sz="1500">
                        <a:latin typeface="Cambria Math" panose="02040503050406030204" pitchFamily="18" charset="0"/>
                      </a:rPr>
                      <m:t>𝑠</m:t>
                    </m:r>
                    <m:sSub>
                      <m:sSubPr>
                        <m:ctrlPr>
                          <a:rPr lang="ar-AE" sz="1500" i="1">
                            <a:latin typeface="Cambria Math" panose="02040503050406030204" pitchFamily="18" charset="0"/>
                          </a:rPr>
                        </m:ctrlPr>
                      </m:sSubPr>
                      <m:e>
                        <m:r>
                          <a:rPr lang="ar-AE" sz="1500">
                            <a:latin typeface="Cambria Math" panose="02040503050406030204" pitchFamily="18" charset="0"/>
                          </a:rPr>
                          <m:t>𝑒</m:t>
                        </m:r>
                      </m:e>
                      <m:sub>
                        <m:r>
                          <a:rPr lang="ar-AE" sz="1500">
                            <a:latin typeface="Cambria Math" panose="02040503050406030204" pitchFamily="18" charset="0"/>
                          </a:rPr>
                          <m:t>∗</m:t>
                        </m:r>
                      </m:sub>
                    </m:sSub>
                  </m:oMath>
                </a14:m>
                <a:r>
                  <a:rPr lang="ar-AE" sz="1500" dirty="0"/>
                  <a:t> </a:t>
                </a:r>
                <a:r>
                  <a:rPr lang="en-US" sz="1500" dirty="0"/>
                  <a:t>and the success threshold </a:t>
                </a:r>
                <a14:m>
                  <m:oMath xmlns:m="http://schemas.openxmlformats.org/officeDocument/2006/math">
                    <m:r>
                      <a:rPr lang="en-US" sz="1500">
                        <a:latin typeface="Cambria Math" panose="02040503050406030204" pitchFamily="18" charset="0"/>
                      </a:rPr>
                      <m:t>𝑐</m:t>
                    </m:r>
                  </m:oMath>
                </a14:m>
                <a:r>
                  <a:rPr lang="en-US" sz="1500" dirty="0"/>
                  <a:t>.</a:t>
                </a:r>
              </a:p>
              <a:p>
                <a:pPr lvl="0" indent="0">
                  <a:buNone/>
                </a:pPr>
                <a:r>
                  <a:rPr lang="en-US" sz="1500" dirty="0">
                    <a:latin typeface="Courier"/>
                  </a:rPr>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95245" y="1949631"/>
                <a:ext cx="3398174" cy="2729588"/>
              </a:xfrm>
              <a:blipFill>
                <a:blip r:embed="rId2"/>
                <a:stretch>
                  <a:fillRect l="-1119"/>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421030" y="1734770"/>
            <a:ext cx="586275"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565EDA58-86DF-B6D1-C578-1A0A219AD9A7}"/>
              </a:ext>
            </a:extLst>
          </p:cNvPr>
          <p:cNvGraphicFramePr>
            <a:graphicFrameLocks noGrp="1"/>
          </p:cNvGraphicFramePr>
          <p:nvPr>
            <p:extLst>
              <p:ext uri="{D42A27DB-BD31-4B8C-83A1-F6EECF244321}">
                <p14:modId xmlns:p14="http://schemas.microsoft.com/office/powerpoint/2010/main" val="2139717050"/>
              </p:ext>
            </p:extLst>
          </p:nvPr>
        </p:nvGraphicFramePr>
        <p:xfrm>
          <a:off x="4433649" y="2232242"/>
          <a:ext cx="3862708" cy="2047585"/>
        </p:xfrm>
        <a:graphic>
          <a:graphicData uri="http://schemas.openxmlformats.org/drawingml/2006/table">
            <a:tbl>
              <a:tblPr firstRow="1" bandRow="1">
                <a:noFill/>
              </a:tblPr>
              <a:tblGrid>
                <a:gridCol w="897556">
                  <a:extLst>
                    <a:ext uri="{9D8B030D-6E8A-4147-A177-3AD203B41FA5}">
                      <a16:colId xmlns:a16="http://schemas.microsoft.com/office/drawing/2014/main" val="3922629412"/>
                    </a:ext>
                  </a:extLst>
                </a:gridCol>
                <a:gridCol w="1046718">
                  <a:extLst>
                    <a:ext uri="{9D8B030D-6E8A-4147-A177-3AD203B41FA5}">
                      <a16:colId xmlns:a16="http://schemas.microsoft.com/office/drawing/2014/main" val="2289610444"/>
                    </a:ext>
                  </a:extLst>
                </a:gridCol>
                <a:gridCol w="949234">
                  <a:extLst>
                    <a:ext uri="{9D8B030D-6E8A-4147-A177-3AD203B41FA5}">
                      <a16:colId xmlns:a16="http://schemas.microsoft.com/office/drawing/2014/main" val="882570014"/>
                    </a:ext>
                  </a:extLst>
                </a:gridCol>
                <a:gridCol w="969200">
                  <a:extLst>
                    <a:ext uri="{9D8B030D-6E8A-4147-A177-3AD203B41FA5}">
                      <a16:colId xmlns:a16="http://schemas.microsoft.com/office/drawing/2014/main" val="1449721846"/>
                    </a:ext>
                  </a:extLst>
                </a:gridCol>
              </a:tblGrid>
              <a:tr h="437479">
                <a:tc>
                  <a:txBody>
                    <a:bodyPr/>
                    <a:lstStyle/>
                    <a:p>
                      <a:pPr rtl="0">
                        <a:buNone/>
                      </a:pPr>
                      <a:r>
                        <a:rPr lang="en-US" sz="1000" b="0" cap="none" spc="0">
                          <a:solidFill>
                            <a:schemeClr val="tx1"/>
                          </a:solidFill>
                          <a:effectLst/>
                          <a:latin typeface="Google Sans Text"/>
                        </a:rPr>
                        <a:t>Target OS Events (d)</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tc>
                  <a:txBody>
                    <a:bodyPr/>
                    <a:lstStyle/>
                    <a:p>
                      <a:pPr rtl="0">
                        <a:buNone/>
                      </a:pPr>
                      <a:r>
                        <a:rPr lang="en-US" sz="1000" b="0" cap="none" spc="0">
                          <a:solidFill>
                            <a:schemeClr val="tx1"/>
                          </a:solidFill>
                          <a:effectLst/>
                          <a:latin typeface="Google Sans Text"/>
                        </a:rPr>
                        <a:t>Std. Error (se∗)</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tc>
                  <a:txBody>
                    <a:bodyPr/>
                    <a:lstStyle/>
                    <a:p>
                      <a:pPr rtl="0">
                        <a:buNone/>
                      </a:pPr>
                      <a:r>
                        <a:rPr lang="en-US" sz="1000" b="0" cap="none" spc="0">
                          <a:solidFill>
                            <a:schemeClr val="tx1"/>
                          </a:solidFill>
                          <a:effectLst/>
                          <a:latin typeface="Google Sans Text"/>
                        </a:rPr>
                        <a:t>Success Threshold (c)</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tc>
                  <a:txBody>
                    <a:bodyPr/>
                    <a:lstStyle/>
                    <a:p>
                      <a:pPr rtl="0">
                        <a:buNone/>
                      </a:pPr>
                      <a:r>
                        <a:rPr lang="en-US" sz="1000" b="0" cap="none" spc="0">
                          <a:solidFill>
                            <a:schemeClr val="tx1"/>
                          </a:solidFill>
                          <a:effectLst/>
                          <a:latin typeface="Google Sans Text"/>
                        </a:rPr>
                        <a:t>Probability of Success (PoS)</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1651515516"/>
                  </a:ext>
                </a:extLst>
              </a:tr>
              <a:tr h="279626">
                <a:tc>
                  <a:txBody>
                    <a:bodyPr/>
                    <a:lstStyle/>
                    <a:p>
                      <a:pPr rtl="0">
                        <a:buNone/>
                      </a:pPr>
                      <a:r>
                        <a:rPr lang="en-US" sz="1000" cap="none" spc="0">
                          <a:solidFill>
                            <a:schemeClr val="tx1"/>
                          </a:solidFill>
                          <a:effectLst/>
                          <a:latin typeface="Google Sans Text"/>
                        </a:rPr>
                        <a:t>150</a:t>
                      </a:r>
                    </a:p>
                  </a:txBody>
                  <a:tcPr marL="84564" marR="84564" marT="47356" marB="47356" anchor="ctr">
                    <a:lnL w="28575" cap="flat" cmpd="sng" algn="ctr">
                      <a:noFill/>
                      <a:prstDash val="solid"/>
                    </a:lnL>
                    <a:lnR w="12700" cmpd="sng">
                      <a:noFill/>
                      <a:prstDash val="solid"/>
                    </a:lnR>
                    <a:lnT w="38100" cmpd="sng">
                      <a:noFill/>
                    </a:lnT>
                    <a:lnB w="12700" cap="flat" cmpd="sng" algn="ctr">
                      <a:noFill/>
                      <a:prstDash val="solid"/>
                    </a:lnB>
                    <a:noFill/>
                  </a:tcPr>
                </a:tc>
                <a:tc>
                  <a:txBody>
                    <a:bodyPr/>
                    <a:lstStyle/>
                    <a:p>
                      <a:pPr rtl="0">
                        <a:buNone/>
                      </a:pPr>
                      <a:r>
                        <a:rPr lang="en-US" sz="1000" cap="none" spc="0">
                          <a:solidFill>
                            <a:schemeClr val="tx1"/>
                          </a:solidFill>
                          <a:effectLst/>
                          <a:latin typeface="Google Sans Text"/>
                        </a:rPr>
                        <a:t>0.163</a:t>
                      </a:r>
                    </a:p>
                  </a:txBody>
                  <a:tcPr marL="84564" marR="84564" marT="47356" marB="47356" anchor="ctr">
                    <a:lnL w="12700" cmpd="sng">
                      <a:noFill/>
                      <a:prstDash val="solid"/>
                    </a:lnL>
                    <a:lnR w="12700" cmpd="sng">
                      <a:noFill/>
                      <a:prstDash val="solid"/>
                    </a:lnR>
                    <a:lnT w="38100" cmpd="sng">
                      <a:noFill/>
                    </a:lnT>
                    <a:lnB w="12700" cap="flat" cmpd="sng" algn="ctr">
                      <a:noFill/>
                      <a:prstDash val="solid"/>
                    </a:lnB>
                    <a:noFill/>
                  </a:tcPr>
                </a:tc>
                <a:tc>
                  <a:txBody>
                    <a:bodyPr/>
                    <a:lstStyle/>
                    <a:p>
                      <a:pPr rtl="0">
                        <a:buNone/>
                      </a:pPr>
                      <a:r>
                        <a:rPr lang="en-US" sz="1000" cap="none" spc="0">
                          <a:solidFill>
                            <a:schemeClr val="tx1"/>
                          </a:solidFill>
                          <a:effectLst/>
                          <a:latin typeface="Google Sans Text"/>
                        </a:rPr>
                        <a:t>-0.320</a:t>
                      </a:r>
                    </a:p>
                  </a:txBody>
                  <a:tcPr marL="84564" marR="84564" marT="47356" marB="47356" anchor="ctr">
                    <a:lnL w="12700" cmpd="sng">
                      <a:noFill/>
                      <a:prstDash val="solid"/>
                    </a:lnL>
                    <a:lnR w="12700" cmpd="sng">
                      <a:noFill/>
                      <a:prstDash val="solid"/>
                    </a:lnR>
                    <a:lnT w="38100" cmpd="sng">
                      <a:noFill/>
                    </a:lnT>
                    <a:lnB w="12700" cap="flat" cmpd="sng" algn="ctr">
                      <a:noFill/>
                      <a:prstDash val="solid"/>
                    </a:lnB>
                    <a:noFill/>
                  </a:tcPr>
                </a:tc>
                <a:tc>
                  <a:txBody>
                    <a:bodyPr/>
                    <a:lstStyle/>
                    <a:p>
                      <a:pPr rtl="0">
                        <a:buNone/>
                      </a:pPr>
                      <a:r>
                        <a:rPr lang="en-US" sz="1000" b="1" cap="none" spc="0">
                          <a:solidFill>
                            <a:schemeClr val="tx1"/>
                          </a:solidFill>
                          <a:effectLst/>
                          <a:latin typeface="Google Sans Text"/>
                        </a:rPr>
                        <a:t>50.1%</a:t>
                      </a:r>
                      <a:endParaRPr lang="en-US" sz="1000" cap="none" spc="0">
                        <a:solidFill>
                          <a:schemeClr val="tx1"/>
                        </a:solidFill>
                        <a:effectLst/>
                        <a:latin typeface="Google Sans Text"/>
                      </a:endParaRPr>
                    </a:p>
                  </a:txBody>
                  <a:tcPr marL="84564" marR="84564" marT="47356" marB="47356" anchor="ctr">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685608689"/>
                  </a:ext>
                </a:extLst>
              </a:tr>
              <a:tr h="257076">
                <a:tc>
                  <a:txBody>
                    <a:bodyPr/>
                    <a:lstStyle/>
                    <a:p>
                      <a:pPr rtl="0">
                        <a:buNone/>
                      </a:pPr>
                      <a:r>
                        <a:rPr lang="en-US" sz="900" cap="none" spc="0">
                          <a:solidFill>
                            <a:schemeClr val="tx1"/>
                          </a:solidFill>
                          <a:effectLst/>
                          <a:latin typeface="Google Sans Text"/>
                        </a:rPr>
                        <a:t>200</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0.141</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-0.277</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60.0%</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03336651"/>
                  </a:ext>
                </a:extLst>
              </a:tr>
              <a:tr h="279626">
                <a:tc>
                  <a:txBody>
                    <a:bodyPr/>
                    <a:lstStyle/>
                    <a:p>
                      <a:pPr rtl="0">
                        <a:buNone/>
                      </a:pPr>
                      <a:r>
                        <a:rPr lang="en-US" sz="1000" cap="none" spc="0">
                          <a:solidFill>
                            <a:schemeClr val="tx1"/>
                          </a:solidFill>
                          <a:effectLst/>
                          <a:latin typeface="Google Sans Text"/>
                        </a:rPr>
                        <a:t>240</a:t>
                      </a:r>
                    </a:p>
                  </a:txBody>
                  <a:tcPr marL="84564" marR="84564" marT="47356" marB="47356"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0.129</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-0.253</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b="1" cap="none" spc="0">
                          <a:solidFill>
                            <a:schemeClr val="tx1"/>
                          </a:solidFill>
                          <a:effectLst/>
                          <a:latin typeface="Google Sans Text"/>
                        </a:rPr>
                        <a:t>66.3%</a:t>
                      </a:r>
                      <a:endParaRPr lang="en-US" sz="1000" cap="none" spc="0">
                        <a:solidFill>
                          <a:schemeClr val="tx1"/>
                        </a:solidFill>
                        <a:effectLst/>
                        <a:latin typeface="Google Sans Text"/>
                      </a:endParaRPr>
                    </a:p>
                  </a:txBody>
                  <a:tcPr marL="84564" marR="84564" marT="47356" marB="47356"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89524986"/>
                  </a:ext>
                </a:extLst>
              </a:tr>
              <a:tr h="257076">
                <a:tc>
                  <a:txBody>
                    <a:bodyPr/>
                    <a:lstStyle/>
                    <a:p>
                      <a:pPr rtl="0">
                        <a:buNone/>
                      </a:pPr>
                      <a:r>
                        <a:rPr lang="en-US" sz="900" b="1" cap="none" spc="0">
                          <a:solidFill>
                            <a:schemeClr val="tx1"/>
                          </a:solidFill>
                          <a:effectLst/>
                          <a:latin typeface="Google Sans Text"/>
                        </a:rPr>
                        <a:t>278 (Planned)</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0.120</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-0.235</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71.1%</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83059574"/>
                  </a:ext>
                </a:extLst>
              </a:tr>
              <a:tr h="279626">
                <a:tc>
                  <a:txBody>
                    <a:bodyPr/>
                    <a:lstStyle/>
                    <a:p>
                      <a:pPr rtl="0">
                        <a:buNone/>
                      </a:pPr>
                      <a:r>
                        <a:rPr lang="en-US" sz="1000" cap="none" spc="0">
                          <a:solidFill>
                            <a:schemeClr val="tx1"/>
                          </a:solidFill>
                          <a:effectLst/>
                          <a:latin typeface="Google Sans Text"/>
                        </a:rPr>
                        <a:t>300</a:t>
                      </a:r>
                    </a:p>
                  </a:txBody>
                  <a:tcPr marL="84564" marR="84564" marT="47356" marB="47356"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0.115</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-0.226</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b="1" cap="none" spc="0">
                          <a:solidFill>
                            <a:schemeClr val="tx1"/>
                          </a:solidFill>
                          <a:effectLst/>
                          <a:latin typeface="Google Sans Text"/>
                        </a:rPr>
                        <a:t>73.5%</a:t>
                      </a:r>
                      <a:endParaRPr lang="en-US" sz="1000" cap="none" spc="0">
                        <a:solidFill>
                          <a:schemeClr val="tx1"/>
                        </a:solidFill>
                        <a:effectLst/>
                        <a:latin typeface="Google Sans Text"/>
                      </a:endParaRPr>
                    </a:p>
                  </a:txBody>
                  <a:tcPr marL="84564" marR="84564" marT="47356" marB="47356"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725449162"/>
                  </a:ext>
                </a:extLst>
              </a:tr>
              <a:tr h="257076">
                <a:tc>
                  <a:txBody>
                    <a:bodyPr/>
                    <a:lstStyle/>
                    <a:p>
                      <a:pPr rtl="0">
                        <a:buNone/>
                      </a:pPr>
                      <a:r>
                        <a:rPr lang="en-US" sz="900" cap="none" spc="0">
                          <a:solidFill>
                            <a:schemeClr val="tx1"/>
                          </a:solidFill>
                          <a:effectLst/>
                          <a:latin typeface="Google Sans Text"/>
                        </a:rPr>
                        <a:t>400</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0.100</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-0.196</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81.6%</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67016021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a:solidFill>
                  <a:srgbClr val="FFFFFF"/>
                </a:solidFill>
              </a:rPr>
              <a:t>Takeaways (what to emphasize internally)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lvl="0"/>
                <a:r>
                  <a:rPr lang="en-US" sz="1500" dirty="0" err="1"/>
                  <a:t>PoS</a:t>
                </a:r>
                <a:r>
                  <a:rPr lang="en-US" sz="1500" dirty="0"/>
                  <a:t> answers a </a:t>
                </a:r>
                <a:r>
                  <a:rPr lang="en-US" sz="1500" b="1" dirty="0"/>
                  <a:t>decision</a:t>
                </a:r>
                <a:r>
                  <a:rPr lang="en-US" sz="1500" dirty="0"/>
                  <a:t> question: </a:t>
                </a:r>
                <a:r>
                  <a:rPr lang="en-US" sz="1500" i="1" dirty="0"/>
                  <a:t>probability of meeting a success rule</a:t>
                </a:r>
                <a:r>
                  <a:rPr lang="en-US" sz="1500" dirty="0"/>
                  <a:t>, not “best guess HR”.</a:t>
                </a:r>
              </a:p>
              <a:p>
                <a:pPr lvl="0"/>
                <a:r>
                  <a:rPr lang="en-US" sz="1500" dirty="0"/>
                  <a:t>In this ICB setup:</a:t>
                </a:r>
              </a:p>
              <a:p>
                <a:pPr lvl="1"/>
                <a:r>
                  <a:rPr lang="en-US" sz="1500" dirty="0"/>
                  <a:t>Historical trials estimate a </a:t>
                </a:r>
                <a:r>
                  <a:rPr lang="en-US" sz="1500" b="1" dirty="0"/>
                  <a:t>between-study</a:t>
                </a:r>
                <a:r>
                  <a:rPr lang="en-US" sz="1500" dirty="0"/>
                  <a:t> OS–PFS association (</a:t>
                </a:r>
                <a14:m>
                  <m:oMath xmlns:m="http://schemas.openxmlformats.org/officeDocument/2006/math">
                    <m:r>
                      <a:rPr lang="en-US" sz="1500">
                        <a:latin typeface="Cambria Math" panose="02040503050406030204" pitchFamily="18" charset="0"/>
                      </a:rPr>
                      <m:t>𝜌</m:t>
                    </m:r>
                  </m:oMath>
                </a14:m>
                <a:r>
                  <a:rPr lang="en-US" sz="1500" dirty="0"/>
                  <a:t>, heterogeneity)</a:t>
                </a:r>
              </a:p>
              <a:p>
                <a:pPr lvl="1"/>
                <a:r>
                  <a:rPr lang="en-US" sz="1500" dirty="0"/>
                  <a:t>Current PFS readout updates the predicted </a:t>
                </a:r>
                <a:r>
                  <a:rPr lang="en-US" sz="1500" b="1" dirty="0"/>
                  <a:t>true OS effect</a:t>
                </a:r>
                <a:r>
                  <a:rPr lang="en-US" sz="1500" dirty="0"/>
                  <a:t> via conditional normal formulas</a:t>
                </a:r>
              </a:p>
              <a:p>
                <a:pPr lvl="1"/>
                <a:r>
                  <a:rPr lang="en-US" sz="1500" dirty="0"/>
                  <a:t>Final OS success probability is a </a:t>
                </a:r>
                <a:r>
                  <a:rPr lang="en-US" sz="1500" b="1" dirty="0"/>
                  <a:t>one-line Normal CDF</a:t>
                </a:r>
              </a:p>
              <a:p>
                <a:pPr lvl="0"/>
                <a:r>
                  <a:rPr lang="en-US" sz="1500" dirty="0"/>
                  <a:t>Sensitivity analysis is not optional:</a:t>
                </a:r>
              </a:p>
              <a:p>
                <a:pPr lvl="1"/>
                <a14:m>
                  <m:oMath xmlns:m="http://schemas.openxmlformats.org/officeDocument/2006/math">
                    <m:r>
                      <a:rPr lang="en-US" sz="1500">
                        <a:latin typeface="Cambria Math" panose="02040503050406030204" pitchFamily="18" charset="0"/>
                      </a:rPr>
                      <m:t>𝜌</m:t>
                    </m:r>
                  </m:oMath>
                </a14:m>
                <a:r>
                  <a:rPr lang="en-US" sz="1500" dirty="0"/>
                  <a:t> (association strength), heterogeneity (</a:t>
                </a:r>
                <a14:m>
                  <m:oMath xmlns:m="http://schemas.openxmlformats.org/officeDocument/2006/math">
                    <m:r>
                      <a:rPr lang="en-US" sz="1500">
                        <a:latin typeface="Cambria Math" panose="02040503050406030204" pitchFamily="18" charset="0"/>
                      </a:rPr>
                      <m:t>𝜏</m:t>
                    </m:r>
                  </m:oMath>
                </a14:m>
                <a:r>
                  <a:rPr lang="en-US" sz="1500" dirty="0"/>
                  <a:t>), and OS information (event count) are the big levers.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b="-913"/>
                </a:stretch>
              </a:blipFill>
            </p:spPr>
            <p:txBody>
              <a:bodyPr/>
              <a:lstStyle/>
              <a:p>
                <a:r>
                  <a:rPr 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4278"/>
            <a:ext cx="9143993" cy="127075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478321"/>
            <a:ext cx="7416372" cy="675098"/>
          </a:xfrm>
        </p:spPr>
        <p:txBody>
          <a:bodyPr anchor="t">
            <a:normAutofit/>
          </a:bodyPr>
          <a:lstStyle/>
          <a:p>
            <a:pPr marL="0" lvl="0" indent="0" algn="l">
              <a:buNone/>
            </a:pPr>
            <a:r>
              <a:rPr lang="en-US" sz="3000">
                <a:solidFill>
                  <a:schemeClr val="bg1"/>
                </a:solidFill>
              </a:rPr>
              <a:t>Next steps (toward production)</a:t>
            </a:r>
          </a:p>
        </p:txBody>
      </p:sp>
      <p:sp>
        <p:nvSpPr>
          <p:cNvPr id="19" name="Rectangle 18">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66480"/>
            <a:ext cx="9143992" cy="38770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1508068"/>
            <a:ext cx="342892" cy="342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661" y="1663007"/>
                <a:ext cx="7410669" cy="2969714"/>
              </a:xfrm>
            </p:spPr>
            <p:txBody>
              <a:bodyPr>
                <a:normAutofit/>
              </a:bodyPr>
              <a:lstStyle/>
              <a:p>
                <a:pPr marL="0" lvl="0" indent="0">
                  <a:buNone/>
                </a:pPr>
                <a:r>
                  <a:rPr lang="en-US" sz="1800"/>
                  <a:t>If this moves beyond a virtual demo:</a:t>
                </a:r>
              </a:p>
              <a:p>
                <a:pPr lvl="0"/>
                <a:r>
                  <a:rPr lang="en-US" sz="1800"/>
                  <a:t>Fit a full bivariate random-effects model (REML/Bayesian)</a:t>
                </a:r>
              </a:p>
              <a:p>
                <a:pPr lvl="0"/>
                <a:r>
                  <a:rPr lang="en-US" sz="1800"/>
                  <a:t>Treat within-study correlation </a:t>
                </a:r>
                <a14:m>
                  <m:oMath xmlns:m="http://schemas.openxmlformats.org/officeDocument/2006/math">
                    <m:r>
                      <a:rPr lang="en-US" sz="1800">
                        <a:latin typeface="Cambria Math" panose="02040503050406030204" pitchFamily="18" charset="0"/>
                      </a:rPr>
                      <m:t>𝑟</m:t>
                    </m:r>
                  </m:oMath>
                </a14:m>
                <a:r>
                  <a:rPr lang="en-US" sz="1800"/>
                  <a:t> as unknown → range or prior</a:t>
                </a:r>
              </a:p>
              <a:p>
                <a:pPr lvl="0"/>
                <a:r>
                  <a:rPr lang="en-US" sz="1800"/>
                  <a:t>Add design features that affect OS–PFS link (crossover, line of therapy, combo vs mono)</a:t>
                </a:r>
              </a:p>
              <a:p>
                <a:pPr lvl="0"/>
                <a:r>
                  <a:rPr lang="en-US" sz="1800"/>
                  <a:t>Use the same framework for interim decisions: re-run PoS as PFS/OS mature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661" y="1663007"/>
                <a:ext cx="7410669" cy="2969714"/>
              </a:xfrm>
              <a:blipFill>
                <a:blip r:embed="rId3"/>
                <a:stretch>
                  <a:fillRect l="-685" t="-1282"/>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7067</TotalTime>
  <Words>2565</Words>
  <Application>Microsoft Macintosh PowerPoint</Application>
  <PresentationFormat>On-screen Show (16:9)</PresentationFormat>
  <Paragraphs>282</Paragraphs>
  <Slides>25</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Google Sans Text</vt:lpstr>
      <vt:lpstr>Arial</vt:lpstr>
      <vt:lpstr>Calibri</vt:lpstr>
      <vt:lpstr>Cambria Math</vt:lpstr>
      <vt:lpstr>Courier</vt:lpstr>
      <vt:lpstr>Office Theme</vt:lpstr>
      <vt:lpstr>Predictive Probability of Success (PoS)</vt:lpstr>
      <vt:lpstr>Background: why PoS (not only power)</vt:lpstr>
      <vt:lpstr>Core objects and notation</vt:lpstr>
      <vt:lpstr>Core objects and notation - continued</vt:lpstr>
      <vt:lpstr>PoS definition: integral over uncertainty in the true effect</vt:lpstr>
      <vt:lpstr>Mechanistic Decomposition of PoS- An Example </vt:lpstr>
      <vt:lpstr>Equivalent view: posterior predictive distribution</vt:lpstr>
      <vt:lpstr>Linking the ICB surrogate scenario to PoS</vt:lpstr>
      <vt:lpstr>What we’re trying to answer</vt:lpstr>
      <vt:lpstr>PoS in one line</vt:lpstr>
      <vt:lpstr>Where “current evidence” comes from</vt:lpstr>
      <vt:lpstr>Model (concept picture)</vt:lpstr>
      <vt:lpstr>Conditioning: OS effect given observed PFS</vt:lpstr>
      <vt:lpstr>PoS in closed form</vt:lpstr>
      <vt:lpstr>Reproducible demo: simulate 27 historical ICB trials</vt:lpstr>
      <vt:lpstr>Simulation Setting: “True” Hyper-parameters</vt:lpstr>
      <vt:lpstr>Observation model: within-study uncertainty (SE) and covariance</vt:lpstr>
      <vt:lpstr>Estimate the between-study relationship (demo-friendly moment approach)</vt:lpstr>
      <vt:lpstr>Current trial: plug in observed PFS and compute PoS</vt:lpstr>
      <vt:lpstr>Visual 1: historical relationship (virtual 27 trials)</vt:lpstr>
      <vt:lpstr>Visual 2: PoS curve (how PFS maps to OS success probability)</vt:lpstr>
      <vt:lpstr>Sensitivity demo: vary PFS–OS correlation (ρ)</vt:lpstr>
      <vt:lpstr>Sensitivity: The Power of Information (Event Count d)</vt:lpstr>
      <vt:lpstr>Takeaways (what to emphasize internally)</vt:lpstr>
      <vt:lpstr>Next steps (toward production)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Probability of Success (PoS)</dc:title>
  <dc:creator>Jinjie Chen</dc:creator>
  <cp:keywords/>
  <cp:lastModifiedBy>Chen, Jinjie</cp:lastModifiedBy>
  <cp:revision>26</cp:revision>
  <cp:lastPrinted>2026-02-01T18:30:28Z</cp:lastPrinted>
  <dcterms:created xsi:type="dcterms:W3CDTF">2026-01-29T01:35:27Z</dcterms:created>
  <dcterms:modified xsi:type="dcterms:W3CDTF">2026-02-03T01:52:20Z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2026-01-07</vt:lpwstr>
  </property>
  <property fmtid="{D5CDD505-2E9C-101B-9397-08002B2CF9AE}" pid="6" name="editor">
    <vt:lpwstr>visual</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Virtual ICB case study: Using PFS to predict OS (log(HR), p&lt;0.05)</vt:lpwstr>
  </property>
  <property fmtid="{D5CDD505-2E9C-101B-9397-08002B2CF9AE}" pid="12" name="toc-title">
    <vt:lpwstr>Table of contents</vt:lpwstr>
  </property>
</Properties>
</file>