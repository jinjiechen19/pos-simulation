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46" autoAdjust="0"/>
    <p:restoredTop sz="94690" autoAdjust="0"/>
  </p:normalViewPr>
  <p:slideViewPr>
    <p:cSldViewPr snapToGrid="0" snapToObjects="1">
      <p:cViewPr varScale="1">
        <p:scale>
          <a:sx n="183" d="100"/>
          <a:sy n="183" d="100"/>
        </p:scale>
        <p:origin x="216" y="48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0BE8EE-C920-4B92-9E59-949E554D998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E4FDF0E-2FAB-48CD-9408-A7260A3F3CEB}">
      <dgm:prSet/>
      <dgm:spPr/>
      <dgm:t>
        <a:bodyPr/>
        <a:lstStyle/>
        <a:p>
          <a:r>
            <a:rPr lang="en-US"/>
            <a:t>In drug development, a Go/No-Go decision often depends on the chance that a </a:t>
          </a:r>
          <a:r>
            <a:rPr lang="en-US" i="1"/>
            <a:t>future</a:t>
          </a:r>
          <a:r>
            <a:rPr lang="en-US"/>
            <a:t> confirmatory analysis will meet a pre-specified success criterion.</a:t>
          </a:r>
        </a:p>
      </dgm:t>
    </dgm:pt>
    <dgm:pt modelId="{4AD4375A-C487-4474-9BEF-4F6099F2C71D}" type="parTrans" cxnId="{EC960D22-56CA-44D9-AE71-80C051FC93BA}">
      <dgm:prSet/>
      <dgm:spPr/>
      <dgm:t>
        <a:bodyPr/>
        <a:lstStyle/>
        <a:p>
          <a:endParaRPr lang="en-US"/>
        </a:p>
      </dgm:t>
    </dgm:pt>
    <dgm:pt modelId="{3EC7A1E1-3139-4535-AD7A-E1BF220C70C4}" type="sibTrans" cxnId="{EC960D22-56CA-44D9-AE71-80C051FC93BA}">
      <dgm:prSet/>
      <dgm:spPr/>
      <dgm:t>
        <a:bodyPr/>
        <a:lstStyle/>
        <a:p>
          <a:endParaRPr lang="en-US"/>
        </a:p>
      </dgm:t>
    </dgm:pt>
    <dgm:pt modelId="{6D0A998C-29C1-4744-96E5-1B3833804C52}">
      <dgm:prSet/>
      <dgm:spPr/>
      <dgm:t>
        <a:bodyPr/>
        <a:lstStyle/>
        <a:p>
          <a:r>
            <a:rPr lang="en-US"/>
            <a:t>Classical power assumes the true treatment effect is fixed and known (or set to a design alternative). In practice, the true effect is uncertain and should be updated by accumulating evidence (historical trials, interim data, surrogate endpoints, etc.).</a:t>
          </a:r>
        </a:p>
      </dgm:t>
    </dgm:pt>
    <dgm:pt modelId="{14BFA183-F263-4552-87BD-2A571EAAF6E4}" type="parTrans" cxnId="{1583AFBF-E2B5-4025-BBFA-89527D2808B8}">
      <dgm:prSet/>
      <dgm:spPr/>
      <dgm:t>
        <a:bodyPr/>
        <a:lstStyle/>
        <a:p>
          <a:endParaRPr lang="en-US"/>
        </a:p>
      </dgm:t>
    </dgm:pt>
    <dgm:pt modelId="{A7E66342-2E14-48CE-831F-6983A9D18DC5}" type="sibTrans" cxnId="{1583AFBF-E2B5-4025-BBFA-89527D2808B8}">
      <dgm:prSet/>
      <dgm:spPr/>
      <dgm:t>
        <a:bodyPr/>
        <a:lstStyle/>
        <a:p>
          <a:endParaRPr lang="en-US"/>
        </a:p>
      </dgm:t>
    </dgm:pt>
    <dgm:pt modelId="{26F18F23-ED91-4029-A195-2FE12387267B}">
      <dgm:prSet/>
      <dgm:spPr/>
      <dgm:t>
        <a:bodyPr/>
        <a:lstStyle/>
        <a:p>
          <a:r>
            <a:rPr lang="en-US" b="1"/>
            <a:t>Predictive Probability of Success (PoS)</a:t>
          </a:r>
          <a:r>
            <a:rPr lang="en-US"/>
            <a:t> answers:</a:t>
          </a:r>
        </a:p>
      </dgm:t>
    </dgm:pt>
    <dgm:pt modelId="{C12C14AB-CA91-42F3-AFB0-CE51F0C9B2CF}" type="parTrans" cxnId="{14BE04FD-890E-40EC-8821-A29813FF3D2A}">
      <dgm:prSet/>
      <dgm:spPr/>
      <dgm:t>
        <a:bodyPr/>
        <a:lstStyle/>
        <a:p>
          <a:endParaRPr lang="en-US"/>
        </a:p>
      </dgm:t>
    </dgm:pt>
    <dgm:pt modelId="{869A179F-9716-4DA7-8E54-4AF7AA7CF2A2}" type="sibTrans" cxnId="{14BE04FD-890E-40EC-8821-A29813FF3D2A}">
      <dgm:prSet/>
      <dgm:spPr/>
      <dgm:t>
        <a:bodyPr/>
        <a:lstStyle/>
        <a:p>
          <a:endParaRPr lang="en-US"/>
        </a:p>
      </dgm:t>
    </dgm:pt>
    <dgm:pt modelId="{97499B26-4A77-4863-97D5-53AE00D5D099}">
      <dgm:prSet/>
      <dgm:spPr/>
      <dgm:t>
        <a:bodyPr/>
        <a:lstStyle/>
        <a:p>
          <a:r>
            <a:rPr lang="en-US"/>
            <a:t>“Given what we know </a:t>
          </a:r>
          <a:r>
            <a:rPr lang="en-US" i="1"/>
            <a:t>today</a:t>
          </a:r>
          <a:r>
            <a:rPr lang="en-US"/>
            <a:t>, what is the probability the current (future) study will be declared successful?”</a:t>
          </a:r>
        </a:p>
      </dgm:t>
    </dgm:pt>
    <dgm:pt modelId="{9448DAAE-6164-4F12-827D-F8EA3F3479F1}" type="parTrans" cxnId="{F03DBA96-3E04-4652-99CD-1C593AFA9E73}">
      <dgm:prSet/>
      <dgm:spPr/>
      <dgm:t>
        <a:bodyPr/>
        <a:lstStyle/>
        <a:p>
          <a:endParaRPr lang="en-US"/>
        </a:p>
      </dgm:t>
    </dgm:pt>
    <dgm:pt modelId="{469D5E1A-7C9C-4D93-BFA9-12D83DADE5B3}" type="sibTrans" cxnId="{F03DBA96-3E04-4652-99CD-1C593AFA9E73}">
      <dgm:prSet/>
      <dgm:spPr/>
      <dgm:t>
        <a:bodyPr/>
        <a:lstStyle/>
        <a:p>
          <a:endParaRPr lang="en-US"/>
        </a:p>
      </dgm:t>
    </dgm:pt>
    <dgm:pt modelId="{7DC38392-75BA-4482-B3E5-6A02B5EF84E5}" type="pres">
      <dgm:prSet presAssocID="{300BE8EE-C920-4B92-9E59-949E554D9982}" presName="root" presStyleCnt="0">
        <dgm:presLayoutVars>
          <dgm:dir/>
          <dgm:resizeHandles val="exact"/>
        </dgm:presLayoutVars>
      </dgm:prSet>
      <dgm:spPr/>
    </dgm:pt>
    <dgm:pt modelId="{4A07CCD1-7025-4EA6-A1E3-B4FB5D7F3ACC}" type="pres">
      <dgm:prSet presAssocID="{5E4FDF0E-2FAB-48CD-9408-A7260A3F3CEB}" presName="compNode" presStyleCnt="0"/>
      <dgm:spPr/>
    </dgm:pt>
    <dgm:pt modelId="{EC93F42A-37BC-4A46-A02A-6E909B1002A4}" type="pres">
      <dgm:prSet presAssocID="{5E4FDF0E-2FAB-48CD-9408-A7260A3F3CEB}" presName="bgRect" presStyleLbl="bgShp" presStyleIdx="0" presStyleCnt="4"/>
      <dgm:spPr/>
    </dgm:pt>
    <dgm:pt modelId="{030053D3-20A1-4150-B437-42D0298F75CC}" type="pres">
      <dgm:prSet presAssocID="{5E4FDF0E-2FAB-48CD-9408-A7260A3F3CE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ine"/>
        </a:ext>
      </dgm:extLst>
    </dgm:pt>
    <dgm:pt modelId="{732258D1-BB22-434C-A200-32995E5B358E}" type="pres">
      <dgm:prSet presAssocID="{5E4FDF0E-2FAB-48CD-9408-A7260A3F3CEB}" presName="spaceRect" presStyleCnt="0"/>
      <dgm:spPr/>
    </dgm:pt>
    <dgm:pt modelId="{4AFBF306-388F-4D09-BEE4-6CD7A59C28A9}" type="pres">
      <dgm:prSet presAssocID="{5E4FDF0E-2FAB-48CD-9408-A7260A3F3CEB}" presName="parTx" presStyleLbl="revTx" presStyleIdx="0" presStyleCnt="4">
        <dgm:presLayoutVars>
          <dgm:chMax val="0"/>
          <dgm:chPref val="0"/>
        </dgm:presLayoutVars>
      </dgm:prSet>
      <dgm:spPr/>
    </dgm:pt>
    <dgm:pt modelId="{DD2D2457-D8ED-46DC-984A-6122BB687A76}" type="pres">
      <dgm:prSet presAssocID="{3EC7A1E1-3139-4535-AD7A-E1BF220C70C4}" presName="sibTrans" presStyleCnt="0"/>
      <dgm:spPr/>
    </dgm:pt>
    <dgm:pt modelId="{66EFF57E-1BCA-4B86-9489-2D73E31645E9}" type="pres">
      <dgm:prSet presAssocID="{6D0A998C-29C1-4744-96E5-1B3833804C52}" presName="compNode" presStyleCnt="0"/>
      <dgm:spPr/>
    </dgm:pt>
    <dgm:pt modelId="{CBAA6D6C-5526-459D-8890-9A2851AF0287}" type="pres">
      <dgm:prSet presAssocID="{6D0A998C-29C1-4744-96E5-1B3833804C52}" presName="bgRect" presStyleLbl="bgShp" presStyleIdx="1" presStyleCnt="4"/>
      <dgm:spPr/>
    </dgm:pt>
    <dgm:pt modelId="{E8661F8D-A736-422C-8DD9-35B37A6B134F}" type="pres">
      <dgm:prSet presAssocID="{6D0A998C-29C1-4744-96E5-1B3833804C5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3D7F289F-C7ED-4F5C-BF8F-FCA6A5615CE9}" type="pres">
      <dgm:prSet presAssocID="{6D0A998C-29C1-4744-96E5-1B3833804C52}" presName="spaceRect" presStyleCnt="0"/>
      <dgm:spPr/>
    </dgm:pt>
    <dgm:pt modelId="{45274431-33F0-4B67-BEC5-D8730935D6A8}" type="pres">
      <dgm:prSet presAssocID="{6D0A998C-29C1-4744-96E5-1B3833804C52}" presName="parTx" presStyleLbl="revTx" presStyleIdx="1" presStyleCnt="4">
        <dgm:presLayoutVars>
          <dgm:chMax val="0"/>
          <dgm:chPref val="0"/>
        </dgm:presLayoutVars>
      </dgm:prSet>
      <dgm:spPr/>
    </dgm:pt>
    <dgm:pt modelId="{34CA2022-0577-4B97-AB6F-0FC173F30CE1}" type="pres">
      <dgm:prSet presAssocID="{A7E66342-2E14-48CE-831F-6983A9D18DC5}" presName="sibTrans" presStyleCnt="0"/>
      <dgm:spPr/>
    </dgm:pt>
    <dgm:pt modelId="{1DBD4A32-B91B-4F5F-95BD-ED8879F46C59}" type="pres">
      <dgm:prSet presAssocID="{26F18F23-ED91-4029-A195-2FE12387267B}" presName="compNode" presStyleCnt="0"/>
      <dgm:spPr/>
    </dgm:pt>
    <dgm:pt modelId="{0FBB8B87-522C-4BE7-A3D7-394814797D3E}" type="pres">
      <dgm:prSet presAssocID="{26F18F23-ED91-4029-A195-2FE12387267B}" presName="bgRect" presStyleLbl="bgShp" presStyleIdx="2" presStyleCnt="4"/>
      <dgm:spPr/>
    </dgm:pt>
    <dgm:pt modelId="{7B9F1197-B367-43AF-B61B-8AAF58D006D8}" type="pres">
      <dgm:prSet presAssocID="{26F18F23-ED91-4029-A195-2FE12387267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B985702D-BA41-48CC-933C-B7B4403440EA}" type="pres">
      <dgm:prSet presAssocID="{26F18F23-ED91-4029-A195-2FE12387267B}" presName="spaceRect" presStyleCnt="0"/>
      <dgm:spPr/>
    </dgm:pt>
    <dgm:pt modelId="{F26F0117-5494-4A2C-81B2-AB730D06DE56}" type="pres">
      <dgm:prSet presAssocID="{26F18F23-ED91-4029-A195-2FE12387267B}" presName="parTx" presStyleLbl="revTx" presStyleIdx="2" presStyleCnt="4">
        <dgm:presLayoutVars>
          <dgm:chMax val="0"/>
          <dgm:chPref val="0"/>
        </dgm:presLayoutVars>
      </dgm:prSet>
      <dgm:spPr/>
    </dgm:pt>
    <dgm:pt modelId="{7A09F80F-EF0C-4AB9-8E7D-007B371A8867}" type="pres">
      <dgm:prSet presAssocID="{869A179F-9716-4DA7-8E54-4AF7AA7CF2A2}" presName="sibTrans" presStyleCnt="0"/>
      <dgm:spPr/>
    </dgm:pt>
    <dgm:pt modelId="{D90899F9-59C2-497B-AB13-80DBFEC22BA0}" type="pres">
      <dgm:prSet presAssocID="{97499B26-4A77-4863-97D5-53AE00D5D099}" presName="compNode" presStyleCnt="0"/>
      <dgm:spPr/>
    </dgm:pt>
    <dgm:pt modelId="{EE4848A1-7718-43BB-9E8F-FEA7ACE08CA6}" type="pres">
      <dgm:prSet presAssocID="{97499B26-4A77-4863-97D5-53AE00D5D099}" presName="bgRect" presStyleLbl="bgShp" presStyleIdx="3" presStyleCnt="4"/>
      <dgm:spPr/>
    </dgm:pt>
    <dgm:pt modelId="{A80350B1-9585-474E-B02F-988DCE962D3F}" type="pres">
      <dgm:prSet presAssocID="{97499B26-4A77-4863-97D5-53AE00D5D09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D50082F8-38E4-4999-9525-BA751FC7BF98}" type="pres">
      <dgm:prSet presAssocID="{97499B26-4A77-4863-97D5-53AE00D5D099}" presName="spaceRect" presStyleCnt="0"/>
      <dgm:spPr/>
    </dgm:pt>
    <dgm:pt modelId="{90716BC4-3562-4DA5-A436-D5F0ED9C1ECC}" type="pres">
      <dgm:prSet presAssocID="{97499B26-4A77-4863-97D5-53AE00D5D09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C960D22-56CA-44D9-AE71-80C051FC93BA}" srcId="{300BE8EE-C920-4B92-9E59-949E554D9982}" destId="{5E4FDF0E-2FAB-48CD-9408-A7260A3F3CEB}" srcOrd="0" destOrd="0" parTransId="{4AD4375A-C487-4474-9BEF-4F6099F2C71D}" sibTransId="{3EC7A1E1-3139-4535-AD7A-E1BF220C70C4}"/>
    <dgm:cxn modelId="{90635E38-250E-468B-8375-EC96B3964CA2}" type="presOf" srcId="{97499B26-4A77-4863-97D5-53AE00D5D099}" destId="{90716BC4-3562-4DA5-A436-D5F0ED9C1ECC}" srcOrd="0" destOrd="0" presId="urn:microsoft.com/office/officeart/2018/2/layout/IconVerticalSolidList"/>
    <dgm:cxn modelId="{F03DBA96-3E04-4652-99CD-1C593AFA9E73}" srcId="{300BE8EE-C920-4B92-9E59-949E554D9982}" destId="{97499B26-4A77-4863-97D5-53AE00D5D099}" srcOrd="3" destOrd="0" parTransId="{9448DAAE-6164-4F12-827D-F8EA3F3479F1}" sibTransId="{469D5E1A-7C9C-4D93-BFA9-12D83DADE5B3}"/>
    <dgm:cxn modelId="{1B68BCB0-C6EF-40EF-A8A9-B5CC53063FB6}" type="presOf" srcId="{300BE8EE-C920-4B92-9E59-949E554D9982}" destId="{7DC38392-75BA-4482-B3E5-6A02B5EF84E5}" srcOrd="0" destOrd="0" presId="urn:microsoft.com/office/officeart/2018/2/layout/IconVerticalSolidList"/>
    <dgm:cxn modelId="{70608AB8-B4E1-4181-9E5D-4A88912A6FF0}" type="presOf" srcId="{6D0A998C-29C1-4744-96E5-1B3833804C52}" destId="{45274431-33F0-4B67-BEC5-D8730935D6A8}" srcOrd="0" destOrd="0" presId="urn:microsoft.com/office/officeart/2018/2/layout/IconVerticalSolidList"/>
    <dgm:cxn modelId="{1583AFBF-E2B5-4025-BBFA-89527D2808B8}" srcId="{300BE8EE-C920-4B92-9E59-949E554D9982}" destId="{6D0A998C-29C1-4744-96E5-1B3833804C52}" srcOrd="1" destOrd="0" parTransId="{14BFA183-F263-4552-87BD-2A571EAAF6E4}" sibTransId="{A7E66342-2E14-48CE-831F-6983A9D18DC5}"/>
    <dgm:cxn modelId="{8470F1BF-2AC1-4E95-A4A8-0764A5C41BA6}" type="presOf" srcId="{26F18F23-ED91-4029-A195-2FE12387267B}" destId="{F26F0117-5494-4A2C-81B2-AB730D06DE56}" srcOrd="0" destOrd="0" presId="urn:microsoft.com/office/officeart/2018/2/layout/IconVerticalSolidList"/>
    <dgm:cxn modelId="{DAC204F6-0EE3-4F50-B8FD-3180308A1C5F}" type="presOf" srcId="{5E4FDF0E-2FAB-48CD-9408-A7260A3F3CEB}" destId="{4AFBF306-388F-4D09-BEE4-6CD7A59C28A9}" srcOrd="0" destOrd="0" presId="urn:microsoft.com/office/officeart/2018/2/layout/IconVerticalSolidList"/>
    <dgm:cxn modelId="{14BE04FD-890E-40EC-8821-A29813FF3D2A}" srcId="{300BE8EE-C920-4B92-9E59-949E554D9982}" destId="{26F18F23-ED91-4029-A195-2FE12387267B}" srcOrd="2" destOrd="0" parTransId="{C12C14AB-CA91-42F3-AFB0-CE51F0C9B2CF}" sibTransId="{869A179F-9716-4DA7-8E54-4AF7AA7CF2A2}"/>
    <dgm:cxn modelId="{6CE795F6-C0D1-4392-8C47-52CEDEBE6200}" type="presParOf" srcId="{7DC38392-75BA-4482-B3E5-6A02B5EF84E5}" destId="{4A07CCD1-7025-4EA6-A1E3-B4FB5D7F3ACC}" srcOrd="0" destOrd="0" presId="urn:microsoft.com/office/officeart/2018/2/layout/IconVerticalSolidList"/>
    <dgm:cxn modelId="{5F1171E3-BD18-4027-802B-E4B05179E50A}" type="presParOf" srcId="{4A07CCD1-7025-4EA6-A1E3-B4FB5D7F3ACC}" destId="{EC93F42A-37BC-4A46-A02A-6E909B1002A4}" srcOrd="0" destOrd="0" presId="urn:microsoft.com/office/officeart/2018/2/layout/IconVerticalSolidList"/>
    <dgm:cxn modelId="{E3A594BE-9BDA-4F94-BC9A-AA576F04F487}" type="presParOf" srcId="{4A07CCD1-7025-4EA6-A1E3-B4FB5D7F3ACC}" destId="{030053D3-20A1-4150-B437-42D0298F75CC}" srcOrd="1" destOrd="0" presId="urn:microsoft.com/office/officeart/2018/2/layout/IconVerticalSolidList"/>
    <dgm:cxn modelId="{3FCD6C15-69C3-46F9-A05F-05631269BF47}" type="presParOf" srcId="{4A07CCD1-7025-4EA6-A1E3-B4FB5D7F3ACC}" destId="{732258D1-BB22-434C-A200-32995E5B358E}" srcOrd="2" destOrd="0" presId="urn:microsoft.com/office/officeart/2018/2/layout/IconVerticalSolidList"/>
    <dgm:cxn modelId="{8D7744DE-7B9E-44B2-8AF7-36BB6E1410EA}" type="presParOf" srcId="{4A07CCD1-7025-4EA6-A1E3-B4FB5D7F3ACC}" destId="{4AFBF306-388F-4D09-BEE4-6CD7A59C28A9}" srcOrd="3" destOrd="0" presId="urn:microsoft.com/office/officeart/2018/2/layout/IconVerticalSolidList"/>
    <dgm:cxn modelId="{AC3C6727-83C3-494E-B1F4-FB50EC74723B}" type="presParOf" srcId="{7DC38392-75BA-4482-B3E5-6A02B5EF84E5}" destId="{DD2D2457-D8ED-46DC-984A-6122BB687A76}" srcOrd="1" destOrd="0" presId="urn:microsoft.com/office/officeart/2018/2/layout/IconVerticalSolidList"/>
    <dgm:cxn modelId="{66D8045E-E4C3-45E3-9246-440ADDCA991B}" type="presParOf" srcId="{7DC38392-75BA-4482-B3E5-6A02B5EF84E5}" destId="{66EFF57E-1BCA-4B86-9489-2D73E31645E9}" srcOrd="2" destOrd="0" presId="urn:microsoft.com/office/officeart/2018/2/layout/IconVerticalSolidList"/>
    <dgm:cxn modelId="{A69E618D-D47E-4B98-AC4B-D211D0CB837F}" type="presParOf" srcId="{66EFF57E-1BCA-4B86-9489-2D73E31645E9}" destId="{CBAA6D6C-5526-459D-8890-9A2851AF0287}" srcOrd="0" destOrd="0" presId="urn:microsoft.com/office/officeart/2018/2/layout/IconVerticalSolidList"/>
    <dgm:cxn modelId="{078760EF-B5AB-4F13-91C1-65D79A075449}" type="presParOf" srcId="{66EFF57E-1BCA-4B86-9489-2D73E31645E9}" destId="{E8661F8D-A736-422C-8DD9-35B37A6B134F}" srcOrd="1" destOrd="0" presId="urn:microsoft.com/office/officeart/2018/2/layout/IconVerticalSolidList"/>
    <dgm:cxn modelId="{B885A6EA-2F35-40AD-B884-757FFAE17574}" type="presParOf" srcId="{66EFF57E-1BCA-4B86-9489-2D73E31645E9}" destId="{3D7F289F-C7ED-4F5C-BF8F-FCA6A5615CE9}" srcOrd="2" destOrd="0" presId="urn:microsoft.com/office/officeart/2018/2/layout/IconVerticalSolidList"/>
    <dgm:cxn modelId="{7A943F66-E392-4EAF-B305-BF92489C2D9B}" type="presParOf" srcId="{66EFF57E-1BCA-4B86-9489-2D73E31645E9}" destId="{45274431-33F0-4B67-BEC5-D8730935D6A8}" srcOrd="3" destOrd="0" presId="urn:microsoft.com/office/officeart/2018/2/layout/IconVerticalSolidList"/>
    <dgm:cxn modelId="{C6A8EA9C-B125-41A8-B8C6-75BD611A5D4F}" type="presParOf" srcId="{7DC38392-75BA-4482-B3E5-6A02B5EF84E5}" destId="{34CA2022-0577-4B97-AB6F-0FC173F30CE1}" srcOrd="3" destOrd="0" presId="urn:microsoft.com/office/officeart/2018/2/layout/IconVerticalSolidList"/>
    <dgm:cxn modelId="{C0C51825-CBA0-4E38-A9FA-0A7A8D94422F}" type="presParOf" srcId="{7DC38392-75BA-4482-B3E5-6A02B5EF84E5}" destId="{1DBD4A32-B91B-4F5F-95BD-ED8879F46C59}" srcOrd="4" destOrd="0" presId="urn:microsoft.com/office/officeart/2018/2/layout/IconVerticalSolidList"/>
    <dgm:cxn modelId="{0A35FEB4-82C7-49D7-89C8-B64712820C4F}" type="presParOf" srcId="{1DBD4A32-B91B-4F5F-95BD-ED8879F46C59}" destId="{0FBB8B87-522C-4BE7-A3D7-394814797D3E}" srcOrd="0" destOrd="0" presId="urn:microsoft.com/office/officeart/2018/2/layout/IconVerticalSolidList"/>
    <dgm:cxn modelId="{08C167EA-62A5-4720-B0E6-D28A5FBA93CB}" type="presParOf" srcId="{1DBD4A32-B91B-4F5F-95BD-ED8879F46C59}" destId="{7B9F1197-B367-43AF-B61B-8AAF58D006D8}" srcOrd="1" destOrd="0" presId="urn:microsoft.com/office/officeart/2018/2/layout/IconVerticalSolidList"/>
    <dgm:cxn modelId="{52E4A91C-1593-4F89-BF50-D0C349E4F55A}" type="presParOf" srcId="{1DBD4A32-B91B-4F5F-95BD-ED8879F46C59}" destId="{B985702D-BA41-48CC-933C-B7B4403440EA}" srcOrd="2" destOrd="0" presId="urn:microsoft.com/office/officeart/2018/2/layout/IconVerticalSolidList"/>
    <dgm:cxn modelId="{9D8CCF38-2CD3-4C83-A920-8F0731DF3908}" type="presParOf" srcId="{1DBD4A32-B91B-4F5F-95BD-ED8879F46C59}" destId="{F26F0117-5494-4A2C-81B2-AB730D06DE56}" srcOrd="3" destOrd="0" presId="urn:microsoft.com/office/officeart/2018/2/layout/IconVerticalSolidList"/>
    <dgm:cxn modelId="{9AC4C076-C826-40D8-8D31-EB665D9DC6D0}" type="presParOf" srcId="{7DC38392-75BA-4482-B3E5-6A02B5EF84E5}" destId="{7A09F80F-EF0C-4AB9-8E7D-007B371A8867}" srcOrd="5" destOrd="0" presId="urn:microsoft.com/office/officeart/2018/2/layout/IconVerticalSolidList"/>
    <dgm:cxn modelId="{D9175A49-2686-4407-9798-00987E24D657}" type="presParOf" srcId="{7DC38392-75BA-4482-B3E5-6A02B5EF84E5}" destId="{D90899F9-59C2-497B-AB13-80DBFEC22BA0}" srcOrd="6" destOrd="0" presId="urn:microsoft.com/office/officeart/2018/2/layout/IconVerticalSolidList"/>
    <dgm:cxn modelId="{2387194E-E635-4A48-8735-92A130FBFCC4}" type="presParOf" srcId="{D90899F9-59C2-497B-AB13-80DBFEC22BA0}" destId="{EE4848A1-7718-43BB-9E8F-FEA7ACE08CA6}" srcOrd="0" destOrd="0" presId="urn:microsoft.com/office/officeart/2018/2/layout/IconVerticalSolidList"/>
    <dgm:cxn modelId="{92FE7C2F-D053-4793-99E2-D3BF7FAA5E0C}" type="presParOf" srcId="{D90899F9-59C2-497B-AB13-80DBFEC22BA0}" destId="{A80350B1-9585-474E-B02F-988DCE962D3F}" srcOrd="1" destOrd="0" presId="urn:microsoft.com/office/officeart/2018/2/layout/IconVerticalSolidList"/>
    <dgm:cxn modelId="{C0065AD5-5540-4645-ABA9-E8D1590A5167}" type="presParOf" srcId="{D90899F9-59C2-497B-AB13-80DBFEC22BA0}" destId="{D50082F8-38E4-4999-9525-BA751FC7BF98}" srcOrd="2" destOrd="0" presId="urn:microsoft.com/office/officeart/2018/2/layout/IconVerticalSolidList"/>
    <dgm:cxn modelId="{07FB2B31-755A-41B6-8F78-42DC225C6136}" type="presParOf" srcId="{D90899F9-59C2-497B-AB13-80DBFEC22BA0}" destId="{90716BC4-3562-4DA5-A436-D5F0ED9C1EC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E2F91E7-5D22-4EA7-9FCC-811839BD0A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F9AC1A1-9E02-4A1D-9AE1-0B08B12E04E3}">
      <dgm:prSet/>
      <dgm:spPr/>
      <dgm:t>
        <a:bodyPr/>
        <a:lstStyle/>
        <a:p>
          <a:r>
            <a:rPr lang="en-US" b="1"/>
            <a:t>Scenario (ICB trial):</a:t>
          </a:r>
          <a:endParaRPr lang="en-US"/>
        </a:p>
      </dgm:t>
    </dgm:pt>
    <dgm:pt modelId="{6373EABD-FD4D-4231-A93B-C3F690FC32E9}" type="parTrans" cxnId="{46B6A2BE-44DA-41BA-A056-CA89491F05BE}">
      <dgm:prSet/>
      <dgm:spPr/>
      <dgm:t>
        <a:bodyPr/>
        <a:lstStyle/>
        <a:p>
          <a:endParaRPr lang="en-US"/>
        </a:p>
      </dgm:t>
    </dgm:pt>
    <dgm:pt modelId="{8A900DC0-6803-4D7D-A4A8-AFBC293F8236}" type="sibTrans" cxnId="{46B6A2BE-44DA-41BA-A056-CA89491F05BE}">
      <dgm:prSet/>
      <dgm:spPr/>
      <dgm:t>
        <a:bodyPr/>
        <a:lstStyle/>
        <a:p>
          <a:endParaRPr lang="en-US"/>
        </a:p>
      </dgm:t>
    </dgm:pt>
    <dgm:pt modelId="{7CDFC6B6-8EAD-44BC-9EEB-A7532D3D8641}">
      <dgm:prSet/>
      <dgm:spPr/>
      <dgm:t>
        <a:bodyPr/>
        <a:lstStyle/>
        <a:p>
          <a:r>
            <a:rPr lang="en-US"/>
            <a:t>Primary endpoint: </a:t>
          </a:r>
          <a:r>
            <a:rPr lang="en-US" b="1"/>
            <a:t>PFS</a:t>
          </a:r>
          <a:r>
            <a:rPr lang="en-US"/>
            <a:t> (read out earlier)</a:t>
          </a:r>
        </a:p>
      </dgm:t>
    </dgm:pt>
    <dgm:pt modelId="{AF695D1B-CCC0-4DA0-9390-4A9397473698}" type="parTrans" cxnId="{BCC80090-4317-4886-A231-3AE7ECD94016}">
      <dgm:prSet/>
      <dgm:spPr/>
      <dgm:t>
        <a:bodyPr/>
        <a:lstStyle/>
        <a:p>
          <a:endParaRPr lang="en-US"/>
        </a:p>
      </dgm:t>
    </dgm:pt>
    <dgm:pt modelId="{56022E09-CAA5-418A-A07F-BF8B6C92B564}" type="sibTrans" cxnId="{BCC80090-4317-4886-A231-3AE7ECD94016}">
      <dgm:prSet/>
      <dgm:spPr/>
      <dgm:t>
        <a:bodyPr/>
        <a:lstStyle/>
        <a:p>
          <a:endParaRPr lang="en-US"/>
        </a:p>
      </dgm:t>
    </dgm:pt>
    <dgm:pt modelId="{4168F09B-4EE6-49DC-80D6-DADFD966A763}">
      <dgm:prSet/>
      <dgm:spPr/>
      <dgm:t>
        <a:bodyPr/>
        <a:lstStyle/>
        <a:p>
          <a:r>
            <a:rPr lang="en-US"/>
            <a:t>Key secondary endpoint: </a:t>
          </a:r>
          <a:r>
            <a:rPr lang="en-US" b="1"/>
            <a:t>OS</a:t>
          </a:r>
          <a:r>
            <a:rPr lang="en-US"/>
            <a:t> (matures later)</a:t>
          </a:r>
        </a:p>
      </dgm:t>
    </dgm:pt>
    <dgm:pt modelId="{069FFD03-E324-4A2E-BFF6-FB5DA5D6032D}" type="parTrans" cxnId="{6A41138E-1B65-4A19-910D-842BB957AB8C}">
      <dgm:prSet/>
      <dgm:spPr/>
      <dgm:t>
        <a:bodyPr/>
        <a:lstStyle/>
        <a:p>
          <a:endParaRPr lang="en-US"/>
        </a:p>
      </dgm:t>
    </dgm:pt>
    <dgm:pt modelId="{284034BF-567A-41F1-B246-D9F454C937EF}" type="sibTrans" cxnId="{6A41138E-1B65-4A19-910D-842BB957AB8C}">
      <dgm:prSet/>
      <dgm:spPr/>
      <dgm:t>
        <a:bodyPr/>
        <a:lstStyle/>
        <a:p>
          <a:endParaRPr lang="en-US"/>
        </a:p>
      </dgm:t>
    </dgm:pt>
    <dgm:pt modelId="{2F6A94E3-68E6-4270-A12A-CEB61DF36ADB}">
      <dgm:prSet/>
      <dgm:spPr/>
      <dgm:t>
        <a:bodyPr/>
        <a:lstStyle/>
        <a:p>
          <a:r>
            <a:rPr lang="en-US"/>
            <a:t>Effect measure: </a:t>
          </a:r>
          <a:r>
            <a:rPr lang="en-US" b="1"/>
            <a:t>log(HR)</a:t>
          </a:r>
          <a:r>
            <a:rPr lang="en-US"/>
            <a:t> for both endpoints</a:t>
          </a:r>
        </a:p>
      </dgm:t>
    </dgm:pt>
    <dgm:pt modelId="{DC4498FA-D84B-496E-A8F4-6C23936861AF}" type="parTrans" cxnId="{D7B46980-72BA-4FA1-AA13-3ED14D75ADDF}">
      <dgm:prSet/>
      <dgm:spPr/>
      <dgm:t>
        <a:bodyPr/>
        <a:lstStyle/>
        <a:p>
          <a:endParaRPr lang="en-US"/>
        </a:p>
      </dgm:t>
    </dgm:pt>
    <dgm:pt modelId="{720AC133-8FE9-492B-91A8-48F34497917B}" type="sibTrans" cxnId="{D7B46980-72BA-4FA1-AA13-3ED14D75ADDF}">
      <dgm:prSet/>
      <dgm:spPr/>
      <dgm:t>
        <a:bodyPr/>
        <a:lstStyle/>
        <a:p>
          <a:endParaRPr lang="en-US"/>
        </a:p>
      </dgm:t>
    </dgm:pt>
    <dgm:pt modelId="{EF8D8BE9-C264-4823-8B27-A511C6DA3795}">
      <dgm:prSet/>
      <dgm:spPr/>
      <dgm:t>
        <a:bodyPr/>
        <a:lstStyle/>
        <a:p>
          <a:r>
            <a:rPr lang="en-US" b="1"/>
            <a:t>Decision question:</a:t>
          </a:r>
          <a:endParaRPr lang="en-US"/>
        </a:p>
      </dgm:t>
    </dgm:pt>
    <dgm:pt modelId="{BFB94967-80C1-4184-8517-52E0AD5899DD}" type="parTrans" cxnId="{6D5FC86B-62FB-4654-BA4A-A34411F5FBC2}">
      <dgm:prSet/>
      <dgm:spPr/>
      <dgm:t>
        <a:bodyPr/>
        <a:lstStyle/>
        <a:p>
          <a:endParaRPr lang="en-US"/>
        </a:p>
      </dgm:t>
    </dgm:pt>
    <dgm:pt modelId="{59EFE946-F892-4053-AE44-532AB682C514}" type="sibTrans" cxnId="{6D5FC86B-62FB-4654-BA4A-A34411F5FBC2}">
      <dgm:prSet/>
      <dgm:spPr/>
      <dgm:t>
        <a:bodyPr/>
        <a:lstStyle/>
        <a:p>
          <a:endParaRPr lang="en-US"/>
        </a:p>
      </dgm:t>
    </dgm:pt>
    <dgm:pt modelId="{B852F8B0-48A1-474F-A6AD-A1F839885D87}">
      <dgm:prSet/>
      <dgm:spPr/>
      <dgm:t>
        <a:bodyPr/>
        <a:lstStyle/>
        <a:p>
          <a:r>
            <a:rPr lang="en-US"/>
            <a:t>Given the current trial’s observed PFS result, what is the probability that the final OS analysis will be statistically significant (two-sided p &lt; 0.05) in the beneficial direction?</a:t>
          </a:r>
        </a:p>
      </dgm:t>
    </dgm:pt>
    <dgm:pt modelId="{024932F5-7DF8-4006-8DF0-B2055915D765}" type="parTrans" cxnId="{34C24948-DB36-4EBC-ADB4-6D195C5F5CD0}">
      <dgm:prSet/>
      <dgm:spPr/>
      <dgm:t>
        <a:bodyPr/>
        <a:lstStyle/>
        <a:p>
          <a:endParaRPr lang="en-US"/>
        </a:p>
      </dgm:t>
    </dgm:pt>
    <dgm:pt modelId="{D9105213-CCAA-4C18-A00A-7030012D8D95}" type="sibTrans" cxnId="{34C24948-DB36-4EBC-ADB4-6D195C5F5CD0}">
      <dgm:prSet/>
      <dgm:spPr/>
      <dgm:t>
        <a:bodyPr/>
        <a:lstStyle/>
        <a:p>
          <a:endParaRPr lang="en-US"/>
        </a:p>
      </dgm:t>
    </dgm:pt>
    <dgm:pt modelId="{BC262289-1575-4144-B40D-938DE73212A5}" type="pres">
      <dgm:prSet presAssocID="{6E2F91E7-5D22-4EA7-9FCC-811839BD0AB8}" presName="linear" presStyleCnt="0">
        <dgm:presLayoutVars>
          <dgm:animLvl val="lvl"/>
          <dgm:resizeHandles val="exact"/>
        </dgm:presLayoutVars>
      </dgm:prSet>
      <dgm:spPr/>
    </dgm:pt>
    <dgm:pt modelId="{55A2EDA6-2B37-294F-BBA9-2021943B37F8}" type="pres">
      <dgm:prSet presAssocID="{CF9AC1A1-9E02-4A1D-9AE1-0B08B12E04E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BAF535B-2DD8-D248-9047-60189720D2B2}" type="pres">
      <dgm:prSet presAssocID="{CF9AC1A1-9E02-4A1D-9AE1-0B08B12E04E3}" presName="childText" presStyleLbl="revTx" presStyleIdx="0" presStyleCnt="2">
        <dgm:presLayoutVars>
          <dgm:bulletEnabled val="1"/>
        </dgm:presLayoutVars>
      </dgm:prSet>
      <dgm:spPr/>
    </dgm:pt>
    <dgm:pt modelId="{4135AA81-AB4F-BE4D-9AF2-B3917A713AAB}" type="pres">
      <dgm:prSet presAssocID="{EF8D8BE9-C264-4823-8B27-A511C6DA379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F0AA9C27-73F9-A745-9D99-767E17F55547}" type="pres">
      <dgm:prSet presAssocID="{EF8D8BE9-C264-4823-8B27-A511C6DA3795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6DE3424-7C03-F64D-A738-F90A2DC09DEC}" type="presOf" srcId="{7CDFC6B6-8EAD-44BC-9EEB-A7532D3D8641}" destId="{BBAF535B-2DD8-D248-9047-60189720D2B2}" srcOrd="0" destOrd="0" presId="urn:microsoft.com/office/officeart/2005/8/layout/vList2"/>
    <dgm:cxn modelId="{F59D6627-A6F9-2448-A228-9F69417D4E7E}" type="presOf" srcId="{CF9AC1A1-9E02-4A1D-9AE1-0B08B12E04E3}" destId="{55A2EDA6-2B37-294F-BBA9-2021943B37F8}" srcOrd="0" destOrd="0" presId="urn:microsoft.com/office/officeart/2005/8/layout/vList2"/>
    <dgm:cxn modelId="{7EADB03D-A9E2-F34D-BA15-F6516EF03821}" type="presOf" srcId="{B852F8B0-48A1-474F-A6AD-A1F839885D87}" destId="{F0AA9C27-73F9-A745-9D99-767E17F55547}" srcOrd="0" destOrd="0" presId="urn:microsoft.com/office/officeart/2005/8/layout/vList2"/>
    <dgm:cxn modelId="{34C24948-DB36-4EBC-ADB4-6D195C5F5CD0}" srcId="{EF8D8BE9-C264-4823-8B27-A511C6DA3795}" destId="{B852F8B0-48A1-474F-A6AD-A1F839885D87}" srcOrd="0" destOrd="0" parTransId="{024932F5-7DF8-4006-8DF0-B2055915D765}" sibTransId="{D9105213-CCAA-4C18-A00A-7030012D8D95}"/>
    <dgm:cxn modelId="{6D5FC86B-62FB-4654-BA4A-A34411F5FBC2}" srcId="{6E2F91E7-5D22-4EA7-9FCC-811839BD0AB8}" destId="{EF8D8BE9-C264-4823-8B27-A511C6DA3795}" srcOrd="1" destOrd="0" parTransId="{BFB94967-80C1-4184-8517-52E0AD5899DD}" sibTransId="{59EFE946-F892-4053-AE44-532AB682C514}"/>
    <dgm:cxn modelId="{D7B46980-72BA-4FA1-AA13-3ED14D75ADDF}" srcId="{CF9AC1A1-9E02-4A1D-9AE1-0B08B12E04E3}" destId="{2F6A94E3-68E6-4270-A12A-CEB61DF36ADB}" srcOrd="2" destOrd="0" parTransId="{DC4498FA-D84B-496E-A8F4-6C23936861AF}" sibTransId="{720AC133-8FE9-492B-91A8-48F34497917B}"/>
    <dgm:cxn modelId="{65179989-7A1C-4F47-AAEA-B9A28BDBE9CA}" type="presOf" srcId="{2F6A94E3-68E6-4270-A12A-CEB61DF36ADB}" destId="{BBAF535B-2DD8-D248-9047-60189720D2B2}" srcOrd="0" destOrd="2" presId="urn:microsoft.com/office/officeart/2005/8/layout/vList2"/>
    <dgm:cxn modelId="{6A41138E-1B65-4A19-910D-842BB957AB8C}" srcId="{CF9AC1A1-9E02-4A1D-9AE1-0B08B12E04E3}" destId="{4168F09B-4EE6-49DC-80D6-DADFD966A763}" srcOrd="1" destOrd="0" parTransId="{069FFD03-E324-4A2E-BFF6-FB5DA5D6032D}" sibTransId="{284034BF-567A-41F1-B246-D9F454C937EF}"/>
    <dgm:cxn modelId="{BCC80090-4317-4886-A231-3AE7ECD94016}" srcId="{CF9AC1A1-9E02-4A1D-9AE1-0B08B12E04E3}" destId="{7CDFC6B6-8EAD-44BC-9EEB-A7532D3D8641}" srcOrd="0" destOrd="0" parTransId="{AF695D1B-CCC0-4DA0-9390-4A9397473698}" sibTransId="{56022E09-CAA5-418A-A07F-BF8B6C92B564}"/>
    <dgm:cxn modelId="{46B6A2BE-44DA-41BA-A056-CA89491F05BE}" srcId="{6E2F91E7-5D22-4EA7-9FCC-811839BD0AB8}" destId="{CF9AC1A1-9E02-4A1D-9AE1-0B08B12E04E3}" srcOrd="0" destOrd="0" parTransId="{6373EABD-FD4D-4231-A93B-C3F690FC32E9}" sibTransId="{8A900DC0-6803-4D7D-A4A8-AFBC293F8236}"/>
    <dgm:cxn modelId="{8054C6CC-152E-DB4F-AA95-E36B0AD8859F}" type="presOf" srcId="{EF8D8BE9-C264-4823-8B27-A511C6DA3795}" destId="{4135AA81-AB4F-BE4D-9AF2-B3917A713AAB}" srcOrd="0" destOrd="0" presId="urn:microsoft.com/office/officeart/2005/8/layout/vList2"/>
    <dgm:cxn modelId="{36E33AD6-3BE3-7445-8847-598A80BB9E3A}" type="presOf" srcId="{6E2F91E7-5D22-4EA7-9FCC-811839BD0AB8}" destId="{BC262289-1575-4144-B40D-938DE73212A5}" srcOrd="0" destOrd="0" presId="urn:microsoft.com/office/officeart/2005/8/layout/vList2"/>
    <dgm:cxn modelId="{E2D64FD7-A387-3342-A412-1A0A5410ADA6}" type="presOf" srcId="{4168F09B-4EE6-49DC-80D6-DADFD966A763}" destId="{BBAF535B-2DD8-D248-9047-60189720D2B2}" srcOrd="0" destOrd="1" presId="urn:microsoft.com/office/officeart/2005/8/layout/vList2"/>
    <dgm:cxn modelId="{189E8B0D-F70C-4B40-87C7-75872E01EE17}" type="presParOf" srcId="{BC262289-1575-4144-B40D-938DE73212A5}" destId="{55A2EDA6-2B37-294F-BBA9-2021943B37F8}" srcOrd="0" destOrd="0" presId="urn:microsoft.com/office/officeart/2005/8/layout/vList2"/>
    <dgm:cxn modelId="{944BA643-FD54-954E-9792-9C9D073E633B}" type="presParOf" srcId="{BC262289-1575-4144-B40D-938DE73212A5}" destId="{BBAF535B-2DD8-D248-9047-60189720D2B2}" srcOrd="1" destOrd="0" presId="urn:microsoft.com/office/officeart/2005/8/layout/vList2"/>
    <dgm:cxn modelId="{69A5F8C2-7FF0-C04C-967E-9093FFA259DD}" type="presParOf" srcId="{BC262289-1575-4144-B40D-938DE73212A5}" destId="{4135AA81-AB4F-BE4D-9AF2-B3917A713AAB}" srcOrd="2" destOrd="0" presId="urn:microsoft.com/office/officeart/2005/8/layout/vList2"/>
    <dgm:cxn modelId="{88A88C07-5C30-9946-A85E-0B743E14C57F}" type="presParOf" srcId="{BC262289-1575-4144-B40D-938DE73212A5}" destId="{F0AA9C27-73F9-A745-9D99-767E17F55547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93F42A-37BC-4A46-A02A-6E909B1002A4}">
      <dsp:nvSpPr>
        <dsp:cNvPr id="0" name=""/>
        <dsp:cNvSpPr/>
      </dsp:nvSpPr>
      <dsp:spPr>
        <a:xfrm>
          <a:off x="0" y="2950"/>
          <a:ext cx="7886700" cy="6279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0053D3-20A1-4150-B437-42D0298F75CC}">
      <dsp:nvSpPr>
        <dsp:cNvPr id="0" name=""/>
        <dsp:cNvSpPr/>
      </dsp:nvSpPr>
      <dsp:spPr>
        <a:xfrm>
          <a:off x="189945" y="144232"/>
          <a:ext cx="345693" cy="34535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FBF306-388F-4D09-BEE4-6CD7A59C28A9}">
      <dsp:nvSpPr>
        <dsp:cNvPr id="0" name=""/>
        <dsp:cNvSpPr/>
      </dsp:nvSpPr>
      <dsp:spPr>
        <a:xfrm>
          <a:off x="725585" y="2950"/>
          <a:ext cx="7128334" cy="686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685" tIns="72685" rIns="72685" bIns="726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In drug development, a Go/No-Go decision often depends on the chance that a </a:t>
          </a:r>
          <a:r>
            <a:rPr lang="en-US" sz="1400" i="1" kern="1200"/>
            <a:t>future</a:t>
          </a:r>
          <a:r>
            <a:rPr lang="en-US" sz="1400" kern="1200"/>
            <a:t> confirmatory analysis will meet a pre-specified success criterion.</a:t>
          </a:r>
        </a:p>
      </dsp:txBody>
      <dsp:txXfrm>
        <a:off x="725585" y="2950"/>
        <a:ext cx="7128334" cy="686787"/>
      </dsp:txXfrm>
    </dsp:sp>
    <dsp:sp modelId="{CBAA6D6C-5526-459D-8890-9A2851AF0287}">
      <dsp:nvSpPr>
        <dsp:cNvPr id="0" name=""/>
        <dsp:cNvSpPr/>
      </dsp:nvSpPr>
      <dsp:spPr>
        <a:xfrm>
          <a:off x="0" y="861435"/>
          <a:ext cx="7886700" cy="62792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661F8D-A736-422C-8DD9-35B37A6B134F}">
      <dsp:nvSpPr>
        <dsp:cNvPr id="0" name=""/>
        <dsp:cNvSpPr/>
      </dsp:nvSpPr>
      <dsp:spPr>
        <a:xfrm>
          <a:off x="189945" y="1002717"/>
          <a:ext cx="345693" cy="34535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274431-33F0-4B67-BEC5-D8730935D6A8}">
      <dsp:nvSpPr>
        <dsp:cNvPr id="0" name=""/>
        <dsp:cNvSpPr/>
      </dsp:nvSpPr>
      <dsp:spPr>
        <a:xfrm>
          <a:off x="725585" y="861435"/>
          <a:ext cx="7128334" cy="686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685" tIns="72685" rIns="72685" bIns="726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Classical power assumes the true treatment effect is fixed and known (or set to a design alternative). In practice, the true effect is uncertain and should be updated by accumulating evidence (historical trials, interim data, surrogate endpoints, etc.).</a:t>
          </a:r>
        </a:p>
      </dsp:txBody>
      <dsp:txXfrm>
        <a:off x="725585" y="861435"/>
        <a:ext cx="7128334" cy="686787"/>
      </dsp:txXfrm>
    </dsp:sp>
    <dsp:sp modelId="{0FBB8B87-522C-4BE7-A3D7-394814797D3E}">
      <dsp:nvSpPr>
        <dsp:cNvPr id="0" name=""/>
        <dsp:cNvSpPr/>
      </dsp:nvSpPr>
      <dsp:spPr>
        <a:xfrm>
          <a:off x="0" y="1719919"/>
          <a:ext cx="7886700" cy="62792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9F1197-B367-43AF-B61B-8AAF58D006D8}">
      <dsp:nvSpPr>
        <dsp:cNvPr id="0" name=""/>
        <dsp:cNvSpPr/>
      </dsp:nvSpPr>
      <dsp:spPr>
        <a:xfrm>
          <a:off x="189945" y="1861201"/>
          <a:ext cx="345693" cy="34535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6F0117-5494-4A2C-81B2-AB730D06DE56}">
      <dsp:nvSpPr>
        <dsp:cNvPr id="0" name=""/>
        <dsp:cNvSpPr/>
      </dsp:nvSpPr>
      <dsp:spPr>
        <a:xfrm>
          <a:off x="725585" y="1719919"/>
          <a:ext cx="7128334" cy="686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685" tIns="72685" rIns="72685" bIns="726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Predictive Probability of Success (PoS)</a:t>
          </a:r>
          <a:r>
            <a:rPr lang="en-US" sz="1400" kern="1200"/>
            <a:t> answers:</a:t>
          </a:r>
        </a:p>
      </dsp:txBody>
      <dsp:txXfrm>
        <a:off x="725585" y="1719919"/>
        <a:ext cx="7128334" cy="686787"/>
      </dsp:txXfrm>
    </dsp:sp>
    <dsp:sp modelId="{EE4848A1-7718-43BB-9E8F-FEA7ACE08CA6}">
      <dsp:nvSpPr>
        <dsp:cNvPr id="0" name=""/>
        <dsp:cNvSpPr/>
      </dsp:nvSpPr>
      <dsp:spPr>
        <a:xfrm>
          <a:off x="0" y="2578404"/>
          <a:ext cx="7886700" cy="62792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350B1-9585-474E-B02F-988DCE962D3F}">
      <dsp:nvSpPr>
        <dsp:cNvPr id="0" name=""/>
        <dsp:cNvSpPr/>
      </dsp:nvSpPr>
      <dsp:spPr>
        <a:xfrm>
          <a:off x="189945" y="2719686"/>
          <a:ext cx="345693" cy="34535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716BC4-3562-4DA5-A436-D5F0ED9C1ECC}">
      <dsp:nvSpPr>
        <dsp:cNvPr id="0" name=""/>
        <dsp:cNvSpPr/>
      </dsp:nvSpPr>
      <dsp:spPr>
        <a:xfrm>
          <a:off x="725585" y="2578404"/>
          <a:ext cx="7128334" cy="686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685" tIns="72685" rIns="72685" bIns="7268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“Given what we know </a:t>
          </a:r>
          <a:r>
            <a:rPr lang="en-US" sz="1400" i="1" kern="1200"/>
            <a:t>today</a:t>
          </a:r>
          <a:r>
            <a:rPr lang="en-US" sz="1400" kern="1200"/>
            <a:t>, what is the probability the current (future) study will be declared successful?”</a:t>
          </a:r>
        </a:p>
      </dsp:txBody>
      <dsp:txXfrm>
        <a:off x="725585" y="2578404"/>
        <a:ext cx="7128334" cy="6867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A2EDA6-2B37-294F-BBA9-2021943B37F8}">
      <dsp:nvSpPr>
        <dsp:cNvPr id="0" name=""/>
        <dsp:cNvSpPr/>
      </dsp:nvSpPr>
      <dsp:spPr>
        <a:xfrm>
          <a:off x="0" y="29648"/>
          <a:ext cx="8229600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Scenario (ICB trial):</a:t>
          </a:r>
          <a:endParaRPr lang="en-US" sz="2700" kern="1200"/>
        </a:p>
      </dsp:txBody>
      <dsp:txXfrm>
        <a:off x="31613" y="61261"/>
        <a:ext cx="8166374" cy="584369"/>
      </dsp:txXfrm>
    </dsp:sp>
    <dsp:sp modelId="{BBAF535B-2DD8-D248-9047-60189720D2B2}">
      <dsp:nvSpPr>
        <dsp:cNvPr id="0" name=""/>
        <dsp:cNvSpPr/>
      </dsp:nvSpPr>
      <dsp:spPr>
        <a:xfrm>
          <a:off x="0" y="677243"/>
          <a:ext cx="8229600" cy="10898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129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Primary endpoint: </a:t>
          </a:r>
          <a:r>
            <a:rPr lang="en-US" sz="2100" b="1" kern="1200"/>
            <a:t>PFS</a:t>
          </a:r>
          <a:r>
            <a:rPr lang="en-US" sz="2100" kern="1200"/>
            <a:t> (read out earlier)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Key secondary endpoint: </a:t>
          </a:r>
          <a:r>
            <a:rPr lang="en-US" sz="2100" b="1" kern="1200"/>
            <a:t>OS</a:t>
          </a:r>
          <a:r>
            <a:rPr lang="en-US" sz="2100" kern="1200"/>
            <a:t> (matures later)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Effect measure: </a:t>
          </a:r>
          <a:r>
            <a:rPr lang="en-US" sz="2100" b="1" kern="1200"/>
            <a:t>log(HR)</a:t>
          </a:r>
          <a:r>
            <a:rPr lang="en-US" sz="2100" kern="1200"/>
            <a:t> for both endpoints</a:t>
          </a:r>
        </a:p>
      </dsp:txBody>
      <dsp:txXfrm>
        <a:off x="0" y="677243"/>
        <a:ext cx="8229600" cy="1089854"/>
      </dsp:txXfrm>
    </dsp:sp>
    <dsp:sp modelId="{4135AA81-AB4F-BE4D-9AF2-B3917A713AAB}">
      <dsp:nvSpPr>
        <dsp:cNvPr id="0" name=""/>
        <dsp:cNvSpPr/>
      </dsp:nvSpPr>
      <dsp:spPr>
        <a:xfrm>
          <a:off x="0" y="1767098"/>
          <a:ext cx="8229600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Decision question:</a:t>
          </a:r>
          <a:endParaRPr lang="en-US" sz="2700" kern="1200"/>
        </a:p>
      </dsp:txBody>
      <dsp:txXfrm>
        <a:off x="31613" y="1798711"/>
        <a:ext cx="8166374" cy="584369"/>
      </dsp:txXfrm>
    </dsp:sp>
    <dsp:sp modelId="{F0AA9C27-73F9-A745-9D99-767E17F55547}">
      <dsp:nvSpPr>
        <dsp:cNvPr id="0" name=""/>
        <dsp:cNvSpPr/>
      </dsp:nvSpPr>
      <dsp:spPr>
        <a:xfrm>
          <a:off x="0" y="2414693"/>
          <a:ext cx="8229600" cy="9501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129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Given the current trial’s observed PFS result, what is the probability that the final OS analysis will be statistically significant (two-sided p &lt; 0.05) in the beneficial direction?</a:t>
          </a:r>
        </a:p>
      </dsp:txBody>
      <dsp:txXfrm>
        <a:off x="0" y="2414693"/>
        <a:ext cx="8229600" cy="9501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Put speaker notes here. Keep them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core “PoS” story: translate earlier evidence (PFS) into an actionable probability about OS success, while carrying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whole approach rests on “exchangeability”: the historical trials and the current trial are assumed to come from the same super-population (up to heterogeneity).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For production work you’d typically fit a full bivariate random-effects model (REML or Bayesian). This moment approach is intentionally simple for a clean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plot is what decision-makers usually want: a quantitative map from current PFS readout to probability of final OS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For an internal share, you can end with a clear checklist: what you need to collect from historical trials and what assumptions drive sensitivity.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17019"/>
            <a:ext cx="9143998" cy="3280596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31539" y="-2948881"/>
            <a:ext cx="3280918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102522" y="-2777901"/>
            <a:ext cx="3280596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17017"/>
            <a:ext cx="6406863" cy="3280594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774039"/>
            <a:ext cx="3742610" cy="3329347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551329"/>
            <a:ext cx="7540322" cy="2196353"/>
          </a:xfrm>
        </p:spPr>
        <p:txBody>
          <a:bodyPr anchor="b">
            <a:normAutofit/>
          </a:bodyPr>
          <a:lstStyle/>
          <a:p>
            <a:pPr marL="0" lvl="0" indent="0" algn="l">
              <a:buNone/>
            </a:pPr>
            <a:r>
              <a:rPr lang="en-US" sz="3600">
                <a:solidFill>
                  <a:srgbClr val="FFFFFF"/>
                </a:solidFill>
              </a:rPr>
              <a:t>Predictive Probability of Success (PoS)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3653118"/>
            <a:ext cx="7504463" cy="1093693"/>
          </a:xfrm>
        </p:spPr>
        <p:txBody>
          <a:bodyPr anchor="ctr">
            <a:normAutofit/>
          </a:bodyPr>
          <a:lstStyle/>
          <a:p>
            <a:pPr marL="0" lvl="0" indent="0" algn="l">
              <a:lnSpc>
                <a:spcPct val="90000"/>
              </a:lnSpc>
              <a:buNone/>
            </a:pPr>
            <a:r>
              <a:rPr lang="en-US" sz="2200"/>
              <a:t>Virtual ICB case study: Using PFS to predict OS (log(HR), p&lt;0.05)</a:t>
            </a:r>
            <a:br>
              <a:rPr lang="en-US" sz="2200"/>
            </a:br>
            <a:br>
              <a:rPr lang="en-US" sz="2200"/>
            </a:br>
            <a:r>
              <a:rPr lang="en-US" sz="2200"/>
              <a:t>Jinjie Chen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27698" y="4835127"/>
            <a:ext cx="2057400" cy="273844"/>
          </a:xfrm>
        </p:spPr>
        <p:txBody>
          <a:bodyPr>
            <a:normAutofit/>
          </a:bodyPr>
          <a:lstStyle/>
          <a:p>
            <a:pPr marL="0" lvl="0" indent="0" algn="r">
              <a:spcAft>
                <a:spcPts val="600"/>
              </a:spcAft>
              <a:buNone/>
            </a:pP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2026-01-07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192024"/>
            <a:ext cx="7879842" cy="761238"/>
          </a:xfrm>
        </p:spPr>
        <p:txBody>
          <a:bodyPr anchor="b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800"/>
              <a:t>Title slide: Background: why PoS (not only power)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225876"/>
            <a:ext cx="7838694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153632"/>
            <a:ext cx="1405092" cy="823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13E9F33-DB03-1108-4920-EA77822289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3921795"/>
              </p:ext>
            </p:extLst>
          </p:nvPr>
        </p:nvGraphicFramePr>
        <p:xfrm>
          <a:off x="628650" y="1444699"/>
          <a:ext cx="7886700" cy="32681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Core objects and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ar-AE" sz="15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500" dirty="0"/>
                  <a:t> </a:t>
                </a:r>
                <a:r>
                  <a:rPr lang="en-US" sz="1500" dirty="0"/>
                  <a:t>denote the test statistic or effect estimate from the </a:t>
                </a:r>
                <a:r>
                  <a:rPr lang="en-US" sz="1500" i="1" dirty="0"/>
                  <a:t>future</a:t>
                </a:r>
                <a:r>
                  <a:rPr lang="en-US" sz="1500" dirty="0"/>
                  <a:t> (or not-yet-mature) analysis, and let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500" dirty="0"/>
                  <a:t> be the </a:t>
                </a:r>
                <a:r>
                  <a:rPr lang="en-US" sz="1500" b="1" dirty="0"/>
                  <a:t>success region</a:t>
                </a:r>
                <a:r>
                  <a:rPr lang="en-US" sz="1500" dirty="0"/>
                  <a:t> defined by the protocol.</a:t>
                </a:r>
              </a:p>
              <a:p>
                <a:pPr marL="0" lvl="0" indent="0">
                  <a:buNone/>
                </a:pPr>
                <a:r>
                  <a:rPr lang="en-US" sz="1500" dirty="0"/>
                  <a:t>Examples of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500" dirty="0"/>
                  <a:t>: - Frequentist: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50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US" sz="1500" dirty="0"/>
                  <a:t> (two-sided) and effect in the favorable direction</a:t>
                </a:r>
                <a:br>
                  <a:rPr lang="en-US" sz="1500" dirty="0"/>
                </a:br>
                <a:r>
                  <a:rPr lang="en-US" sz="1500" dirty="0"/>
                  <a:t>- Bayesian: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latin typeface="Cambria Math" panose="02040503050406030204" pitchFamily="18" charset="0"/>
                      </a:rPr>
                      <m:t>Pr</m:t>
                    </m:r>
                    <m:d>
                      <m:d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ar-AE" sz="1500">
                            <a:latin typeface="Cambria Math" panose="02040503050406030204" pitchFamily="18" charset="0"/>
                          </a:rPr>
                          <m:t>&lt;0∣</m:t>
                        </m:r>
                        <m:r>
                          <m:rPr>
                            <m:nor/>
                          </m:rPr>
                          <a:rPr lang="en-US" sz="1500"/>
                          <m:t>data</m:t>
                        </m:r>
                      </m:e>
                    </m:d>
                    <m:r>
                      <a:rPr lang="ar-AE" sz="1500">
                        <a:latin typeface="Cambria Math" panose="02040503050406030204" pitchFamily="18" charset="0"/>
                      </a:rPr>
                      <m:t>&gt;0.95</m:t>
                    </m:r>
                  </m:oMath>
                </a14:m>
                <a:br>
                  <a:rPr lang="ar-AE" sz="1500" dirty="0"/>
                </a:br>
                <a:r>
                  <a:rPr lang="ar-AE" sz="1500" dirty="0"/>
                  <a:t>- </a:t>
                </a:r>
                <a:r>
                  <a:rPr lang="en-US" sz="1500" dirty="0"/>
                  <a:t>Clinical: lower CI bound exceeds a clinically meaningful threshold</a:t>
                </a:r>
              </a:p>
              <a:p>
                <a:pPr marL="0" lvl="0" indent="0">
                  <a:buNone/>
                </a:pPr>
                <a:r>
                  <a:rPr lang="en-US" sz="1500" dirty="0"/>
                  <a:t>Assume the primary endpoint is </a:t>
                </a:r>
                <a:r>
                  <a:rPr lang="en-US" sz="1500" b="1" dirty="0"/>
                  <a:t>overall survival (OS)</a:t>
                </a:r>
                <a:r>
                  <a:rPr lang="en-US" sz="1500" dirty="0"/>
                  <a:t> and the analysis is based on the </a:t>
                </a:r>
                <a:r>
                  <a:rPr lang="en-US" sz="1500" b="1" dirty="0"/>
                  <a:t>log(HR)</a:t>
                </a:r>
                <a:r>
                  <a:rPr lang="en-US" sz="1500" dirty="0"/>
                  <a:t>.</a:t>
                </a:r>
              </a:p>
              <a:p>
                <a:pPr marL="0" lvl="0" indent="0">
                  <a:buNone/>
                </a:pPr>
                <a:r>
                  <a:rPr lang="en-US" sz="1500" b="1" dirty="0"/>
                  <a:t>True treatment effect (parameter)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50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𝑂𝑆</m:t>
                          </m:r>
                        </m:sub>
                      </m:sSub>
                      <m:r>
                        <a:rPr lang="ar-AE" sz="15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log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𝐻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𝑂𝑆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sz="1500" b="1" dirty="0"/>
              </a:p>
              <a:p>
                <a:pPr marL="0" lvl="0" indent="0">
                  <a:buNone/>
                </a:pPr>
                <a:r>
                  <a:rPr lang="en-US" sz="1500" dirty="0"/>
                  <a:t>This is the </a:t>
                </a:r>
                <a:r>
                  <a:rPr lang="en-US" sz="1500" i="1" dirty="0"/>
                  <a:t>latent</a:t>
                </a:r>
                <a:r>
                  <a:rPr lang="en-US" sz="1500" dirty="0"/>
                  <a:t> (unobserved) “true” log(HR) in the target population.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Core objects and notation - continued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Future effect estimate / test statistic (random variable)</a:t>
                </a:r>
                <a:r>
                  <a:rPr dirty="0"/>
                  <a:t>:</a:t>
                </a:r>
                <a:br>
                  <a:rPr dirty="0"/>
                </a:b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𝑂𝑆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 ∗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log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𝑂𝑆</m:t>
                                  </m:r>
                                </m:sub>
                              </m:sSub>
                            </m:e>
                          </m:d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m:rPr>
                          <m:nor/>
                        </m:rPr>
                        <a:rPr/>
                        <m:t>from</m:t>
                      </m:r>
                      <m:r>
                        <m:rPr>
                          <m:nor/>
                        </m:rPr>
                        <a:rPr/>
                        <m:t> </m:t>
                      </m:r>
                      <m:r>
                        <m:rPr>
                          <m:nor/>
                        </m:rPr>
                        <a:rPr/>
                        <m:t>the</m:t>
                      </m:r>
                      <m:r>
                        <m:rPr>
                          <m:nor/>
                        </m:rPr>
                        <a:rPr/>
                        <m:t> </m:t>
                      </m:r>
                      <m:r>
                        <m:rPr>
                          <m:nor/>
                        </m:rPr>
                        <a:rPr/>
                        <m:t>future</m:t>
                      </m:r>
                      <m:r>
                        <m:rPr>
                          <m:nor/>
                        </m:rPr>
                        <a:rPr/>
                        <m:t>/</m:t>
                      </m:r>
                      <m:r>
                        <m:rPr>
                          <m:nor/>
                        </m:rPr>
                        <a:rPr/>
                        <m:t>final</m:t>
                      </m:r>
                      <m:r>
                        <m:rPr>
                          <m:nor/>
                        </m:rPr>
                        <a:rPr/>
                        <m:t> </m:t>
                      </m:r>
                      <m:r>
                        <m:rPr>
                          <m:nor/>
                        </m:rPr>
                        <a:rPr/>
                        <m:t>OS</m:t>
                      </m:r>
                      <m:r>
                        <m:rPr>
                          <m:nor/>
                        </m:rPr>
                        <a:rPr/>
                        <m:t> </m:t>
                      </m:r>
                      <m:r>
                        <m:rPr>
                          <m:nor/>
                        </m:rPr>
                        <a:rPr/>
                        <m:t>analysis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br>
                  <a:rPr dirty="0"/>
                </a:br>
                <a:r>
                  <a:rPr dirty="0"/>
                  <a:t>Even if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 is fixed,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dirty="0"/>
                  <a:t> varies due to sampling variability.</a:t>
                </a:r>
              </a:p>
              <a:p>
                <a:pPr marL="0" lvl="0" indent="0">
                  <a:buNone/>
                </a:pPr>
                <a:r>
                  <a:rPr b="1" dirty="0"/>
                  <a:t>Sampling variance (information-driven)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br>
                  <a:rPr dirty="0"/>
                </a:br>
                <a:r>
                  <a:rPr dirty="0"/>
                  <a:t>With Schoenfeld approximation (for log HR), if the final OS analysis has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dirty="0"/>
                  <a:t> events:</a:t>
                </a:r>
                <a:br>
                  <a:rPr dirty="0"/>
                </a:b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rad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,  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Success region (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dirty="0"/>
                  <a:t>) from the protocol (one-sided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=0.025</m:t>
                    </m:r>
                  </m:oMath>
                </a14:m>
                <a:r>
                  <a:rPr dirty="0"/>
                  <a:t>):</a:t>
                </a:r>
                <a:br>
                  <a:rPr dirty="0"/>
                </a:br>
                <a:r>
                  <a:rPr dirty="0"/>
                  <a:t>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  <m:r>
                      <a:rPr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dirty="0"/>
                  <a:t>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dirty="0"/>
                  <a:t>, where</a:t>
                </a:r>
                <a:br>
                  <a:rPr dirty="0"/>
                </a:b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0.975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br>
                  <a:rPr dirty="0"/>
                </a:br>
                <a:r>
                  <a:rPr dirty="0"/>
                  <a:t>Example: if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</m:t>
                    </m:r>
                    <m:r>
                      <a:rPr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r>
                  <a:rPr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≈2/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240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=0.129</m:t>
                    </m:r>
                  </m:oMath>
                </a14:m>
                <a:r>
                  <a:rPr dirty="0"/>
                  <a:t> and</a:t>
                </a:r>
                <a:br>
                  <a:rPr dirty="0"/>
                </a:b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>
                          <a:latin typeface="Cambria Math" panose="02040503050406030204" pitchFamily="18" charset="0"/>
                        </a:rPr>
                        <m:t>≈−1.96×0.129=−0.253 ⇒ 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𝐻𝑅</m:t>
                      </m:r>
                      <m:r>
                        <a:rPr>
                          <a:latin typeface="Cambria Math" panose="02040503050406030204" pitchFamily="18" charset="0"/>
                        </a:rPr>
                        <m:t>&lt;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−0.253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=0.78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So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>
                          <a:latin typeface="Cambria Math" panose="02040503050406030204" pitchFamily="18" charset="0"/>
                        </a:rPr>
                        <m:t>={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&lt;−0.235}  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/>
                            <m:t>equivalently</m:t>
                          </m:r>
                          <m:r>
                            <m:rPr>
                              <m:nor/>
                            </m:rPr>
                            <a:rPr/>
                            <m:t> </m:t>
                          </m:r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𝐻𝑅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&lt;0.79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300">
                <a:solidFill>
                  <a:srgbClr val="FFFFFF"/>
                </a:solidFill>
              </a:rPr>
              <a:t>PoS definition: integral over uncertainty in the true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 dirty="0"/>
                  <a:t>The building block is the conditional success probability: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ar-AE" sz="1500" dirty="0"/>
              </a:p>
              <a:p>
                <a:pPr marL="0" lvl="0" indent="0">
                  <a:buNone/>
                </a:pPr>
                <a:r>
                  <a:rPr lang="en-US" sz="1500" dirty="0"/>
                  <a:t>Because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500" dirty="0"/>
                  <a:t> is unknown, </a:t>
                </a:r>
                <a:r>
                  <a:rPr lang="en-US" sz="1500" dirty="0" err="1"/>
                  <a:t>PoS</a:t>
                </a:r>
                <a:r>
                  <a:rPr lang="en-US" sz="1500" dirty="0"/>
                  <a:t> averages the conditional success probability over the current posterior: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/>
                        <m:t>PoS</m:t>
                      </m:r>
                      <m:r>
                        <a:rPr lang="en-US" sz="1500">
                          <a:latin typeface="Cambria Math" panose="02040503050406030204" pitchFamily="18" charset="0"/>
                        </a:rPr>
                        <m:t>=∫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ar-AE" sz="1500" dirty="0"/>
              </a:p>
              <a:p>
                <a:pPr marL="0" lvl="0" indent="0">
                  <a:buNone/>
                </a:pPr>
                <a:r>
                  <a:rPr lang="en-US" sz="15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ar-AE" sz="1500" dirty="0"/>
                  <a:t> </a:t>
                </a:r>
                <a:r>
                  <a:rPr lang="en-US" sz="1500" dirty="0"/>
                  <a:t>denotes all evidence observed up to now (e.g., historical trials, interim information).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800">
                <a:solidFill>
                  <a:srgbClr val="FFFFFF"/>
                </a:solidFill>
              </a:rPr>
              <a:t>Equivalent view: posterior predictive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/>
                  <a:t>An equivalent expression uses the posterior predictive distribution of the future result: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=∫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ar-AE" sz="1500"/>
              </a:p>
              <a:p>
                <a:pPr marL="0" lvl="0" indent="0">
                  <a:buNone/>
                </a:pPr>
                <a:r>
                  <a:rPr lang="en-US" sz="1500"/>
                  <a:t>Then PoS is simply: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/>
                        <m:t>PoS</m:t>
                      </m:r>
                      <m:r>
                        <a:rPr lang="en-US" sz="15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=∫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𝟏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ar-AE" sz="15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ar-AE" sz="1500"/>
              </a:p>
              <a:p>
                <a:pPr marL="0" lvl="0" indent="0">
                  <a:buNone/>
                </a:pPr>
                <a:r>
                  <a:rPr lang="en-US" sz="1500"/>
                  <a:t>This view is often convenient for computation and interpretation.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1514104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150876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411480"/>
            <a:ext cx="7626096" cy="88468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/>
              <a:t>Linking the ICB surrogate scenario to PoS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569214"/>
            <a:ext cx="96012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6676" y="1861457"/>
                <a:ext cx="7626096" cy="2771265"/>
              </a:xfrm>
            </p:spPr>
            <p:txBody>
              <a:bodyPr>
                <a:normAutofit/>
              </a:bodyPr>
              <a:lstStyle/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400"/>
                  <a:t>In the ICB setting, PFS typically matures earlier than OS.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400"/>
                  <a:t>We use historical trials reporting both endpoints to learn the joint relationship: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40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 sz="1400">
                                      <a:latin typeface="Cambria Math" panose="02040503050406030204" pitchFamily="18" charset="0"/>
                                    </a:rPr>
                                    <m:t>𝑂𝑆</m:t>
                                  </m:r>
                                </m:sub>
                              </m:sSub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40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 sz="1400">
                                      <a:latin typeface="Cambria Math" panose="02040503050406030204" pitchFamily="18" charset="0"/>
                                    </a:rPr>
                                    <m:t>𝑃𝐹𝑆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ar-AE" sz="1400">
                          <a:latin typeface="Cambria Math" panose="02040503050406030204" pitchFamily="18" charset="0"/>
                        </a:rPr>
                        <m:t>∼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</a:rPr>
                        <m:t>MVN</m:t>
                      </m:r>
                      <m:d>
                        <m:dPr>
                          <m:ctrlPr>
                            <a:rPr lang="ar-A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/>
                                <m:t>between</m:t>
                              </m:r>
                            </m:sub>
                          </m:sSub>
                        </m:e>
                      </m:d>
                      <m:r>
                        <a:rPr lang="ar-AE" sz="140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ar-AE" sz="1400"/>
              </a:p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400"/>
                  <a:t>and then update OS using the observed current-trial PFS result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1400"/>
                  <a:t>.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400"/>
                  <a:t>This yields a predictive distribution for the final OS estimate: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𝑂𝑆</m:t>
                          </m:r>
                        </m:sub>
                        <m:sup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ar-AE" sz="1400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ar-AE" sz="140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 sz="140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ar-AE" sz="140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ar-A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/>
                                <m:t>post</m:t>
                              </m:r>
                            </m:sub>
                          </m:sSub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, </m:t>
                          </m:r>
                          <m:sSub>
                            <m:sSub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/>
                                <m:t>post</m:t>
                              </m:r>
                            </m:sub>
                          </m:sSub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  <m:sup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ar-AE" sz="140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ar-AE" sz="1400"/>
              </a:p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400"/>
                  <a:t>and PoS follows from the OS success rule: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/>
                        <m:t>PoS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ar-A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𝑂𝑆</m:t>
                              </m:r>
                            </m:sub>
                            <m:sup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&lt;−1.96 </m:t>
                          </m:r>
                          <m:sSub>
                            <m:sSub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r>
                            <a:rPr lang="ar-AE" sz="14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40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d>
                      <m:r>
                        <a:rPr lang="ar-AE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ar-AE" sz="1400"/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400"/>
                          <m:t>post</m:t>
                        </m:r>
                      </m:sub>
                    </m:sSub>
                  </m:oMath>
                </a14:m>
                <a:r>
                  <a:rPr lang="ar-AE" sz="1400"/>
                  <a:t> = </a:t>
                </a:r>
                <a:r>
                  <a:rPr lang="en-US" sz="1400"/>
                  <a:t>the </a:t>
                </a:r>
                <a:r>
                  <a:rPr lang="en-US" sz="1400" b="1"/>
                  <a:t>best current guess</a:t>
                </a:r>
                <a:r>
                  <a:rPr lang="en-US" sz="1400"/>
                  <a:t> of the true OS log(HR) after borrowing strength from PFS evidence.</a:t>
                </a:r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400"/>
                          <m:t>post</m:t>
                        </m:r>
                      </m:sub>
                    </m:sSub>
                  </m:oMath>
                </a14:m>
                <a:r>
                  <a:rPr lang="ar-AE" sz="1400"/>
                  <a:t> = </a:t>
                </a:r>
                <a:r>
                  <a:rPr lang="en-US" sz="1400"/>
                  <a:t>the </a:t>
                </a:r>
                <a:r>
                  <a:rPr lang="en-US" sz="1400" b="1"/>
                  <a:t>remaining uncertainty</a:t>
                </a:r>
                <a:r>
                  <a:rPr lang="en-US" sz="1400"/>
                  <a:t> about the true OS log(HR) after that update.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6676" y="1861457"/>
                <a:ext cx="7626096" cy="2771265"/>
              </a:xfrm>
              <a:blipFill>
                <a:blip r:embed="rId2"/>
                <a:stretch>
                  <a:fillRect l="-166" t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we’re trying to answer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CBA989B-EA25-84BF-462D-22499F854D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20015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PoS in one 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/>
                  <a:t>Let: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500"/>
                  <a:t> = the (unknown) </a:t>
                </a:r>
                <a:r>
                  <a:rPr lang="en-US" sz="1500" i="1"/>
                  <a:t>true</a:t>
                </a:r>
                <a:r>
                  <a:rPr lang="en-US" sz="1500"/>
                  <a:t> treatment effect (here: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5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50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𝐻𝑅</m:t>
                        </m:r>
                      </m:e>
                    </m:d>
                  </m:oMath>
                </a14:m>
                <a:r>
                  <a:rPr lang="ar-AE" sz="1500"/>
                  <a:t>)</a:t>
                </a:r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ar-AE" sz="15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500"/>
                  <a:t> = </a:t>
                </a:r>
                <a:r>
                  <a:rPr lang="en-US" sz="1500"/>
                  <a:t>the future study’s estimator (e.g., estimated log(HR) at final OS analysis)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1500"/>
                  <a:t> = the </a:t>
                </a:r>
                <a:r>
                  <a:rPr lang="en-US" sz="1500" b="1"/>
                  <a:t>success region</a:t>
                </a:r>
                <a:r>
                  <a:rPr lang="en-US" sz="1500"/>
                  <a:t> (defined by your decision rule)</a:t>
                </a:r>
              </a:p>
              <a:p>
                <a:pPr marL="0" lvl="0" indent="0">
                  <a:buNone/>
                </a:pPr>
                <a:r>
                  <a:rPr lang="en-US" sz="1500"/>
                  <a:t>Then predictive probability of success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/>
                        <m:t>PoS</m:t>
                      </m:r>
                      <m:r>
                        <a:rPr lang="en-US" sz="1500">
                          <a:latin typeface="Cambria Math" panose="02040503050406030204" pitchFamily="18" charset="0"/>
                        </a:rPr>
                        <m:t> = ∫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sz="1500"/>
                            <m:t>current</m:t>
                          </m:r>
                          <m:r>
                            <m:rPr>
                              <m:nor/>
                            </m:rPr>
                            <a:rPr lang="en-US" sz="1500"/>
                            <m:t> </m:t>
                          </m:r>
                          <m:r>
                            <m:rPr>
                              <m:nor/>
                            </m:rPr>
                            <a:rPr lang="en-US" sz="1500"/>
                            <m:t>evidence</m:t>
                          </m:r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ar-AE" sz="1500"/>
              </a:p>
              <a:p>
                <a:pPr marL="0" lvl="0" indent="0">
                  <a:buNone/>
                </a:pPr>
                <a:r>
                  <a:rPr lang="en-US" sz="1500" b="1"/>
                  <a:t>Interpretation:</a:t>
                </a:r>
                <a:r>
                  <a:rPr lang="en-US" sz="1500"/>
                  <a:t> average the conditional “power” over uncertainty in the true effect.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1760560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0915"/>
            <a:ext cx="7886700" cy="10110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800">
                <a:solidFill>
                  <a:srgbClr val="FFFFFF"/>
                </a:solidFill>
              </a:rPr>
              <a:t>Where “current evidence” comes from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940091"/>
                <a:ext cx="7886700" cy="2692631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700"/>
                  <a:t>We will combine two sources:</a:t>
                </a:r>
              </a:p>
              <a:p>
                <a:pPr marL="342900" lvl="0" indent="-342900">
                  <a:buAutoNum type="arabicParenR"/>
                </a:pPr>
                <a:r>
                  <a:rPr lang="en-US" sz="1700" b="1"/>
                  <a:t>Historical trials</a:t>
                </a:r>
                <a:r>
                  <a:rPr lang="en-US" sz="1700"/>
                  <a:t> (e.g., 27 ICB studies) that report both endpoints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𝑂𝑆</m:t>
                        </m:r>
                      </m:sub>
                    </m:sSub>
                    <m:r>
                      <a:rPr lang="ar-AE" sz="17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𝐻</m:t>
                        </m:r>
                        <m:sSub>
                          <m:sSubPr>
                            <m:ctrlPr>
                              <a:rPr lang="ar-AE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𝑂𝑆</m:t>
                            </m:r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sz="1700"/>
                  <a:t>, </a:t>
                </a:r>
                <a14:m>
                  <m:oMath xmlns:m="http://schemas.openxmlformats.org/officeDocument/2006/math">
                    <m:r>
                      <a:rPr lang="ar-AE" sz="170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𝑂𝑆</m:t>
                        </m:r>
                      </m:sub>
                    </m:sSub>
                  </m:oMath>
                </a14:m>
                <a:endParaRPr lang="ar-AE" sz="170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𝑃𝐹𝑆</m:t>
                        </m:r>
                      </m:sub>
                    </m:sSub>
                    <m:r>
                      <a:rPr lang="ar-AE" sz="17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𝐻</m:t>
                        </m:r>
                        <m:sSub>
                          <m:sSubPr>
                            <m:ctrlPr>
                              <a:rPr lang="ar-AE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𝑃𝐹𝑆</m:t>
                            </m:r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sz="1700"/>
                  <a:t>, </a:t>
                </a:r>
                <a14:m>
                  <m:oMath xmlns:m="http://schemas.openxmlformats.org/officeDocument/2006/math">
                    <m:r>
                      <a:rPr lang="ar-AE" sz="170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𝑃𝐹𝑆</m:t>
                        </m:r>
                      </m:sub>
                    </m:sSub>
                  </m:oMath>
                </a14:m>
                <a:endParaRPr lang="ar-AE" sz="1700"/>
              </a:p>
              <a:p>
                <a:pPr marL="342900" lvl="0" indent="-342900">
                  <a:buAutoNum type="arabicParenR"/>
                </a:pPr>
                <a:r>
                  <a:rPr lang="en-US" sz="1700" b="1"/>
                  <a:t>Current trial’s PFS</a:t>
                </a:r>
                <a:r>
                  <a:rPr lang="en-US" sz="1700"/>
                  <a:t> (available now)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ar-AE" sz="17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𝐻</m:t>
                        </m:r>
                        <m:sSub>
                          <m:sSubPr>
                            <m:ctrlPr>
                              <a:rPr lang="ar-AE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sz="1700">
                                <a:latin typeface="Cambria Math" panose="02040503050406030204" pitchFamily="18" charset="0"/>
                              </a:rPr>
                              <m:t>𝑃𝐹𝑆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sz="1700"/>
                  <a:t>, </a:t>
                </a:r>
                <a14:m>
                  <m:oMath xmlns:m="http://schemas.openxmlformats.org/officeDocument/2006/math">
                    <m:r>
                      <a:rPr lang="ar-AE" sz="170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ar-AE" sz="1700"/>
              </a:p>
              <a:p>
                <a:pPr marL="0" lvl="0" indent="0">
                  <a:buNone/>
                </a:pPr>
                <a:r>
                  <a:rPr lang="en-US" sz="1700"/>
                  <a:t>Goal: obtain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𝑂𝑆</m:t>
                        </m:r>
                      </m:sub>
                      <m:sup>
                        <m:r>
                          <a:rPr lang="ar-AE" sz="17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 sz="170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7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1700"/>
                  <a:t> (</a:t>
                </a:r>
                <a:r>
                  <a:rPr lang="en-US" sz="1700"/>
                  <a:t>predictive distribution for the current trial’s </a:t>
                </a:r>
                <a:r>
                  <a:rPr lang="en-US" sz="1700" i="1"/>
                  <a:t>true</a:t>
                </a:r>
                <a:r>
                  <a:rPr lang="en-US" sz="1700"/>
                  <a:t> OS effect), then compute PoS.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940091"/>
                <a:ext cx="7886700" cy="2692631"/>
              </a:xfrm>
              <a:blipFill>
                <a:blip r:embed="rId2"/>
                <a:stretch>
                  <a:fillRect l="-482" t="-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1760560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0915"/>
            <a:ext cx="7886700" cy="10110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4100">
                <a:solidFill>
                  <a:srgbClr val="FFFFFF"/>
                </a:solidFill>
              </a:rPr>
              <a:t>Model (concept picture)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940091"/>
                <a:ext cx="7886700" cy="2692631"/>
              </a:xfrm>
            </p:spPr>
            <p:txBody>
              <a:bodyPr>
                <a:normAutofit/>
              </a:bodyPr>
              <a:lstStyle/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600"/>
                  <a:t>Two layers:</a:t>
                </a:r>
              </a:p>
              <a:p>
                <a:pPr lvl="0">
                  <a:lnSpc>
                    <a:spcPct val="90000"/>
                  </a:lnSpc>
                </a:pPr>
                <a:r>
                  <a:rPr lang="en-US" sz="1600" b="1"/>
                  <a:t>Between-study layer (true effects differ across trials):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𝑂𝑆</m:t>
                                  </m:r>
                                </m:sub>
                              </m:s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𝑃𝐹𝑆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ar-AE" sz="1600">
                          <a:latin typeface="Cambria Math" panose="02040503050406030204" pitchFamily="18" charset="0"/>
                        </a:rPr>
                        <m:t>∼</m:t>
                      </m:r>
                      <m:r>
                        <m:rPr>
                          <m:nor/>
                        </m:rPr>
                        <a:rPr lang="en-US" sz="1600"/>
                        <m:t>MVN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, </m:t>
                          </m:r>
                          <m:sSub>
                            <m:sSub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sz="1600" b="1"/>
              </a:p>
              <a:p>
                <a:pPr lvl="0">
                  <a:lnSpc>
                    <a:spcPct val="90000"/>
                  </a:lnSpc>
                </a:pPr>
                <a:r>
                  <a:rPr lang="en-US" sz="1600" b="1"/>
                  <a:t>Within-study layer (estimation error):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𝑂𝑆</m:t>
                                  </m:r>
                                </m:sub>
                              </m:s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𝑃𝐹𝑆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ar-AE" sz="1600">
                          <a:latin typeface="Cambria Math" panose="02040503050406030204" pitchFamily="18" charset="0"/>
                        </a:rPr>
                        <m:t>∼</m:t>
                      </m:r>
                      <m:r>
                        <m:rPr>
                          <m:nor/>
                        </m:rPr>
                        <a:rPr lang="en-US" sz="1600"/>
                        <m:t>MVN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𝑂𝑆</m:t>
                                      </m:r>
                                    </m:sub>
                                  </m:s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𝑃𝐹𝑆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, </m:t>
                          </m:r>
                          <m:sSub>
                            <m:sSub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𝑤𝑖𝑡h𝑖𝑛</m:t>
                              </m:r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sz="1600" b="1"/>
              </a:p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600"/>
                  <a:t>Key parameters:</a:t>
                </a:r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𝑂𝑆</m:t>
                        </m:r>
                      </m:sub>
                    </m:sSub>
                    <m:r>
                      <a:rPr lang="ar-AE" sz="160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𝑃𝐹𝑆</m:t>
                        </m:r>
                      </m:sub>
                    </m:sSub>
                  </m:oMath>
                </a14:m>
                <a:r>
                  <a:rPr lang="ar-AE" sz="1600"/>
                  <a:t>: </a:t>
                </a:r>
                <a:r>
                  <a:rPr lang="en-US" sz="1600"/>
                  <a:t>average (logHR) effects across trials</a:t>
                </a:r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𝑂𝑆</m:t>
                        </m:r>
                      </m:sub>
                    </m:sSub>
                    <m:r>
                      <a:rPr lang="ar-AE" sz="160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𝑃𝐹𝑆</m:t>
                        </m:r>
                      </m:sub>
                    </m:sSub>
                  </m:oMath>
                </a14:m>
                <a:r>
                  <a:rPr lang="ar-AE" sz="1600"/>
                  <a:t>: </a:t>
                </a:r>
                <a:r>
                  <a:rPr lang="en-US" sz="1600"/>
                  <a:t>between-study SDs (heterogeneity)</a:t>
                </a:r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600"/>
                  <a:t>: correlation between true OS and true PFS effects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940091"/>
                <a:ext cx="7886700" cy="2692631"/>
              </a:xfrm>
              <a:blipFill>
                <a:blip r:embed="rId3"/>
                <a:stretch>
                  <a:fillRect l="-322" t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Conditioning: OS effect given observed PFS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Treat the current trial’s true effects </a:t>
                </a:r>
                <a14:m>
                  <m:oMath xmlns:m="http://schemas.openxmlformats.org/officeDocument/2006/math"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𝑂𝑆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𝑃𝐹𝑆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dirty="0"/>
                  <a:t> as a draw from the same between-study distribution.</a:t>
                </a:r>
              </a:p>
              <a:p>
                <a:pPr marL="0" lvl="0" indent="0">
                  <a:buNone/>
                </a:pPr>
                <a:r>
                  <a:rPr dirty="0"/>
                  <a:t>Observation model for current PFS: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𝑃𝐹𝑆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, 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  <a:p>
                <a:pPr marL="0" lvl="0" indent="0">
                  <a:buNone/>
                </a:pPr>
                <a:r>
                  <a:rPr dirty="0"/>
                  <a:t>If </a:t>
                </a:r>
                <a14:m>
                  <m:oMath xmlns:m="http://schemas.openxmlformats.org/officeDocument/2006/math"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𝑂𝑆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𝑃𝐹𝑆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nor/>
                      </m:rPr>
                      <a:rPr/>
                      <m:t>MVN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𝑏𝑒𝑡𝑤𝑒𝑒𝑛</m:t>
                            </m:r>
                          </m:sub>
                        </m:sSub>
                      </m:e>
                    </m:d>
                  </m:oMath>
                </a14:m>
                <a:r>
                  <a:rPr dirty="0"/>
                  <a:t>, then: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𝑂𝑆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𝑝𝑜𝑠𝑡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𝑝𝑜𝑠𝑡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where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𝑂𝑆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/>
                            <m:t>Cov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𝑂𝑆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𝑃𝐹𝑆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</m:rPr>
                            <a:rPr/>
                            <m:t>Var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𝑃𝐹𝑆</m:t>
                              </m:r>
                            </m:e>
                          </m:d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 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𝑃𝐹𝑆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/>
                        <m:t>Var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𝑂𝑆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/>
                            <m:t>Cov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𝑂𝑆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𝑃𝐹𝑆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nor/>
                            </m:rPr>
                            <a:rPr/>
                            <m:t>Var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𝑃𝐹𝑆</m:t>
                              </m:r>
                            </m:e>
                          </m:d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3" t="-2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PoS in closed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/>
                  <a:t>Final OS estimator: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𝑂𝑆</m:t>
                          </m:r>
                        </m:sub>
                        <m: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ar-AE" sz="1500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ar-AE" sz="150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𝑝𝑜𝑠𝑡</m:t>
                              </m:r>
                            </m:sub>
                          </m:sSub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, 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𝑝𝑜𝑠𝑡</m:t>
                              </m:r>
                            </m:sub>
                          </m:sSub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𝑠</m:t>
                          </m:r>
                          <m:sSubSup>
                            <m:sSub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ar-AE" sz="1500"/>
              </a:p>
              <a:p>
                <a:pPr marL="0" lvl="0" indent="0">
                  <a:buNone/>
                </a:pPr>
                <a:r>
                  <a:rPr lang="en-US" sz="1500"/>
                  <a:t>Therefore: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/>
                        <m:t>PoS</m:t>
                      </m:r>
                      <m:r>
                        <a:rPr lang="en-US" sz="15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𝑂𝑆</m:t>
                              </m:r>
                            </m:sub>
                            <m:sup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ar-AE" sz="1500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d>
                      <m:r>
                        <a:rPr lang="ar-AE" sz="15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𝛷</m:t>
                      </m:r>
                      <m:r>
                        <a:rPr lang="ar-AE" sz="150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ar-AE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sz="15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ar-AE" sz="15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50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500">
                                      <a:latin typeface="Cambria Math" panose="02040503050406030204" pitchFamily="18" charset="0"/>
                                    </a:rPr>
                                    <m:t>𝑝𝑜𝑠𝑡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sz="15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150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ar-AE" sz="1500">
                                          <a:latin typeface="Cambria Math" panose="02040503050406030204" pitchFamily="18" charset="0"/>
                                        </a:rPr>
                                        <m:t>𝑝𝑜𝑠𝑡</m:t>
                                      </m:r>
                                    </m:sub>
                                  </m:sSub>
                                  <m:r>
                                    <a:rPr lang="ar-AE" sz="15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ar-AE" sz="150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Sup>
                                    <m:sSubSupPr>
                                      <m:ctrlPr>
                                        <a:rPr lang="ar-AE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sz="150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ar-AE" sz="150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b>
                                    <m:sup>
                                      <m:r>
                                        <a:rPr lang="ar-AE" sz="15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ar-AE" sz="1500"/>
              </a:p>
              <a:p>
                <a:pPr marL="0" lvl="0" indent="0">
                  <a:buNone/>
                </a:pPr>
                <a:r>
                  <a:rPr lang="en-US" sz="1500" b="1"/>
                  <a:t>Knobs that matter: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500"/>
                  <a:t>: stronger PFS–OS association → PFS updates OS more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500"/>
                  <a:t>’s: more heterogeneity → less certainty → PoS often down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𝑒𝑣𝑒𝑛𝑡𝑠</m:t>
                        </m:r>
                      </m:sub>
                    </m:sSub>
                  </m:oMath>
                </a14:m>
                <a:r>
                  <a:rPr lang="ar-AE" sz="1500"/>
                  <a:t>: </a:t>
                </a:r>
                <a:r>
                  <a:rPr lang="en-US" sz="1500"/>
                  <a:t>more OS events → smaller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ar-AE" sz="1500"/>
                  <a:t> → </a:t>
                </a:r>
                <a:r>
                  <a:rPr lang="en-US" sz="1500"/>
                  <a:t>PoS up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348" b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3949801"/>
            <a:ext cx="9143997" cy="1193057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3952631"/>
            <a:ext cx="9138997" cy="1193056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3949159"/>
            <a:ext cx="3057523" cy="1193057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3947612"/>
            <a:ext cx="9143999" cy="119807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4132689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600">
                <a:solidFill>
                  <a:srgbClr val="FFFFFF"/>
                </a:solidFill>
              </a:rPr>
              <a:t>Reproducible demo: simulate 27 historical ICB trials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3153DB-E15D-6A64-792A-98AED9C3E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067" y="301927"/>
            <a:ext cx="5023864" cy="241145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2874899"/>
            <a:ext cx="6249619" cy="839986"/>
          </a:xfrm>
        </p:spPr>
        <p:txBody>
          <a:bodyPr anchor="ctr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100"/>
              <a:t>We’ll create a virtual dataset with:</a:t>
            </a:r>
          </a:p>
          <a:p>
            <a:pPr lvl="0">
              <a:lnSpc>
                <a:spcPct val="90000"/>
              </a:lnSpc>
            </a:pPr>
            <a:r>
              <a:rPr lang="en-US" sz="1100"/>
              <a:t>K = 27 historical trials</a:t>
            </a:r>
          </a:p>
          <a:p>
            <a:pPr lvl="0">
              <a:lnSpc>
                <a:spcPct val="90000"/>
              </a:lnSpc>
            </a:pPr>
            <a:r>
              <a:rPr lang="en-US" sz="1100"/>
              <a:t>True bivariate relationship between log(HR_OS) and log(HR_PFS)</a:t>
            </a:r>
          </a:p>
          <a:p>
            <a:pPr lvl="0">
              <a:lnSpc>
                <a:spcPct val="90000"/>
              </a:lnSpc>
            </a:pPr>
            <a:r>
              <a:rPr lang="en-US" sz="1100"/>
              <a:t>Realistic ranges of standard errors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376515"/>
            <a:ext cx="3719703" cy="1232227"/>
          </a:xfrm>
        </p:spPr>
        <p:txBody>
          <a:bodyPr anchor="b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300"/>
              <a:t>Estimate the between-study relationship (demo-friendly moment approach)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52297" y="1813806"/>
                <a:ext cx="3719703" cy="2641926"/>
              </a:xfrm>
            </p:spPr>
            <p:txBody>
              <a:bodyPr anchor="t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 dirty="0"/>
                  <a:t>For a quick internal demo, we’ll use </a:t>
                </a:r>
                <a:r>
                  <a:rPr lang="en-US" sz="1500" b="1" dirty="0"/>
                  <a:t>error-corrected moments</a:t>
                </a:r>
                <a:r>
                  <a:rPr lang="en-US" sz="1500" dirty="0"/>
                  <a:t>:</a:t>
                </a:r>
              </a:p>
              <a:p>
                <a:pPr lvl="0"/>
                <a:r>
                  <a:rPr lang="en-US" sz="1500" dirty="0"/>
                  <a:t>observed sample covariance: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𝑜𝑏𝑠</m:t>
                        </m:r>
                      </m:sub>
                    </m:sSub>
                    <m:r>
                      <a:rPr lang="ar-AE" sz="15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500"/>
                      <m:t>Cov</m:t>
                    </m:r>
                    <m:d>
                      <m:d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ar-AE" sz="1500" dirty="0"/>
              </a:p>
              <a:p>
                <a:pPr lvl="0"/>
                <a:r>
                  <a:rPr lang="en-US" sz="1500" dirty="0"/>
                  <a:t>average within-study covariance: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endParaRPr lang="ar-AE" sz="1500" dirty="0"/>
              </a:p>
              <a:p>
                <a:pPr lvl="0"/>
                <a:r>
                  <a:rPr lang="en-US" sz="1500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sz="15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1500">
                                <a:latin typeface="Cambria Math" panose="02040503050406030204" pitchFamily="18" charset="0"/>
                              </a:rPr>
                              <m:t>𝛴</m:t>
                            </m:r>
                          </m:e>
                        </m:acc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𝑏𝑒𝑡𝑤𝑒𝑒𝑛</m:t>
                        </m:r>
                      </m:sub>
                    </m:sSub>
                    <m:r>
                      <a:rPr lang="ar-AE" sz="150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𝑜𝑏𝑠</m:t>
                        </m:r>
                      </m:sub>
                    </m:sSub>
                    <m:r>
                      <a:rPr lang="ar-AE" sz="150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‾"/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endParaRPr lang="ar-AE" sz="15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297" y="1813806"/>
                <a:ext cx="3719703" cy="2641926"/>
              </a:xfrm>
              <a:blipFill>
                <a:blip r:embed="rId3"/>
                <a:stretch>
                  <a:fillRect l="-683" t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CE87057-7518-B1B3-9BEA-F84B11906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9440" y="366838"/>
            <a:ext cx="3730549" cy="40995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800599"/>
            <a:ext cx="9144000" cy="342580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4800599"/>
            <a:ext cx="6115048" cy="342579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600">
                <a:solidFill>
                  <a:srgbClr val="FFFFFF"/>
                </a:solidFill>
              </a:rPr>
              <a:t>Current trial: plug in observed PFS and compute PoS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200"/>
                  <a:t>Assume the current trial has interim/final PFS result:</a:t>
                </a:r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ar-AE" sz="12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200">
                            <a:latin typeface="Cambria Math" panose="02040503050406030204" pitchFamily="18" charset="0"/>
                          </a:rPr>
                          <m:t>𝐻</m:t>
                        </m:r>
                        <m:sSub>
                          <m:sSubPr>
                            <m:ctrlPr>
                              <a:rPr lang="ar-AE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20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sz="1200">
                                <a:latin typeface="Cambria Math" panose="02040503050406030204" pitchFamily="18" charset="0"/>
                              </a:rPr>
                              <m:t>𝑃𝐹𝑆</m:t>
                            </m:r>
                          </m:sub>
                        </m:sSub>
                      </m:e>
                    </m:d>
                  </m:oMath>
                </a14:m>
                <a:endParaRPr lang="ar-AE" sz="1200"/>
              </a:p>
              <a:p>
                <a:pPr lvl="0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ar-AE" sz="120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1200"/>
                  <a:t> (</a:t>
                </a:r>
                <a:r>
                  <a:rPr lang="en-US" sz="1200"/>
                  <a:t>its standard error)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:r>
                  <a:rPr lang="en-US" sz="1200"/>
                  <a:t>For OS final analysis, assume planned OS event count </a:t>
                </a:r>
                <a14:m>
                  <m:oMath xmlns:m="http://schemas.openxmlformats.org/officeDocument/2006/math">
                    <m:r>
                      <a:rPr lang="en-US" sz="120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200"/>
                  <a:t>. Under 1:1 allocation, Schoenfeld gives a useful approximation:</a:t>
                </a:r>
              </a:p>
              <a:p>
                <a:pPr marL="0" lv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ar-A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20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 sz="120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ar-AE" sz="120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ar-A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20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ar-AE" sz="1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20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ar-AE" sz="1200"/>
              </a:p>
              <a:p>
                <a:pPr lvl="0" indent="0">
                  <a:lnSpc>
                    <a:spcPct val="90000"/>
                  </a:lnSpc>
                  <a:buNone/>
                </a:pPr>
                <a:r>
                  <a:rPr lang="ar-AE" sz="1200">
                    <a:latin typeface="Courier"/>
                  </a:rPr>
                  <a:t>               </a:t>
                </a:r>
                <a:r>
                  <a:rPr lang="en-US" sz="1200">
                    <a:latin typeface="Courier"/>
                  </a:rPr>
                  <a:t>y_c             HR_PFS       m_post_OS.OS 
       -0.35000000         0.70468809        -0.20932372 
HR_OS_pred_mean.OS         sd_thetaOS           d_events 
        0.81113261         0.07856589       240.00000000 
           se_star        threshold_c                PoS 
        0.12909944        -0.25303026         0.38621237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Visual 1: historical relationship (virtual 27 trials)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22FFD4-1EA9-1467-E374-FE1581CE4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757" y="1474719"/>
            <a:ext cx="4892484" cy="3339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Visual 2: PoS curve (how PFS maps to OS success probability)</a:t>
            </a:r>
          </a:p>
        </p:txBody>
      </p:sp>
      <p:pic>
        <p:nvPicPr>
          <p:cNvPr id="3" name="Picture 1" descr="PPOS-or-POS_files/figure-pptx/plot_pos_curve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80220" y="1474719"/>
            <a:ext cx="6183558" cy="33391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524784" y="186028"/>
                <a:ext cx="5297791" cy="869400"/>
              </a:xfr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marL="0" lvl="0" indent="0" algn="l" defTabSz="914400">
                  <a:lnSpc>
                    <a:spcPct val="90000"/>
                  </a:lnSpc>
                </a:pPr>
                <a:r>
                  <a:rPr lang="en-US" sz="2800" kern="1200">
                    <a:solidFill>
                      <a:srgbClr val="FFFFFF"/>
                    </a:solidFill>
                    <a:latin typeface="+mj-lt"/>
                    <a:ea typeface="+mj-ea"/>
                    <a:cs typeface="+mj-cs"/>
                  </a:rPr>
                  <a:t>Sensitivity demo: vary PFS–OS correlation (</a:t>
                </a:r>
                <a14:m>
                  <m:oMath xmlns:m="http://schemas.openxmlformats.org/officeDocument/2006/math">
                    <m:r>
                      <a:rPr lang="en-US" sz="2800" kern="120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𝜌</m:t>
                    </m:r>
                  </m:oMath>
                </a14:m>
                <a:r>
                  <a:rPr lang="en-US" sz="2800" kern="1200">
                    <a:solidFill>
                      <a:srgbClr val="FFFFFF"/>
                    </a:solidFill>
                    <a:latin typeface="+mj-lt"/>
                    <a:ea typeface="+mj-ea"/>
                    <a:cs typeface="+mj-cs"/>
                  </a:rPr>
                  <a:t>)</a:t>
                </a:r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524784" y="186028"/>
                <a:ext cx="5297791" cy="869400"/>
              </a:xfrm>
              <a:blipFill>
                <a:blip r:embed="rId2"/>
                <a:stretch>
                  <a:fillRect l="-2392" t="-11429" b="-1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84318FD-3777-C199-B230-4D372BAB2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3445" y="1474719"/>
            <a:ext cx="5137108" cy="333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300">
                <a:solidFill>
                  <a:srgbClr val="FFFFFF"/>
                </a:solidFill>
              </a:rPr>
              <a:t>Sensitivity demo: OS information (event count) matters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500"/>
                  <a:t>If your event count changes, so does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ar-A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0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 sz="150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ar-AE" sz="1500"/>
                  <a:t> </a:t>
                </a:r>
                <a:r>
                  <a:rPr lang="en-US" sz="1500"/>
                  <a:t>and the success threshold 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500"/>
                  <a:t>.</a:t>
                </a:r>
              </a:p>
              <a:p>
                <a:pPr lvl="0" indent="0">
                  <a:buNone/>
                </a:pPr>
                <a:r>
                  <a:rPr lang="en-US" sz="1500">
                    <a:latin typeface="Courier"/>
                  </a:rPr>
                  <a:t>  d_events   se_star threshold_c       PoS
1      150 0.1632993  -0.3200608 0.2705742
2      200 0.1414214  -0.2771808 0.3374467
3      240 0.1290994  -0.2530303 0.3862124
4      300 0.1154701  -0.2263171 0.4515786
5      400 0.1000000  -0.1959964 0.5417320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7" cy="119305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193056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0"/>
            <a:ext cx="3057523" cy="1193055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0"/>
            <a:ext cx="8799485" cy="1198074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20903"/>
            <a:ext cx="7421963" cy="77525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Takeaways (what to emphasize internally)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</p:spPr>
            <p:txBody>
              <a:bodyPr anchor="ctr">
                <a:normAutofit/>
              </a:bodyPr>
              <a:lstStyle/>
              <a:p>
                <a:pPr lvl="0"/>
                <a:r>
                  <a:rPr lang="en-US" sz="1500"/>
                  <a:t>PoS answers a </a:t>
                </a:r>
                <a:r>
                  <a:rPr lang="en-US" sz="1500" b="1"/>
                  <a:t>decision</a:t>
                </a:r>
                <a:r>
                  <a:rPr lang="en-US" sz="1500"/>
                  <a:t> question: </a:t>
                </a:r>
                <a:r>
                  <a:rPr lang="en-US" sz="1500" i="1"/>
                  <a:t>probability of meeting a success rule</a:t>
                </a:r>
                <a:r>
                  <a:rPr lang="en-US" sz="1500"/>
                  <a:t>, not “best guess HR”.</a:t>
                </a:r>
              </a:p>
              <a:p>
                <a:pPr lvl="0"/>
                <a:r>
                  <a:rPr lang="en-US" sz="1500"/>
                  <a:t>In this ICB setup:</a:t>
                </a:r>
              </a:p>
              <a:p>
                <a:pPr lvl="1"/>
                <a:r>
                  <a:rPr lang="en-US" sz="1500"/>
                  <a:t>Historical trials estimate a </a:t>
                </a:r>
                <a:r>
                  <a:rPr lang="en-US" sz="1500" b="1"/>
                  <a:t>between-study</a:t>
                </a:r>
                <a:r>
                  <a:rPr lang="en-US" sz="1500"/>
                  <a:t> OS–PFS association (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500"/>
                  <a:t>, heterogeneity)</a:t>
                </a:r>
              </a:p>
              <a:p>
                <a:pPr lvl="1"/>
                <a:r>
                  <a:rPr lang="en-US" sz="1500"/>
                  <a:t>Current PFS readout updates the predicted </a:t>
                </a:r>
                <a:r>
                  <a:rPr lang="en-US" sz="1500" b="1"/>
                  <a:t>true OS effect</a:t>
                </a:r>
                <a:r>
                  <a:rPr lang="en-US" sz="1500"/>
                  <a:t> via conditional normal formulas</a:t>
                </a:r>
              </a:p>
              <a:p>
                <a:pPr lvl="1"/>
                <a:r>
                  <a:rPr lang="en-US" sz="1500"/>
                  <a:t>Final OS success probability is a </a:t>
                </a:r>
                <a:r>
                  <a:rPr lang="en-US" sz="1500" b="1"/>
                  <a:t>one-line Normal CDF</a:t>
                </a:r>
              </a:p>
              <a:p>
                <a:pPr lvl="0"/>
                <a:r>
                  <a:rPr lang="en-US" sz="1500"/>
                  <a:t>Sensitivity analysis is not optional: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500"/>
                  <a:t> (association strength), heterogeneity (</a:t>
                </a:r>
                <a14:m>
                  <m:oMath xmlns:m="http://schemas.openxmlformats.org/officeDocument/2006/math">
                    <m:r>
                      <a:rPr lang="en-US" sz="150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500"/>
                  <a:t>), and OS information (event count) are the big levers.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8699" y="1738647"/>
                <a:ext cx="7293023" cy="2762519"/>
              </a:xfrm>
              <a:blipFill>
                <a:blip r:embed="rId2"/>
                <a:stretch>
                  <a:fillRect l="-348" b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-4278"/>
            <a:ext cx="9143993" cy="127075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478321"/>
            <a:ext cx="7416372" cy="675098"/>
          </a:xfrm>
        </p:spPr>
        <p:txBody>
          <a:bodyPr anchor="t">
            <a:normAutofit/>
          </a:bodyPr>
          <a:lstStyle/>
          <a:p>
            <a:pPr marL="0" lvl="0" indent="0" algn="l">
              <a:buNone/>
            </a:pPr>
            <a:r>
              <a:rPr lang="en-US" sz="3000">
                <a:solidFill>
                  <a:schemeClr val="bg1"/>
                </a:solidFill>
              </a:rPr>
              <a:t>Next steps (toward production)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266480"/>
            <a:ext cx="9143992" cy="38770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7638" y="1508068"/>
            <a:ext cx="342892" cy="342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66661" y="1663007"/>
                <a:ext cx="7410669" cy="296971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/>
                  <a:t>If this moves beyond a virtual demo:</a:t>
                </a:r>
              </a:p>
              <a:p>
                <a:pPr lvl="0"/>
                <a:r>
                  <a:rPr lang="en-US" sz="1800"/>
                  <a:t>Fit a full bivariate random-effects model (REML/Bayesian)</a:t>
                </a:r>
              </a:p>
              <a:p>
                <a:pPr lvl="0"/>
                <a:r>
                  <a:rPr lang="en-US" sz="1800"/>
                  <a:t>Treat within-study correlation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800"/>
                  <a:t> as unknown → range or prior</a:t>
                </a:r>
              </a:p>
              <a:p>
                <a:pPr lvl="0"/>
                <a:r>
                  <a:rPr lang="en-US" sz="1800"/>
                  <a:t>Add design features that affect OS–PFS link (crossover, line of therapy, combo vs mono)</a:t>
                </a:r>
              </a:p>
              <a:p>
                <a:pPr lvl="0"/>
                <a:r>
                  <a:rPr lang="en-US" sz="1800"/>
                  <a:t>Use the same framework for interim decisions: re-run PoS as PFS/OS mature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6661" y="1663007"/>
                <a:ext cx="7410669" cy="2969714"/>
              </a:xfrm>
              <a:blipFill>
                <a:blip r:embed="rId3"/>
                <a:stretch>
                  <a:fillRect l="-685" t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1708</Words>
  <Application>Microsoft Macintosh PowerPoint</Application>
  <PresentationFormat>On-screen Show (16:9)</PresentationFormat>
  <Paragraphs>153</Paragraphs>
  <Slides>22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 Math</vt:lpstr>
      <vt:lpstr>Courier</vt:lpstr>
      <vt:lpstr>Office Theme</vt:lpstr>
      <vt:lpstr>Predictive Probability of Success (PoS)</vt:lpstr>
      <vt:lpstr>Title slide: Background: why PoS (not only power)</vt:lpstr>
      <vt:lpstr>Core objects and notation</vt:lpstr>
      <vt:lpstr>Core objects and notation - continued</vt:lpstr>
      <vt:lpstr>PoS definition: integral over uncertainty in the true effect</vt:lpstr>
      <vt:lpstr>Equivalent view: posterior predictive distribution</vt:lpstr>
      <vt:lpstr>Linking the ICB surrogate scenario to PoS</vt:lpstr>
      <vt:lpstr>What we’re trying to answer</vt:lpstr>
      <vt:lpstr>PoS in one line</vt:lpstr>
      <vt:lpstr>Where “current evidence” comes from</vt:lpstr>
      <vt:lpstr>Model (concept picture)</vt:lpstr>
      <vt:lpstr>Conditioning: OS effect given observed PFS</vt:lpstr>
      <vt:lpstr>PoS in closed form</vt:lpstr>
      <vt:lpstr>Reproducible demo: simulate 27 historical ICB trials</vt:lpstr>
      <vt:lpstr>Estimate the between-study relationship (demo-friendly moment approach)</vt:lpstr>
      <vt:lpstr>Current trial: plug in observed PFS and compute PoS</vt:lpstr>
      <vt:lpstr>Visual 1: historical relationship (virtual 27 trials)</vt:lpstr>
      <vt:lpstr>Visual 2: PoS curve (how PFS maps to OS success probability)</vt:lpstr>
      <vt:lpstr>Sensitivity demo: vary PFS–OS correlation (ρ)</vt:lpstr>
      <vt:lpstr>Sensitivity demo: OS information (event count) matters</vt:lpstr>
      <vt:lpstr>Takeaways (what to emphasize internally)</vt:lpstr>
      <vt:lpstr>Next steps (toward production)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Probability of Success (PoS)</dc:title>
  <dc:creator>Jinjie Chen</dc:creator>
  <cp:keywords/>
  <cp:lastModifiedBy>Chen, Jinjie</cp:lastModifiedBy>
  <cp:revision>9</cp:revision>
  <dcterms:created xsi:type="dcterms:W3CDTF">2026-01-29T01:35:27Z</dcterms:created>
  <dcterms:modified xsi:type="dcterms:W3CDTF">2026-01-29T02:38:44Z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2026-01-07</vt:lpwstr>
  </property>
  <property fmtid="{D5CDD505-2E9C-101B-9397-08002B2CF9AE}" pid="6" name="editor">
    <vt:lpwstr>visual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Virtual ICB case study: Using PFS to predict OS (log(HR), p&lt;0.05)</vt:lpwstr>
  </property>
  <property fmtid="{D5CDD505-2E9C-101B-9397-08002B2CF9AE}" pid="12" name="toc-title">
    <vt:lpwstr>Table of contents</vt:lpwstr>
  </property>
</Properties>
</file>